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imes New Roman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Times New Roman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imes New Roman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Times New Roman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imes New Roman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Times New Roman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imes New Roman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Times New Roman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imes New Roman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Times New Roman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imes New Roman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Times New Roman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imes New Roman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Times New Roman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imes New Roman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Times New Roman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imes New Roman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Times New Roman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8" roundtripDataSignature="AMtx7mgy+3gO/eXCe6PWyUUiV6gijtUO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A4A503-B986-45E2-8678-F1D963D36F8F}">
  <a:tblStyle styleId="{66A4A503-B986-45E2-8678-F1D963D36F8F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accent2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accent2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  <a:tblStyle styleId="{A2CE560F-E46D-4558-8A09-8A56FFD5A36B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DFD"/>
          </a:solidFill>
        </a:fill>
      </a:tcStyle>
    </a:wholeTbl>
    <a:band1H>
      <a:tcTxStyle b="off" i="off"/>
      <a:tcStyle>
        <a:fill>
          <a:solidFill>
            <a:srgbClr val="CDD8FB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8FB"/>
          </a:solidFill>
        </a:fill>
      </a:tcStyle>
    </a:band1V>
    <a:band2V>
      <a:tcTxStyle b="off" i="off"/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  <a:def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○"/>
              <a:def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■"/>
              <a:def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  <a:def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○"/>
              <a:def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■"/>
              <a:def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●"/>
              <a:def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○"/>
              <a:def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■"/>
              <a:def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imes New Roman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Times New Roman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imes New Roman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Times New Roman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imes New Roman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Times New Roman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imes New Roman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Times New Roman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imes New Roman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Times New Roman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imes New Roman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Times New Roman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imes New Roman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Times New Roman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imes New Roman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Times New Roman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imes New Roman"/>
      <a:defRPr b="0" i="0" spc="0" sz="1400" u="none" cap="none" strike="noStrike">
        <a:solidFill>
          <a:srgbClr val="000000"/>
        </a:solidFill>
        <a:latin typeface="Times New Roman"/>
        <a:ea typeface="Times New Roman"/>
        <a:cs typeface="Times New Roman"/>
        <a:sym typeface="Times New Roman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Introduce the project, the team and the guide. One sentence: a big-data system that finds fraud among 6.36 million bank transactions and lets an analyst search, investigate and upload data.</a:t>
            </a:r>
          </a:p>
        </p:txBody>
      </p:sp>
      <p:sp>
        <p:nvSpPr>
          <p:cNvPr id="66" name="Google Shape;6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Fraud is about 1 in 776 transactions. Accuracy is meaningless; we judge with precision and recall. The gap is a complete system: scale, millisecond search, a case workflow and file upload.</a:t>
            </a:r>
          </a:p>
        </p:txBody>
      </p:sp>
      <p:sp>
        <p:nvSpPr>
          <p:cNvPr id="72" name="Google Shape;7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Foundations: Random Forests for the model, Spark for the batch pipeline, MLlib for training at scale.</a:t>
            </a:r>
          </a:p>
        </p:txBody>
      </p:sp>
      <p:sp>
        <p:nvSpPr>
          <p:cNvPr id="78" name="Google Shape;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dataset (PaySim), how others handle imbalance (SMOTE), and why we use precision-recall metrics.</a:t>
            </a:r>
          </a:p>
        </p:txBody>
      </p:sp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The two papers behind the search: DuckDB as the analytical engine and the adaptive radix tree as the index.</a:t>
            </a:r>
          </a:p>
        </p:txBody>
      </p:sp>
      <p:sp>
        <p:nvSpPr>
          <p:cNvPr id="92" name="Google Shape;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Four objectives: process the data at scale, detect the rare fraud accurately, make search instant, and support investigation and upload.</a:t>
            </a:r>
          </a:p>
        </p:txBody>
      </p:sp>
      <p:sp>
        <p:nvSpPr>
          <p:cNvPr id="99" name="Google Shape;99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Top half is the offline batch pipeline run once with Spark. Bottom half is the always-on application: a REST API that reads the index, the model and the stored results, and reads and writes cases and uploads.</a:t>
            </a:r>
          </a:p>
        </p:txBody>
      </p:sp>
      <p:sp>
        <p:nvSpPr>
          <p:cNvPr id="108" name="Google Shape;108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Five parts: the batch pipeline, the fraud model, millisecond search, case management, and upload with batch scoring.</a:t>
            </a:r>
          </a:p>
        </p:txBody>
      </p:sp>
      <p:sp>
        <p:nvSpPr>
          <p:cNvPr id="115" name="Google Shape;115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Table 1: the Random Forest finds 2,401 of 2,407 frauds with 17 false alarms; the baseline raises 48,466. Table 2: the indexed lookup is 574 times faster than a Spark scan. On unseen generated files recall stays high but precision drops to 51.8%, an honest result on a different dataset.</a:t>
            </a:r>
          </a:p>
        </p:txBody>
      </p:sp>
      <p:sp>
        <p:nvSpPr>
          <p:cNvPr id="121" name="Google Shape;121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Summarise: accurate model, instant search, a full case workflow and upload at scale. Be open about the limits: simulated data, local-mode Spark and no authentication.</a:t>
            </a:r>
          </a:p>
        </p:txBody>
      </p:sp>
      <p:sp>
        <p:nvSpPr>
          <p:cNvPr id="131" name="Google Shape;131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Foundational papers for the model, the engine, the dataset, the evaluation and the index, plus the documentation of the tools used.</a:t>
            </a:r>
          </a:p>
        </p:txBody>
      </p:sp>
      <p:sp>
        <p:nvSpPr>
          <p:cNvPr id="138" name="Google Shape;138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5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showMasterSp="0" type="obj">
  <p:cSld name="OBJEC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800600"/>
            <a:ext cx="9144000" cy="342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3347" y="249511"/>
            <a:ext cx="726408" cy="5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4541041"/>
            <a:ext cx="430287" cy="25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8819" y="128831"/>
            <a:ext cx="3143126" cy="54144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4"/>
          <p:cNvSpPr txBox="1"/>
          <p:nvPr>
            <p:ph idx="11" type="ftr"/>
          </p:nvPr>
        </p:nvSpPr>
        <p:spPr>
          <a:xfrm>
            <a:off x="3744682" y="4850796"/>
            <a:ext cx="16536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  <a:def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  <a:def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  <a:def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  <a:def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  <a:def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  <a:def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  <a:def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  <a:def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" name="Google Shape;15;p14"/>
          <p:cNvSpPr txBox="1"/>
          <p:nvPr>
            <p:ph idx="10" type="dt"/>
          </p:nvPr>
        </p:nvSpPr>
        <p:spPr>
          <a:xfrm>
            <a:off x="683419" y="4850796"/>
            <a:ext cx="5703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  <a:def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  <a:def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  <a:def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  <a:def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  <a:def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  <a:def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  <a:def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None/>
              <a:defRPr b="0" i="0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364550" y="4850796"/>
            <a:ext cx="115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254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254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254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254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254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254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254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254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16258" y="3652"/>
            <a:ext cx="327742" cy="5139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3124" y="4236787"/>
            <a:ext cx="726408" cy="541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6288" y="0"/>
            <a:ext cx="2097710" cy="414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4446" y="114300"/>
            <a:ext cx="751668" cy="77256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5"/>
          <p:cNvSpPr txBox="1"/>
          <p:nvPr>
            <p:ph type="title"/>
          </p:nvPr>
        </p:nvSpPr>
        <p:spPr>
          <a:xfrm>
            <a:off x="2029399" y="157258"/>
            <a:ext cx="50853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3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3744682" y="4850796"/>
            <a:ext cx="16536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683419" y="4850796"/>
            <a:ext cx="5700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5" name="Google Shape;25;p15"/>
          <p:cNvSpPr txBox="1"/>
          <p:nvPr>
            <p:ph idx="12" type="sldNum"/>
          </p:nvPr>
        </p:nvSpPr>
        <p:spPr>
          <a:xfrm>
            <a:off x="8364550" y="4850796"/>
            <a:ext cx="115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254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254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254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254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254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254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254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25400" marR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8" name="Google Shape;28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9" name="Google Shape;2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4" name="Google Shape;44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2" name="Google Shape;52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imes New Roman"/>
              <a:buChar char="●"/>
              <a:defRPr b="0" i="0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○"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■"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○"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■"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●"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○"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Char char="■"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  <a:defRPr b="0" i="0" sz="1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imes New Roman"/>
        <a:defRPr b="0" i="0" spc="0" sz="14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Times New Roman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imes New Roman"/>
        <a:defRPr b="0" i="0" spc="0" sz="14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Times New Roman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imes New Roman"/>
        <a:defRPr b="0" i="0" spc="0" sz="14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Times New Roman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imes New Roman"/>
        <a:defRPr b="0" i="0" spc="0" sz="14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Times New Roman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imes New Roman"/>
        <a:defRPr b="0" i="0" spc="0" sz="14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Times New Roman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imes New Roman"/>
        <a:defRPr b="0" i="0" spc="0" sz="14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Times New Roman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imes New Roman"/>
        <a:defRPr b="0" i="0" spc="0" sz="14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Times New Roman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imes New Roman"/>
        <a:defRPr b="0" i="0" spc="0" sz="14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Times New Roman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imes New Roman"/>
        <a:defRPr b="0" i="0" spc="0" sz="14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Times New Roman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imes New Roman"/>
        <a:defRPr b="0" i="0" spc="0" sz="14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Times New Roman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imes New Roman"/>
        <a:defRPr b="0" i="0" spc="0" sz="14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Times New Roman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imes New Roman"/>
        <a:defRPr b="0" i="0" spc="0" sz="14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Times New Roman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imes New Roman"/>
        <a:defRPr b="0" i="0" spc="0" sz="14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Times New Roman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imes New Roman"/>
        <a:defRPr b="0" i="0" spc="0" sz="14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Times New Roman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imes New Roman"/>
        <a:defRPr b="0" i="0" spc="0" sz="14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Times New Roman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imes New Roman"/>
        <a:defRPr b="0" i="0" spc="0" sz="14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Times New Roman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imes New Roman"/>
        <a:defRPr b="0" i="0" spc="0" sz="14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Times New Roman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imes New Roman"/>
        <a:defRPr b="0" i="0" spc="0" sz="14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Times New Roman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imes New Roman"/>
        <a:defRPr b="0" i="0" spc="0" sz="14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Times New Roman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imes New Roman"/>
        <a:defRPr b="0" i="0" spc="0" sz="14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Times New Roman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imes New Roman"/>
        <a:defRPr b="0" i="0" spc="0" sz="14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Times New Roman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imes New Roman"/>
        <a:defRPr b="0" i="0" spc="0" sz="14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Times New Roman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imes New Roman"/>
        <a:defRPr b="0" i="0" spc="0" sz="14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Times New Roman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imes New Roman"/>
        <a:defRPr b="0" i="0" spc="0" sz="14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Times New Roman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imes New Roman"/>
        <a:defRPr b="0" i="0" spc="0" sz="14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Times New Roman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imes New Roman"/>
        <a:defRPr b="0" i="0" spc="0" sz="14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Times New Roman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imes New Roman"/>
        <a:defRPr b="0" i="0" spc="0" sz="1400" u="none" cap="none" strike="noStrike">
          <a:solidFill>
            <a:srgbClr val="000000"/>
          </a:solidFill>
          <a:latin typeface="Times New Roman"/>
          <a:ea typeface="Times New Roman"/>
          <a:cs typeface="Times New Roman"/>
          <a:sym typeface="Times New Roman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"/>
          <p:cNvSpPr txBox="1"/>
          <p:nvPr/>
        </p:nvSpPr>
        <p:spPr>
          <a:xfrm>
            <a:off x="-518" y="1113979"/>
            <a:ext cx="9144000" cy="3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88900" lvl="0" marL="406400" marR="317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None/>
            </a:pPr>
            <a:r>
              <a:rPr b="1" i="0" lang="en-IN" sz="19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b="1" i="0" lang="en-IN" sz="2200" u="sng" cap="none" strike="noStrike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b="1" i="0" lang="en-IN" sz="2200" u="sng" cap="none" strike="noStrike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Year 2026-2027 (Odd Semester)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b="1" i="0" lang="en-IN" sz="2200" u="sng" cap="none" strike="noStrike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 Project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t/>
            </a:r>
            <a:endParaRPr b="1" i="0" sz="2200" u="sng" cap="none" strike="noStrik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rPr b="1" i="0" lang="en-IN" sz="2200" u="sng" cap="none" strike="noStrike">
                <a:solidFill>
                  <a:srgbClr val="05235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Bank Transaction Analytics and Fraud Detection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</a:pPr>
            <a:r>
              <a:t/>
            </a:r>
            <a:endParaRPr b="1" i="0" sz="2200" u="sng" cap="none" strike="noStrike">
              <a:solidFill>
                <a:srgbClr val="05235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IN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Jay Dhake  (A – 07)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IN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Samarth Ghanekar  (A – 10)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IN" sz="1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Saahir Joshi  (A – 16)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IN" sz="19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Guide:- Prof. Mrunali Desai</a:t>
            </a:r>
            <a:endParaRPr b="1" i="0" sz="19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9" name="Google Shape;6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66" y="117475"/>
            <a:ext cx="4848225" cy="778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"/>
          <p:cNvSpPr txBox="1"/>
          <p:nvPr>
            <p:ph type="title"/>
          </p:nvPr>
        </p:nvSpPr>
        <p:spPr>
          <a:xfrm>
            <a:off x="1417118" y="204251"/>
            <a:ext cx="46863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IN" sz="3100" u="sng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761944" y="1201779"/>
            <a:ext cx="7383300" cy="3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1" i="0" lang="en-IN" sz="12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Core Problem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Fraud is extremely </a:t>
            </a:r>
            <a:r>
              <a:rPr b="1" i="0" lang="en-IN" sz="12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rare</a:t>
            </a:r>
            <a:r>
              <a:rPr b="0" i="0" lang="en-IN" sz="12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in the PaySim data only </a:t>
            </a:r>
            <a:r>
              <a:rPr b="1" i="0" lang="en-IN" sz="12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8,197 of 6,362,604</a:t>
            </a:r>
            <a:r>
              <a:rPr b="0" i="0" lang="en-IN" sz="12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transactions (</a:t>
            </a:r>
            <a:r>
              <a:rPr b="1" i="0" lang="en-IN" sz="12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0.13%</a:t>
            </a:r>
            <a:r>
              <a:rPr b="0" i="0" lang="en-IN" sz="12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 are fraudulent. Existing approaches rely on fixed rules or single-machine notebooks that cannot search, investigate or score data at scale.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endParaRPr b="0" i="0" sz="1200" u="none" cap="none" strike="noStrike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•"/>
            </a:pPr>
            <a:r>
              <a:rPr b="1" i="0" lang="en-IN" sz="12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Rules miss most fraud:</a:t>
            </a:r>
            <a:r>
              <a:rPr b="1" i="0" lang="en-IN" sz="12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The dataset's own rule flags only 16 of 8,197 frauds (recall 0.2%).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•"/>
            </a:pPr>
            <a:r>
              <a:rPr b="1" i="0" lang="en-IN" sz="12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Accuracy hides the problem:</a:t>
            </a:r>
            <a:r>
              <a:rPr b="1" i="0" lang="en-IN" sz="12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 model that always says "legitimate" is 99.87% accurate yet useless, so precision and recall are needed.</a:t>
            </a:r>
            <a:endParaRPr b="0" i="0" sz="1200" u="none" cap="none" strike="noStrike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•"/>
            </a:pPr>
            <a:r>
              <a:rPr b="1" i="0" lang="en-IN" sz="12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Scale and speed:</a:t>
            </a:r>
            <a:r>
              <a:rPr b="1" i="0" lang="en-IN" sz="12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A Spark scan to look up one account takes 1.4 s; an analyst needs the answer in milliseconds.</a:t>
            </a:r>
            <a:endParaRPr b="0" i="0" sz="1200" u="none" cap="none" strike="noStrike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•"/>
            </a:pPr>
            <a:r>
              <a:rPr b="1" i="0" lang="en-IN" sz="12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Analysis stops at the model:</a:t>
            </a:r>
            <a:r>
              <a:rPr b="1" i="0" lang="en-IN" sz="12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Flagged transactions must be searched, investigated as cases, and new files must be scored; most solutions offer none of this.</a:t>
            </a:r>
            <a:endParaRPr b="0" i="0" sz="1200" u="none" cap="none" strike="noStrike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b="0" i="0" sz="1200" u="none" cap="none" strike="noStrike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/>
          <p:nvPr>
            <p:ph type="title"/>
          </p:nvPr>
        </p:nvSpPr>
        <p:spPr>
          <a:xfrm>
            <a:off x="1471352" y="145582"/>
            <a:ext cx="46863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IN" sz="3100" u="sng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503696" y="1097999"/>
            <a:ext cx="6470541" cy="6232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2" name="Google Shape;82;p3"/>
          <p:cNvGraphicFramePr/>
          <p:nvPr/>
        </p:nvGraphicFramePr>
        <p:xfrm>
          <a:off x="676656" y="868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{66A4A503-B986-45E2-8678-F1D963D36F8F}</a:tableStyleId>
              </a:tblPr>
              <a:tblGrid>
                <a:gridCol w="1600200"/>
                <a:gridCol w="1737360"/>
                <a:gridCol w="1737360"/>
                <a:gridCol w="1463040"/>
                <a:gridCol w="1188720"/>
              </a:tblGrid>
              <a:tr h="27432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IN" sz="12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Title/ Year</a:t>
                      </a:r>
                      <a:endParaRPr sz="1200" u="none" cap="none" strike="noStrike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IN" sz="12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  <a:endParaRPr sz="1200" u="none" cap="none" strike="noStrike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IN" sz="12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Findings</a:t>
                      </a:r>
                      <a:endParaRPr sz="1200" u="none" cap="none" strike="noStrike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IN" sz="12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</a:t>
                      </a:r>
                      <a:endParaRPr sz="1200" u="none" cap="none" strike="noStrike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IN" sz="12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Algorithms Used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76200" marL="76200" anchor="ctr"/>
                </a:tc>
              </a:tr>
              <a:tr h="27432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Random Forests (Breiman, 2001)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Introduced an ensemble of randomised decision trees trained on bootstrap samples; predictions are averaged.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Accurate and robust to noise; gives variable importance. Basis of the fraud model.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Hard to interpret as a whole; needs care with extreme class imbalance.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Bagging, random feature selection, decision trees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</a:tr>
              <a:tr h="27432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Apache Spark: A Unified Engine for Big Data Processing (Zaharia et al., 2016)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Describes Spark's design: distributed datasets, DataFrames, SQL and libraries on one engine.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Parallel in-memory processing and a query optimiser run batch, SQL and ML workloads on large data.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Built for batch jobs; scanning for each single lookup is too slow for interactive use.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DataFrame API, Spark SQL, Catalyst optimiser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</a:tr>
              <a:tr h="27432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MLlib: Machine Learning in Apache Spark (Meng et al., 2016)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Presents Spark's distributed ML library with pipelines, feature transformers and scalable learners.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Provides Random Forest and Logistic Regression that train on millions of rows within pipelines.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trained model must be exported to be served outside Spark.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ML pipelines, Random Forest, Logistic Regression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>
            <p:ph type="title"/>
          </p:nvPr>
        </p:nvSpPr>
        <p:spPr>
          <a:xfrm>
            <a:off x="1495290" y="210429"/>
            <a:ext cx="46863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IN" sz="3100" u="sng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503696" y="1097999"/>
            <a:ext cx="6470541" cy="6232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9" name="Google Shape;89;p4"/>
          <p:cNvGraphicFramePr/>
          <p:nvPr/>
        </p:nvGraphicFramePr>
        <p:xfrm>
          <a:off x="676656" y="868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{66A4A503-B986-45E2-8678-F1D963D36F8F}</a:tableStyleId>
              </a:tblPr>
              <a:tblGrid>
                <a:gridCol w="1600200"/>
                <a:gridCol w="1737360"/>
                <a:gridCol w="1737360"/>
                <a:gridCol w="1463040"/>
                <a:gridCol w="1188720"/>
              </a:tblGrid>
              <a:tr h="27432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IN" sz="12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Title/ Year</a:t>
                      </a:r>
                      <a:endParaRPr sz="1200" u="none" cap="none" strike="noStrike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IN" sz="12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  <a:endParaRPr sz="1200" u="none" cap="none" strike="noStrike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IN" sz="12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Findings</a:t>
                      </a:r>
                      <a:endParaRPr sz="1200" u="none" cap="none" strike="noStrike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IN" sz="12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</a:t>
                      </a:r>
                      <a:endParaRPr sz="1200" u="none" cap="none" strike="noStrike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IN" sz="12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Algorithms Used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76200" marL="76200" anchor="ctr"/>
                </a:tc>
              </a:tr>
              <a:tr h="27432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PaySim: A Financial Mobile Money Simulator for Fraud Detection (Lopez-Rojas et al., 2016)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Agent-based simulator calibrated on aggregated logs of a real mobile-money service.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Gives a labelled benchmark of 6.36 million transactions; fraud appears only in transfers and cash-outs.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Simulated data; the fraud pattern is simpler than real fraud.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Agent-based simulation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</a:tr>
              <a:tr h="27432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SMOTE: Synthetic Minority Over-sampling Technique (Chawla et al., 2002)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Creates synthetic minority-class examples by interpolating between neighbouring minority points.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Improves detection of the minority class on imbalanced data compared with plain undersampling.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Changes the data distribution and can create unrealistic samples; not used here.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k-nearest neighbours, oversampling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</a:tr>
              <a:tr h="27432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Precision-Recall Plot Is More Informative than the ROC Plot (Saito and Rehmsmeier, 2015)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Compared ROC and precision-recall plots on imbalanced binary classification tasks.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Precision-recall plots show the true effect of false positives when positives are rare.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Guidance on evaluation only; no new model.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Precision-recall curve, ROC curve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 txBox="1"/>
          <p:nvPr>
            <p:ph type="title"/>
          </p:nvPr>
        </p:nvSpPr>
        <p:spPr>
          <a:xfrm>
            <a:off x="1433052" y="215216"/>
            <a:ext cx="4686300" cy="4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IN" sz="3100" u="sng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503696" y="1097999"/>
            <a:ext cx="6470541" cy="6232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5"/>
          <p:cNvGraphicFramePr/>
          <p:nvPr/>
        </p:nvGraphicFramePr>
        <p:xfrm>
          <a:off x="676656" y="868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{66A4A503-B986-45E2-8678-F1D963D36F8F}</a:tableStyleId>
              </a:tblPr>
              <a:tblGrid>
                <a:gridCol w="1600200"/>
                <a:gridCol w="1737360"/>
                <a:gridCol w="1737360"/>
                <a:gridCol w="1463040"/>
                <a:gridCol w="1188720"/>
              </a:tblGrid>
              <a:tr h="27432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IN" sz="12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Title/ Year</a:t>
                      </a:r>
                      <a:endParaRPr sz="1200" u="none" cap="none" strike="noStrike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IN" sz="12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</a:t>
                      </a:r>
                      <a:endParaRPr sz="1200" u="none" cap="none" strike="noStrike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IN" sz="12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Findings</a:t>
                      </a:r>
                      <a:endParaRPr sz="1200" u="none" cap="none" strike="noStrike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IN" sz="12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</a:t>
                      </a:r>
                      <a:endParaRPr sz="1200" u="none" cap="none" strike="noStrike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Times New Roman"/>
                        <a:buNone/>
                      </a:pPr>
                      <a:r>
                        <a:rPr b="1" lang="en-IN" sz="12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Algorithms Used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800" marB="50800" marR="76200" marL="76200" anchor="ctr"/>
                </a:tc>
              </a:tr>
              <a:tr h="27432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DuckDB: an Embeddable Analytical Database (Raasveldt and Muhleisen, 2019)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Describes an in-process analytical database with columnar, vectorised query execution.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Runs analytical SQL without a server and reads Parquet files directly. Used for the search index.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Single-writer design; not meant for many concurrent writers.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Columnar storage, vectorised execution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</a:tr>
              <a:tr h="27432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Adaptive Radix Tree: ARTful Indexing for Main-Memory Databases (Leis et al., 2013)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Proposes an adaptive radix tree index whose nodes adapt their size to the keys stored.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Fast exact and prefix lookups with low memory use; behind account search and suggestions.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Designed for main memory; ordering follows the key bytes.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0" lang="en-IN" sz="1000" u="none" cap="none" strike="noStrike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Adaptive radix tree, path compression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700" marB="12700" marR="19050" marL="1905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/>
          <p:nvPr>
            <p:ph type="title"/>
          </p:nvPr>
        </p:nvSpPr>
        <p:spPr>
          <a:xfrm>
            <a:off x="1311284" y="142896"/>
            <a:ext cx="508530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IN" sz="3100" u="sng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r>
              <a:rPr lang="en-IN" sz="3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38259" y="1107940"/>
            <a:ext cx="2160000" cy="3960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Big Data at Scale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•"/>
            </a:pPr>
            <a:r>
              <a:rPr b="0" i="0" lang="en-I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Ingest and clean 6.36 million transactions into a partitioned Parquet lake with Spark.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•"/>
            </a:pPr>
            <a:r>
              <a:rPr b="0" i="0" lang="en-I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Spark SQL analyses of where, when and how fraud occurs.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2266045" y="1126387"/>
            <a:ext cx="2160000" cy="3960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Rare Fraud Accurately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•"/>
            </a:pPr>
            <a:r>
              <a:rPr b="0" i="0" lang="en-I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and compare Logistic Regression and Random Forest with Spark MLlib.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•"/>
            </a:pPr>
            <a:r>
              <a:rPr b="0" i="0" lang="en-I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Judge them with precision, recall and AUC-PR, not accuracy.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653832" y="1109312"/>
            <a:ext cx="2123430" cy="3960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Investigation and Upload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•"/>
            </a:pPr>
            <a:r>
              <a:rPr b="0" i="0" lang="en-I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fraud cases with create, read, update and delete.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1714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•"/>
            </a:pPr>
            <a:r>
              <a:rPr b="0" i="0" lang="en-I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Score uploaded files of millions of rows and explore them.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493831" y="1104492"/>
            <a:ext cx="2088000" cy="3960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Instant Search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•"/>
            </a:pPr>
            <a:r>
              <a:rPr b="0" i="0" lang="en-I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every transaction of an account in milliseconds with an index.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•"/>
            </a:pPr>
            <a:r>
              <a:rPr b="0" i="0" lang="en-I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Suggest matching account ids while the user types.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 txBox="1"/>
          <p:nvPr>
            <p:ph type="title"/>
          </p:nvPr>
        </p:nvSpPr>
        <p:spPr>
          <a:xfrm>
            <a:off x="1541080" y="168284"/>
            <a:ext cx="508530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IN" sz="2800" u="sng"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  <a:endParaRPr sz="28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1" name="Picture 110" descr="fig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471" y="868680"/>
            <a:ext cx="5989058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 txBox="1"/>
          <p:nvPr>
            <p:ph type="title"/>
          </p:nvPr>
        </p:nvSpPr>
        <p:spPr>
          <a:xfrm>
            <a:off x="1463029" y="272156"/>
            <a:ext cx="50853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IN" sz="3100" u="sng">
                <a:latin typeface="Times New Roman"/>
                <a:ea typeface="Times New Roman"/>
                <a:cs typeface="Times New Roman"/>
                <a:sym typeface="Times New Roman"/>
              </a:rPr>
              <a:t>Proposed Solution </a:t>
            </a:r>
            <a:endParaRPr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642333" y="1259250"/>
            <a:ext cx="7439100" cy="28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•"/>
            </a:pPr>
            <a:r>
              <a:rPr b="1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Offline Batch Pipeline: </a:t>
            </a:r>
            <a:r>
              <a:rPr b="0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Spark ingests 6.36 million transactions into a partitioned Parquet lake, runs 7 SQL analyses and trains the models.</a:t>
            </a:r>
            <a:endParaRPr b="0" i="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•"/>
            </a:pPr>
            <a:r>
              <a:rPr b="1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Fraud Model: </a:t>
            </a:r>
            <a:r>
              <a:rPr b="0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60-tree Random Forest scores transfers and cash-outs from nine features, with 99.3% precision and 99.75% recall on held-out data.</a:t>
            </a:r>
            <a:endParaRPr b="0" i="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•"/>
            </a:pPr>
            <a:r>
              <a:rPr b="1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Millisecond Search: </a:t>
            </a:r>
            <a:r>
              <a:rPr b="0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indexed table finds an account's transactions in about 2 to 7 ms, with suggestions while the user types.</a:t>
            </a:r>
            <a:endParaRPr b="0" i="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•"/>
            </a:pPr>
            <a:r>
              <a:rPr b="1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Management: </a:t>
            </a:r>
            <a:r>
              <a:rPr b="0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Create, read, update and delete cases in MongoDB with a status workflow, notes and one open case per transaction.</a:t>
            </a:r>
            <a:endParaRPr b="0" i="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•"/>
            </a:pPr>
            <a:r>
              <a:rPr b="1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Upload and Batch Scoring: </a:t>
            </a:r>
            <a:r>
              <a:rPr b="0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Files of millions of rows are streamed, validated and scored in about a minute, then indexed so they can be explored.</a:t>
            </a:r>
            <a:endParaRPr b="0" i="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 txBox="1"/>
          <p:nvPr>
            <p:ph type="title"/>
          </p:nvPr>
        </p:nvSpPr>
        <p:spPr>
          <a:xfrm>
            <a:off x="1383095" y="154984"/>
            <a:ext cx="5085300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IN" sz="3100" u="sng"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9"/>
          <p:cNvSpPr txBox="1"/>
          <p:nvPr/>
        </p:nvSpPr>
        <p:spPr>
          <a:xfrm>
            <a:off x="228600" y="685800"/>
            <a:ext cx="66294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1" i="0" lang="en-IN" sz="13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1: Model Comparison on the Held-out Test Set (831,437 transactions, 2,407 frauds)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5" name="Google Shape;125;p9"/>
          <p:cNvGraphicFramePr/>
          <p:nvPr/>
        </p:nvGraphicFramePr>
        <p:xfrm>
          <a:off x="228600" y="914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{A2CE560F-E46D-4558-8A09-8A56FFD5A36B}</a:tableStyleId>
              </a:tblPr>
              <a:tblGrid>
                <a:gridCol w="2286000"/>
                <a:gridCol w="914400"/>
                <a:gridCol w="822960"/>
                <a:gridCol w="731520"/>
                <a:gridCol w="914400"/>
                <a:gridCol w="1554480"/>
                <a:gridCol w="1280160"/>
              </a:tblGrid>
              <a:tr h="27432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en-I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en-I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Precision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en-I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Recall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en-I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en-I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AUC-PR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en-I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Frauds Caught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en-I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False Alarms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</a:tr>
              <a:tr h="27432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Logistic Regression (baseline)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0.043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0.909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0.083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0.549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2,189 / 2,407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48,466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</a:tr>
              <a:tr h="27432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Random Forest (selected) ★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2,401 / 2,407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</a:tr>
              <a:tr h="27432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 rule (isFlaggedFraud)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–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/ 2,407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</a:tr>
            </a:tbl>
          </a:graphicData>
        </a:graphic>
      </p:graphicFrame>
      <p:sp>
        <p:nvSpPr>
          <p:cNvPr id="126" name="Google Shape;126;p9"/>
          <p:cNvSpPr txBox="1"/>
          <p:nvPr/>
        </p:nvSpPr>
        <p:spPr>
          <a:xfrm>
            <a:off x="228600" y="2286000"/>
            <a:ext cx="66294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1" i="0" lang="en-IN" sz="13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2: Time to Find All Transactions of One Account (6.36 million rows)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7" name="Google Shape;127;p9"/>
          <p:cNvGraphicFramePr/>
          <p:nvPr/>
        </p:nvGraphicFramePr>
        <p:xfrm>
          <a:off x="228600" y="2606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{A2CE560F-E46D-4558-8A09-8A56FFD5A36B}</a:tableStyleId>
              </a:tblPr>
              <a:tblGrid>
                <a:gridCol w="3108960"/>
                <a:gridCol w="1463040"/>
                <a:gridCol w="1737360"/>
                <a:gridCol w="1554480"/>
              </a:tblGrid>
              <a:tr h="27432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en-I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en-I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en-I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95th Percentile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Times New Roman"/>
                        <a:buNone/>
                      </a:pPr>
                      <a:r>
                        <a:rPr b="1" lang="en-IN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Faster than Spark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</a:tr>
              <a:tr h="27432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Spark SQL scan of the data lake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1,441 ms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1,730 ms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1×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</a:tr>
              <a:tr h="27432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DuckDB on the Parquet files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276 ms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329 ms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5×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</a:tr>
              <a:tr h="27432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DuckDB table, no index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 ms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 ms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lang="en-IN" sz="9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51×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</a:tr>
              <a:tr h="27432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b="1" lang="en-IN" sz="9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DuckDB table with index (used) ★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b="1" lang="en-IN" sz="90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2.5 ms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b="1" lang="en-IN" sz="90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2.8 ms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Times New Roman"/>
                        <a:buNone/>
                      </a:pPr>
                      <a:r>
                        <a:rPr b="1" lang="en-IN" sz="900" u="none" cap="none" strike="noStrike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574×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38100" marR="76200" marL="76200"/>
                </a:tc>
              </a:tr>
            </a:tbl>
          </a:graphicData>
        </a:graphic>
      </p:graphicFrame>
      <p:sp>
        <p:nvSpPr>
          <p:cNvPr id="128" name="Google Shape;128;p9"/>
          <p:cNvSpPr txBox="1"/>
          <p:nvPr/>
        </p:nvSpPr>
        <p:spPr>
          <a:xfrm>
            <a:off x="228600" y="4648200"/>
            <a:ext cx="9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Times New Roman"/>
              <a:buNone/>
            </a:pPr>
            <a:r>
              <a:rPr b="0" i="1" lang="en-IN" sz="800" u="none" cap="none" strike="noStrike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★ Unseen generated files: 8.0M rows scored in about 30 s and indexed in about 42 s, finding 92.1% of frauds at 51.8% precision; the 7.0M-row unlabelled file was scored in about 35 s. 144 automated tests pass.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"/>
          <p:cNvSpPr txBox="1"/>
          <p:nvPr>
            <p:ph type="title"/>
          </p:nvPr>
        </p:nvSpPr>
        <p:spPr>
          <a:xfrm>
            <a:off x="1392670" y="243432"/>
            <a:ext cx="5085300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IN" sz="3100" u="sng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31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1"/>
          <p:cNvSpPr txBox="1"/>
          <p:nvPr/>
        </p:nvSpPr>
        <p:spPr>
          <a:xfrm>
            <a:off x="378300" y="1166300"/>
            <a:ext cx="4193700" cy="31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23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•"/>
            </a:pPr>
            <a:r>
              <a:rPr b="0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Spark pipeline and a </a:t>
            </a:r>
            <a:r>
              <a:rPr b="1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60-tree Random Forest</a:t>
            </a:r>
            <a:r>
              <a:rPr b="0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find 99.75% of frauds with 99.3% precision on unseen test data, far above the dataset's own rule (0.2% recall).</a:t>
            </a:r>
            <a:endParaRPr b="0"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•"/>
            </a:pPr>
            <a:r>
              <a:rPr b="1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b="1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index</a:t>
            </a:r>
            <a:r>
              <a:rPr b="1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makes account lookup 574 times faster than a Spark scan, so search and suggestions answer in milliseconds.</a:t>
            </a:r>
            <a:endParaRPr b="0"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•"/>
            </a:pPr>
            <a:r>
              <a:rPr b="0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Cases (CRUD) and </a:t>
            </a:r>
            <a:r>
              <a:rPr b="1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streaming upload</a:t>
            </a:r>
            <a:r>
              <a:rPr b="0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turn the model into an investigation tool; 8-million-row files are scored and explorable in about a minute.</a:t>
            </a:r>
            <a:endParaRPr b="0"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Times New Roman"/>
              <a:buChar char="•"/>
            </a:pPr>
            <a:r>
              <a:rPr b="0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Limits: simulated data, Spark in local mode, no login. Future work: </a:t>
            </a:r>
            <a:r>
              <a:rPr b="1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streaming scoring, a cluster, authentication</a:t>
            </a:r>
            <a:r>
              <a:rPr b="0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per-transaction explanations.</a:t>
            </a:r>
            <a:endParaRPr b="0"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6" name="Picture 135" descr="fig_overview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906" y="1362223"/>
            <a:ext cx="3743531" cy="23568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 txBox="1"/>
          <p:nvPr>
            <p:ph type="title"/>
          </p:nvPr>
        </p:nvSpPr>
        <p:spPr>
          <a:xfrm>
            <a:off x="1383095" y="214707"/>
            <a:ext cx="5085300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IN" sz="3100" u="sng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3100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2"/>
          <p:cNvSpPr txBox="1"/>
          <p:nvPr/>
        </p:nvSpPr>
        <p:spPr>
          <a:xfrm>
            <a:off x="411480" y="868680"/>
            <a:ext cx="8321040" cy="26052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L. Breiman, “Random Forests,” </a:t>
            </a:r>
            <a:r>
              <a:rPr b="0" i="1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</a:t>
            </a: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45, no. 1, pp. 5–32, 2001.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M. Zaharia </a:t>
            </a:r>
            <a:r>
              <a:rPr b="0" i="1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al.</a:t>
            </a: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“Apache Spark: A Unified Engine for Big Data Processing,” Commun. ACM, vol. 59, no. 11, 2016.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X. Meng </a:t>
            </a:r>
            <a:r>
              <a:rPr b="0" i="1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al.</a:t>
            </a: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“MLlib: Machine Learning in Apache Spark,” J. Mach. Learn. Res., vol. 17, no. 34, 2016.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E. A. Lopez-Rojas, A. Elmir and S. Axelsson, “PaySim: A financial mobile money simulator for fraud detection,” </a:t>
            </a:r>
            <a:r>
              <a:rPr b="0" i="1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Proc. EMSS</a:t>
            </a: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2016.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N. V. Chawla </a:t>
            </a:r>
            <a:r>
              <a:rPr b="0" i="1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al.</a:t>
            </a: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“SMOTE: Synthetic Minority Over-sampling Technique,” J. Artif. Intell. Res., vol. 16, 2002.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T. Saito and M. Rehmsmeier, “The Precision-Recall Plot Is More Informative than the ROC Plot…,” </a:t>
            </a:r>
            <a:r>
              <a:rPr b="0" i="1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PLoS ONE</a:t>
            </a: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10, no. 3, 2015.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M. Raasveldt and H. Muhleisen, “DuckDB: an Embeddable Analytical Database,” </a:t>
            </a:r>
            <a:r>
              <a:rPr b="0" i="1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Proc. ACM SIGMOD</a:t>
            </a: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2019.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 V. Leis, A. Kemper and T. Neumann, “The Adaptive Radix Tree: ARTful Indexing for Main-Memory Databases,” </a:t>
            </a:r>
            <a:r>
              <a:rPr b="0" i="1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Proc. IEEE ICDE</a:t>
            </a: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2013.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[9] Apache Spark Documentation, Spark SQL and MLlib guides. </a:t>
            </a:r>
            <a:r>
              <a:rPr b="0" i="1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spark.apache.org/docs/latest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[10] Apache Parquet Documentation. </a:t>
            </a:r>
            <a:r>
              <a:rPr b="0" i="1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parquet.apache.org/docs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[11] MongoDB Documentation, Indexes (TTL and partial). </a:t>
            </a:r>
            <a:r>
              <a:rPr b="0" i="1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mongodb.com/docs/manual/indexes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[12] FastAPI Documentation. </a:t>
            </a:r>
            <a:r>
              <a:rPr b="0" i="1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fastapi.tiangolo.com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[13] DuckDB Documentation. </a:t>
            </a:r>
            <a:r>
              <a:rPr b="0" i="1" lang="en-IN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duckdb.org/docs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Jay Dhake, Samarth Ghanekar, Saahir Joshi</dc:creator>
  <dc:title>Bank Transaction Analytics and Fraud Detection</dc:title>
</cp:coreProperties>
</file>