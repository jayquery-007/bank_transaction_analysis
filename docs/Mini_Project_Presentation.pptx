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1"/>
  </p:notesMasterIdLst>
  <p:sldIdLst>
    <p:sldId id="256" r:id="rId2"/>
    <p:sldId id="257" r:id="rId3"/>
    <p:sldId id="258" r:id="rId4"/>
    <p:sldId id="261" r:id="rId5"/>
    <p:sldId id="262" r:id="rId6"/>
    <p:sldId id="263" r:id="rId7"/>
    <p:sldId id="264" r:id="rId8"/>
    <p:sldId id="265" r:id="rId9"/>
    <p:sldId id="266" r:id="rId1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8" roundtripDataSignature="AMtx7mgy+3gO/eXCe6PWyUUiV6gijtUOu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6A4A503-B986-45E2-8678-F1D963D36F8F}">
  <a:tblStyle styleId="{66A4A503-B986-45E2-8678-F1D963D36F8F}" styleName="Table_0">
    <a:wholeTbl>
      <a:tcTxStyle b="off" i="off">
        <a:font>
          <a:latin typeface="Times New Roman"/>
          <a:ea typeface="Times New Roman"/>
          <a:cs typeface="Times New Roman"/>
        </a:font>
        <a:schemeClr val="dk1"/>
      </a:tcTxStyle>
      <a:tcStyle>
        <a:tcBdr>
          <a:left>
            <a:ln w="12700" cap="flat" cmpd="sng">
              <a:solidFill>
                <a:schemeClr val="accent2"/>
              </a:solidFill>
              <a:prstDash val="solid"/>
              <a:round/>
              <a:headEnd type="none" w="sm" len="sm"/>
              <a:tailEnd type="none" w="sm" len="sm"/>
            </a:ln>
          </a:left>
          <a:right>
            <a:ln w="12700" cap="flat" cmpd="sng">
              <a:solidFill>
                <a:schemeClr val="accent2"/>
              </a:solidFill>
              <a:prstDash val="solid"/>
              <a:round/>
              <a:headEnd type="none" w="sm" len="sm"/>
              <a:tailEnd type="none" w="sm" len="sm"/>
            </a:ln>
          </a:right>
          <a:top>
            <a:ln w="12700" cap="flat" cmpd="sng">
              <a:solidFill>
                <a:schemeClr val="accent2"/>
              </a:solidFill>
              <a:prstDash val="solid"/>
              <a:round/>
              <a:headEnd type="none" w="sm" len="sm"/>
              <a:tailEnd type="none" w="sm" len="sm"/>
            </a:ln>
          </a:top>
          <a:bottom>
            <a:ln w="12700" cap="flat" cmpd="sng">
              <a:solidFill>
                <a:schemeClr val="accent2"/>
              </a:solidFill>
              <a:prstDash val="solid"/>
              <a:round/>
              <a:headEnd type="none" w="sm" len="sm"/>
              <a:tailEnd type="none" w="sm" len="sm"/>
            </a:ln>
          </a:bottom>
          <a:insideH>
            <a:ln w="12700" cap="flat" cmpd="sng">
              <a:solidFill>
                <a:schemeClr val="accent2"/>
              </a:solidFill>
              <a:prstDash val="solid"/>
              <a:round/>
              <a:headEnd type="none" w="sm" len="sm"/>
              <a:tailEnd type="none" w="sm" len="sm"/>
            </a:ln>
          </a:insideH>
          <a:insideV>
            <a:ln w="12700" cap="flat" cmpd="sng">
              <a:solidFill>
                <a:schemeClr val="accent2"/>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2">
              <a:alpha val="20000"/>
            </a:schemeClr>
          </a:solidFill>
        </a:fill>
      </a:tcStyle>
    </a:band1H>
    <a:band2H>
      <a:tcTxStyle b="off" i="off"/>
      <a:tcStyle>
        <a:tcBdr/>
      </a:tcStyle>
    </a:band2H>
    <a:band1V>
      <a:tcTxStyle b="off" i="off"/>
      <a:tcStyle>
        <a:tcBdr/>
        <a:fill>
          <a:solidFill>
            <a:schemeClr val="accent2">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50800" cap="flat" cmpd="sng">
              <a:solidFill>
                <a:schemeClr val="accent2"/>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25400" cap="flat" cmpd="sng">
              <a:solidFill>
                <a:schemeClr val="accent2"/>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 styleId="{A2CE560F-E46D-4558-8A09-8A56FFD5A36B}" styleName="Table_1">
    <a:wholeTbl>
      <a:tcTxStyle b="off" i="off">
        <a:font>
          <a:latin typeface="Times New Roman"/>
          <a:ea typeface="Times New Roman"/>
          <a:cs typeface="Times New Roman"/>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DFD"/>
          </a:solidFill>
        </a:fill>
      </a:tcStyle>
    </a:wholeTbl>
    <a:band1H>
      <a:tcTxStyle b="off" i="off"/>
      <a:tcStyle>
        <a:tcBdr/>
        <a:fill>
          <a:solidFill>
            <a:srgbClr val="CDD8FB"/>
          </a:solidFill>
        </a:fill>
      </a:tcStyle>
    </a:band1H>
    <a:band2H>
      <a:tcTxStyle b="off" i="off"/>
      <a:tcStyle>
        <a:tcBdr/>
      </a:tcStyle>
    </a:band2H>
    <a:band1V>
      <a:tcTxStyle b="off" i="off"/>
      <a:tcStyle>
        <a:tcBdr/>
        <a:fill>
          <a:solidFill>
            <a:srgbClr val="CDD8FB"/>
          </a:solidFill>
        </a:fill>
      </a:tcStyle>
    </a:band1V>
    <a:band2V>
      <a:tcTxStyle b="off" i="off"/>
      <a:tcStyle>
        <a:tcBdr/>
      </a:tcStyle>
    </a:band2V>
    <a:lastCol>
      <a:tcTxStyle b="on" i="off">
        <a:font>
          <a:latin typeface="Times New Roman"/>
          <a:ea typeface="Times New Roman"/>
          <a:cs typeface="Times New Roman"/>
        </a:font>
        <a:schemeClr val="lt1"/>
      </a:tcTxStyle>
      <a:tcStyle>
        <a:tcBdr/>
        <a:fill>
          <a:solidFill>
            <a:schemeClr val="accent1"/>
          </a:solidFill>
        </a:fill>
      </a:tcStyle>
    </a:lastCol>
    <a:firstCol>
      <a:tcTxStyle b="on" i="off">
        <a:font>
          <a:latin typeface="Times New Roman"/>
          <a:ea typeface="Times New Roman"/>
          <a:cs typeface="Times New Roman"/>
        </a:font>
        <a:schemeClr val="lt1"/>
      </a:tcTxStyle>
      <a:tcStyle>
        <a:tcBdr/>
        <a:fill>
          <a:solidFill>
            <a:schemeClr val="accent1"/>
          </a:solidFill>
        </a:fill>
      </a:tcStyle>
    </a:firstCol>
    <a:lastRow>
      <a:tcTxStyle b="on" i="off">
        <a:font>
          <a:latin typeface="Times New Roman"/>
          <a:ea typeface="Times New Roman"/>
          <a:cs typeface="Times New Roman"/>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Times New Roman"/>
          <a:ea typeface="Times New Roman"/>
          <a:cs typeface="Times New Roman"/>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300" y="8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8" Type="http://customschemas.google.com/relationships/presentationmetadata" Target="meta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Times New Roman"/>
              <a:buChar char="●"/>
              <a:defRPr sz="1100" b="0" i="0" u="none" strike="noStrike" cap="none">
                <a:solidFill>
                  <a:srgbClr val="000000"/>
                </a:solidFill>
                <a:latin typeface="Times New Roman"/>
                <a:ea typeface="Times New Roman"/>
                <a:cs typeface="Times New Roman"/>
                <a:sym typeface="Times New Roman"/>
              </a:defRPr>
            </a:lvl1pPr>
            <a:lvl2pPr marL="914400" marR="0" lvl="1" indent="-298450" algn="l" rtl="0">
              <a:lnSpc>
                <a:spcPct val="100000"/>
              </a:lnSpc>
              <a:spcBef>
                <a:spcPts val="0"/>
              </a:spcBef>
              <a:spcAft>
                <a:spcPts val="0"/>
              </a:spcAft>
              <a:buClr>
                <a:srgbClr val="000000"/>
              </a:buClr>
              <a:buSzPts val="1100"/>
              <a:buFont typeface="Times New Roman"/>
              <a:buChar char="○"/>
              <a:defRPr sz="1100" b="0" i="0" u="none" strike="noStrike" cap="none">
                <a:solidFill>
                  <a:srgbClr val="000000"/>
                </a:solidFill>
                <a:latin typeface="Times New Roman"/>
                <a:ea typeface="Times New Roman"/>
                <a:cs typeface="Times New Roman"/>
                <a:sym typeface="Times New Roman"/>
              </a:defRPr>
            </a:lvl2pPr>
            <a:lvl3pPr marL="1371600" marR="0" lvl="2" indent="-298450" algn="l" rtl="0">
              <a:lnSpc>
                <a:spcPct val="100000"/>
              </a:lnSpc>
              <a:spcBef>
                <a:spcPts val="0"/>
              </a:spcBef>
              <a:spcAft>
                <a:spcPts val="0"/>
              </a:spcAft>
              <a:buClr>
                <a:srgbClr val="000000"/>
              </a:buClr>
              <a:buSzPts val="1100"/>
              <a:buFont typeface="Times New Roman"/>
              <a:buChar char="■"/>
              <a:defRPr sz="1100" b="0" i="0" u="none" strike="noStrike" cap="none">
                <a:solidFill>
                  <a:srgbClr val="000000"/>
                </a:solidFill>
                <a:latin typeface="Times New Roman"/>
                <a:ea typeface="Times New Roman"/>
                <a:cs typeface="Times New Roman"/>
                <a:sym typeface="Times New Roman"/>
              </a:defRPr>
            </a:lvl3pPr>
            <a:lvl4pPr marL="1828800" marR="0" lvl="3" indent="-298450" algn="l" rtl="0">
              <a:lnSpc>
                <a:spcPct val="100000"/>
              </a:lnSpc>
              <a:spcBef>
                <a:spcPts val="0"/>
              </a:spcBef>
              <a:spcAft>
                <a:spcPts val="0"/>
              </a:spcAft>
              <a:buClr>
                <a:srgbClr val="000000"/>
              </a:buClr>
              <a:buSzPts val="1100"/>
              <a:buFont typeface="Times New Roman"/>
              <a:buChar char="●"/>
              <a:defRPr sz="1100" b="0" i="0" u="none" strike="noStrike" cap="none">
                <a:solidFill>
                  <a:srgbClr val="000000"/>
                </a:solidFill>
                <a:latin typeface="Times New Roman"/>
                <a:ea typeface="Times New Roman"/>
                <a:cs typeface="Times New Roman"/>
                <a:sym typeface="Times New Roman"/>
              </a:defRPr>
            </a:lvl4pPr>
            <a:lvl5pPr marL="2286000" marR="0" lvl="4" indent="-298450" algn="l" rtl="0">
              <a:lnSpc>
                <a:spcPct val="100000"/>
              </a:lnSpc>
              <a:spcBef>
                <a:spcPts val="0"/>
              </a:spcBef>
              <a:spcAft>
                <a:spcPts val="0"/>
              </a:spcAft>
              <a:buClr>
                <a:srgbClr val="000000"/>
              </a:buClr>
              <a:buSzPts val="1100"/>
              <a:buFont typeface="Times New Roman"/>
              <a:buChar char="○"/>
              <a:defRPr sz="1100" b="0" i="0" u="none" strike="noStrike" cap="none">
                <a:solidFill>
                  <a:srgbClr val="000000"/>
                </a:solidFill>
                <a:latin typeface="Times New Roman"/>
                <a:ea typeface="Times New Roman"/>
                <a:cs typeface="Times New Roman"/>
                <a:sym typeface="Times New Roman"/>
              </a:defRPr>
            </a:lvl5pPr>
            <a:lvl6pPr marL="2743200" marR="0" lvl="5" indent="-298450" algn="l" rtl="0">
              <a:lnSpc>
                <a:spcPct val="100000"/>
              </a:lnSpc>
              <a:spcBef>
                <a:spcPts val="0"/>
              </a:spcBef>
              <a:spcAft>
                <a:spcPts val="0"/>
              </a:spcAft>
              <a:buClr>
                <a:srgbClr val="000000"/>
              </a:buClr>
              <a:buSzPts val="1100"/>
              <a:buFont typeface="Times New Roman"/>
              <a:buChar char="■"/>
              <a:defRPr sz="1100" b="0" i="0" u="none" strike="noStrike" cap="none">
                <a:solidFill>
                  <a:srgbClr val="000000"/>
                </a:solidFill>
                <a:latin typeface="Times New Roman"/>
                <a:ea typeface="Times New Roman"/>
                <a:cs typeface="Times New Roman"/>
                <a:sym typeface="Times New Roman"/>
              </a:defRPr>
            </a:lvl6pPr>
            <a:lvl7pPr marL="3200400" marR="0" lvl="6" indent="-298450" algn="l" rtl="0">
              <a:lnSpc>
                <a:spcPct val="100000"/>
              </a:lnSpc>
              <a:spcBef>
                <a:spcPts val="0"/>
              </a:spcBef>
              <a:spcAft>
                <a:spcPts val="0"/>
              </a:spcAft>
              <a:buClr>
                <a:srgbClr val="000000"/>
              </a:buClr>
              <a:buSzPts val="1100"/>
              <a:buFont typeface="Times New Roman"/>
              <a:buChar char="●"/>
              <a:defRPr sz="1100" b="0" i="0" u="none" strike="noStrike" cap="none">
                <a:solidFill>
                  <a:srgbClr val="000000"/>
                </a:solidFill>
                <a:latin typeface="Times New Roman"/>
                <a:ea typeface="Times New Roman"/>
                <a:cs typeface="Times New Roman"/>
                <a:sym typeface="Times New Roman"/>
              </a:defRPr>
            </a:lvl7pPr>
            <a:lvl8pPr marL="3657600" marR="0" lvl="7" indent="-298450" algn="l" rtl="0">
              <a:lnSpc>
                <a:spcPct val="100000"/>
              </a:lnSpc>
              <a:spcBef>
                <a:spcPts val="0"/>
              </a:spcBef>
              <a:spcAft>
                <a:spcPts val="0"/>
              </a:spcAft>
              <a:buClr>
                <a:srgbClr val="000000"/>
              </a:buClr>
              <a:buSzPts val="1100"/>
              <a:buFont typeface="Times New Roman"/>
              <a:buChar char="○"/>
              <a:defRPr sz="1100" b="0" i="0" u="none" strike="noStrike" cap="none">
                <a:solidFill>
                  <a:srgbClr val="000000"/>
                </a:solidFill>
                <a:latin typeface="Times New Roman"/>
                <a:ea typeface="Times New Roman"/>
                <a:cs typeface="Times New Roman"/>
                <a:sym typeface="Times New Roman"/>
              </a:defRPr>
            </a:lvl8pPr>
            <a:lvl9pPr marL="4114800" marR="0" lvl="8" indent="-298450" algn="l" rtl="0">
              <a:lnSpc>
                <a:spcPct val="100000"/>
              </a:lnSpc>
              <a:spcBef>
                <a:spcPts val="0"/>
              </a:spcBef>
              <a:spcAft>
                <a:spcPts val="0"/>
              </a:spcAft>
              <a:buClr>
                <a:srgbClr val="000000"/>
              </a:buClr>
              <a:buSzPts val="1100"/>
              <a:buFont typeface="Times New Roman"/>
              <a:buChar char="■"/>
              <a:defRPr sz="1100" b="0" i="0" u="none" strike="noStrike" cap="none">
                <a:solidFill>
                  <a:srgbClr val="000000"/>
                </a:solidFill>
                <a:latin typeface="Times New Roman"/>
                <a:ea typeface="Times New Roman"/>
                <a:cs typeface="Times New Roman"/>
                <a:sym typeface="Times New Roman"/>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p1:notes"/>
          <p:cNvSpPr txBox="1">
            <a:spLocks noGrp="1"/>
          </p:cNvSpPr>
          <p:nvPr>
            <p:ph type="body" idx="1"/>
          </p:nvPr>
        </p:nvSpPr>
        <p:spPr>
          <a:xfrm>
            <a:off x="685800" y="4400551"/>
            <a:ext cx="5486400" cy="3600300"/>
          </a:xfrm>
          <a:prstGeom prst="rect">
            <a:avLst/>
          </a:prstGeom>
          <a:noFill/>
          <a:ln>
            <a:noFill/>
          </a:ln>
        </p:spPr>
        <p:txBody>
          <a:bodyPr spcFirstLastPara="1" wrap="square" lIns="91425" tIns="45700" rIns="91425" bIns="45700" anchor="t" anchorCtr="0">
            <a:noAutofit/>
          </a:bodyPr>
          <a:lstStyle/>
          <a:p>
            <a:pPr marL="158750" indent="0">
              <a:buNone/>
            </a:pPr>
            <a:endParaRPr dirty="0"/>
          </a:p>
        </p:txBody>
      </p:sp>
      <p:sp>
        <p:nvSpPr>
          <p:cNvPr id="66" name="Google Shape;6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p2:notes"/>
          <p:cNvSpPr txBox="1">
            <a:spLocks noGrp="1"/>
          </p:cNvSpPr>
          <p:nvPr>
            <p:ph type="body" idx="1"/>
          </p:nvPr>
        </p:nvSpPr>
        <p:spPr>
          <a:xfrm>
            <a:off x="685800" y="4400551"/>
            <a:ext cx="5486400" cy="3600300"/>
          </a:xfrm>
          <a:prstGeom prst="rect">
            <a:avLst/>
          </a:prstGeom>
          <a:noFill/>
          <a:ln>
            <a:noFill/>
          </a:ln>
        </p:spPr>
        <p:txBody>
          <a:bodyPr spcFirstLastPara="1" wrap="square" lIns="91425" tIns="91425" rIns="91425" bIns="91425" anchor="t" anchorCtr="0">
            <a:noAutofit/>
          </a:bodyPr>
          <a:lstStyle/>
          <a:p>
            <a:pPr marL="158750" indent="0">
              <a:buNone/>
            </a:pPr>
            <a:endParaRPr dirty="0"/>
          </a:p>
        </p:txBody>
      </p:sp>
      <p:sp>
        <p:nvSpPr>
          <p:cNvPr id="72" name="Google Shape;72;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3:notes"/>
          <p:cNvSpPr txBox="1">
            <a:spLocks noGrp="1"/>
          </p:cNvSpPr>
          <p:nvPr>
            <p:ph type="body" idx="1"/>
          </p:nvPr>
        </p:nvSpPr>
        <p:spPr>
          <a:xfrm>
            <a:off x="685800" y="4400551"/>
            <a:ext cx="5486400" cy="3600300"/>
          </a:xfrm>
          <a:prstGeom prst="rect">
            <a:avLst/>
          </a:prstGeom>
          <a:noFill/>
          <a:ln>
            <a:noFill/>
          </a:ln>
        </p:spPr>
        <p:txBody>
          <a:bodyPr spcFirstLastPara="1" wrap="square" lIns="91425" tIns="91425" rIns="91425" bIns="91425" anchor="t" anchorCtr="0">
            <a:noAutofit/>
          </a:bodyPr>
          <a:lstStyle/>
          <a:p>
            <a:pPr marL="158750" indent="0">
              <a:buNone/>
            </a:pPr>
            <a:endParaRPr dirty="0"/>
          </a:p>
        </p:txBody>
      </p:sp>
      <p:sp>
        <p:nvSpPr>
          <p:cNvPr id="78" name="Google Shape;78;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endParaRPr dirty="0"/>
          </a:p>
        </p:txBody>
      </p:sp>
      <p:sp>
        <p:nvSpPr>
          <p:cNvPr id="99" name="Google Shape;99;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endParaRPr dirty="0"/>
          </a:p>
        </p:txBody>
      </p:sp>
      <p:sp>
        <p:nvSpPr>
          <p:cNvPr id="108" name="Google Shape;108;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dirty="0"/>
              <a:t>.</a:t>
            </a:r>
          </a:p>
        </p:txBody>
      </p:sp>
      <p:sp>
        <p:nvSpPr>
          <p:cNvPr id="115" name="Google Shape;115;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endParaRPr dirty="0"/>
          </a:p>
        </p:txBody>
      </p:sp>
      <p:sp>
        <p:nvSpPr>
          <p:cNvPr id="121" name="Google Shape;121;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endParaRPr dirty="0"/>
          </a:p>
        </p:txBody>
      </p:sp>
      <p:sp>
        <p:nvSpPr>
          <p:cNvPr id="131" name="Google Shape;131;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dirty="0"/>
              <a:t>Foun</a:t>
            </a:r>
          </a:p>
        </p:txBody>
      </p:sp>
      <p:sp>
        <p:nvSpPr>
          <p:cNvPr id="138" name="Google Shape;138;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jp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jp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Blank 1" type="obj">
  <p:cSld name="OBJECT">
    <p:bg>
      <p:bgPr>
        <a:solidFill>
          <a:schemeClr val="lt1"/>
        </a:solidFill>
        <a:effectLst/>
      </p:bgPr>
    </p:bg>
    <p:spTree>
      <p:nvGrpSpPr>
        <p:cNvPr id="1" name="Shape 9"/>
        <p:cNvGrpSpPr/>
        <p:nvPr/>
      </p:nvGrpSpPr>
      <p:grpSpPr>
        <a:xfrm>
          <a:off x="0" y="0"/>
          <a:ext cx="0" cy="0"/>
          <a:chOff x="0" y="0"/>
          <a:chExt cx="0" cy="0"/>
        </a:xfrm>
      </p:grpSpPr>
      <p:pic>
        <p:nvPicPr>
          <p:cNvPr id="10" name="Google Shape;10;p14"/>
          <p:cNvPicPr preferRelativeResize="0"/>
          <p:nvPr/>
        </p:nvPicPr>
        <p:blipFill rotWithShape="1">
          <a:blip r:embed="rId2">
            <a:alphaModFix/>
          </a:blip>
          <a:srcRect/>
          <a:stretch/>
        </p:blipFill>
        <p:spPr>
          <a:xfrm>
            <a:off x="0" y="4800600"/>
            <a:ext cx="9144000" cy="342899"/>
          </a:xfrm>
          <a:prstGeom prst="rect">
            <a:avLst/>
          </a:prstGeom>
          <a:noFill/>
          <a:ln>
            <a:noFill/>
          </a:ln>
        </p:spPr>
      </p:pic>
      <p:pic>
        <p:nvPicPr>
          <p:cNvPr id="11" name="Google Shape;11;p14"/>
          <p:cNvPicPr preferRelativeResize="0"/>
          <p:nvPr/>
        </p:nvPicPr>
        <p:blipFill rotWithShape="1">
          <a:blip r:embed="rId3">
            <a:alphaModFix/>
          </a:blip>
          <a:srcRect/>
          <a:stretch/>
        </p:blipFill>
        <p:spPr>
          <a:xfrm>
            <a:off x="8133347" y="249511"/>
            <a:ext cx="726408" cy="541439"/>
          </a:xfrm>
          <a:prstGeom prst="rect">
            <a:avLst/>
          </a:prstGeom>
          <a:noFill/>
          <a:ln>
            <a:noFill/>
          </a:ln>
        </p:spPr>
      </p:pic>
      <p:pic>
        <p:nvPicPr>
          <p:cNvPr id="12" name="Google Shape;12;p14"/>
          <p:cNvPicPr preferRelativeResize="0"/>
          <p:nvPr/>
        </p:nvPicPr>
        <p:blipFill rotWithShape="1">
          <a:blip r:embed="rId4">
            <a:alphaModFix/>
          </a:blip>
          <a:srcRect/>
          <a:stretch/>
        </p:blipFill>
        <p:spPr>
          <a:xfrm>
            <a:off x="0" y="4541041"/>
            <a:ext cx="430287" cy="259560"/>
          </a:xfrm>
          <a:prstGeom prst="rect">
            <a:avLst/>
          </a:prstGeom>
          <a:noFill/>
          <a:ln>
            <a:noFill/>
          </a:ln>
        </p:spPr>
      </p:pic>
      <p:pic>
        <p:nvPicPr>
          <p:cNvPr id="13" name="Google Shape;13;p14"/>
          <p:cNvPicPr preferRelativeResize="0"/>
          <p:nvPr/>
        </p:nvPicPr>
        <p:blipFill rotWithShape="1">
          <a:blip r:embed="rId5">
            <a:alphaModFix/>
          </a:blip>
          <a:srcRect/>
          <a:stretch/>
        </p:blipFill>
        <p:spPr>
          <a:xfrm>
            <a:off x="268819" y="128831"/>
            <a:ext cx="3143126" cy="541443"/>
          </a:xfrm>
          <a:prstGeom prst="rect">
            <a:avLst/>
          </a:prstGeom>
          <a:noFill/>
          <a:ln>
            <a:noFill/>
          </a:ln>
        </p:spPr>
      </p:pic>
      <p:sp>
        <p:nvSpPr>
          <p:cNvPr id="14" name="Google Shape;14;p14"/>
          <p:cNvSpPr txBox="1">
            <a:spLocks noGrp="1"/>
          </p:cNvSpPr>
          <p:nvPr>
            <p:ph type="ftr" idx="11"/>
          </p:nvPr>
        </p:nvSpPr>
        <p:spPr>
          <a:xfrm>
            <a:off x="3744682" y="4850796"/>
            <a:ext cx="1653600" cy="133500"/>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100"/>
              <a:buFont typeface="Times New Roman"/>
              <a:buNone/>
              <a:defRPr sz="900" b="0" i="0" u="none" strike="noStrike" cap="none">
                <a:solidFill>
                  <a:srgbClr val="888888"/>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9pPr>
          </a:lstStyle>
          <a:p>
            <a:endParaRPr/>
          </a:p>
        </p:txBody>
      </p:sp>
      <p:sp>
        <p:nvSpPr>
          <p:cNvPr id="15" name="Google Shape;15;p14"/>
          <p:cNvSpPr txBox="1">
            <a:spLocks noGrp="1"/>
          </p:cNvSpPr>
          <p:nvPr>
            <p:ph type="dt" idx="10"/>
          </p:nvPr>
        </p:nvSpPr>
        <p:spPr>
          <a:xfrm>
            <a:off x="683419" y="4850796"/>
            <a:ext cx="570300" cy="133500"/>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100"/>
              <a:buFont typeface="Times New Roman"/>
              <a:buNone/>
              <a:defRPr sz="900" b="0" i="0" u="none" strike="noStrike" cap="none">
                <a:solidFill>
                  <a:srgbClr val="888888"/>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SzPts val="1100"/>
              <a:buFont typeface="Times New Roman"/>
              <a:buNone/>
              <a:defRPr sz="1100" b="0" i="0" u="none" strike="noStrike" cap="none">
                <a:solidFill>
                  <a:srgbClr val="000000"/>
                </a:solidFill>
                <a:latin typeface="Times New Roman"/>
                <a:ea typeface="Times New Roman"/>
                <a:cs typeface="Times New Roman"/>
                <a:sym typeface="Times New Roman"/>
              </a:defRPr>
            </a:lvl9pPr>
          </a:lstStyle>
          <a:p>
            <a:endParaRPr/>
          </a:p>
        </p:txBody>
      </p:sp>
      <p:sp>
        <p:nvSpPr>
          <p:cNvPr id="16" name="Google Shape;16;p14"/>
          <p:cNvSpPr txBox="1">
            <a:spLocks noGrp="1"/>
          </p:cNvSpPr>
          <p:nvPr>
            <p:ph type="sldNum" idx="12"/>
          </p:nvPr>
        </p:nvSpPr>
        <p:spPr>
          <a:xfrm>
            <a:off x="8364550" y="4850796"/>
            <a:ext cx="115200" cy="138600"/>
          </a:xfrm>
          <a:prstGeom prst="rect">
            <a:avLst/>
          </a:prstGeom>
          <a:noFill/>
          <a:ln>
            <a:noFill/>
          </a:ln>
        </p:spPr>
        <p:txBody>
          <a:bodyPr spcFirstLastPara="1" wrap="square" lIns="0" tIns="0" rIns="0" bIns="0" anchor="t" anchorCtr="0">
            <a:spAutoFit/>
          </a:bodyPr>
          <a:lstStyle>
            <a:lvl1pPr marL="25400" marR="0" lvl="0"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1pPr>
            <a:lvl2pPr marL="25400" marR="0" lvl="1"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2pPr>
            <a:lvl3pPr marL="25400" marR="0" lvl="2"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3pPr>
            <a:lvl4pPr marL="25400" marR="0" lvl="3"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4pPr>
            <a:lvl5pPr marL="25400" marR="0" lvl="4"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5pPr>
            <a:lvl6pPr marL="25400" marR="0" lvl="5"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6pPr>
            <a:lvl7pPr marL="25400" marR="0" lvl="6"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7pPr>
            <a:lvl8pPr marL="25400" marR="0" lvl="7"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8pPr>
            <a:lvl9pPr marL="25400" marR="0" lvl="8"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9pPr>
          </a:lstStyle>
          <a:p>
            <a:pPr marL="2540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Title Only">
  <p:cSld name="Title Only">
    <p:bg>
      <p:bgPr>
        <a:solidFill>
          <a:schemeClr val="lt1"/>
        </a:solidFill>
        <a:effectLst/>
      </p:bgPr>
    </p:bg>
    <p:spTree>
      <p:nvGrpSpPr>
        <p:cNvPr id="1" name="Shape 17"/>
        <p:cNvGrpSpPr/>
        <p:nvPr/>
      </p:nvGrpSpPr>
      <p:grpSpPr>
        <a:xfrm>
          <a:off x="0" y="0"/>
          <a:ext cx="0" cy="0"/>
          <a:chOff x="0" y="0"/>
          <a:chExt cx="0" cy="0"/>
        </a:xfrm>
      </p:grpSpPr>
      <p:pic>
        <p:nvPicPr>
          <p:cNvPr id="18" name="Google Shape;18;p15"/>
          <p:cNvPicPr preferRelativeResize="0"/>
          <p:nvPr/>
        </p:nvPicPr>
        <p:blipFill rotWithShape="1">
          <a:blip r:embed="rId2">
            <a:alphaModFix/>
          </a:blip>
          <a:srcRect/>
          <a:stretch/>
        </p:blipFill>
        <p:spPr>
          <a:xfrm>
            <a:off x="8816258" y="3652"/>
            <a:ext cx="327742" cy="5139846"/>
          </a:xfrm>
          <a:prstGeom prst="rect">
            <a:avLst/>
          </a:prstGeom>
          <a:noFill/>
          <a:ln>
            <a:noFill/>
          </a:ln>
        </p:spPr>
      </p:pic>
      <p:pic>
        <p:nvPicPr>
          <p:cNvPr id="19" name="Google Shape;19;p15"/>
          <p:cNvPicPr preferRelativeResize="0"/>
          <p:nvPr/>
        </p:nvPicPr>
        <p:blipFill rotWithShape="1">
          <a:blip r:embed="rId3">
            <a:alphaModFix/>
          </a:blip>
          <a:srcRect/>
          <a:stretch/>
        </p:blipFill>
        <p:spPr>
          <a:xfrm>
            <a:off x="413124" y="4236787"/>
            <a:ext cx="726408" cy="541439"/>
          </a:xfrm>
          <a:prstGeom prst="rect">
            <a:avLst/>
          </a:prstGeom>
          <a:noFill/>
          <a:ln>
            <a:noFill/>
          </a:ln>
        </p:spPr>
      </p:pic>
      <p:pic>
        <p:nvPicPr>
          <p:cNvPr id="20" name="Google Shape;20;p15"/>
          <p:cNvPicPr preferRelativeResize="0"/>
          <p:nvPr/>
        </p:nvPicPr>
        <p:blipFill rotWithShape="1">
          <a:blip r:embed="rId4">
            <a:alphaModFix/>
          </a:blip>
          <a:srcRect/>
          <a:stretch/>
        </p:blipFill>
        <p:spPr>
          <a:xfrm>
            <a:off x="7046288" y="0"/>
            <a:ext cx="2097710" cy="414655"/>
          </a:xfrm>
          <a:prstGeom prst="rect">
            <a:avLst/>
          </a:prstGeom>
          <a:noFill/>
          <a:ln>
            <a:noFill/>
          </a:ln>
        </p:spPr>
      </p:pic>
      <p:pic>
        <p:nvPicPr>
          <p:cNvPr id="21" name="Google Shape;21;p15"/>
          <p:cNvPicPr preferRelativeResize="0"/>
          <p:nvPr/>
        </p:nvPicPr>
        <p:blipFill rotWithShape="1">
          <a:blip r:embed="rId5">
            <a:alphaModFix/>
          </a:blip>
          <a:srcRect/>
          <a:stretch/>
        </p:blipFill>
        <p:spPr>
          <a:xfrm>
            <a:off x="214446" y="114300"/>
            <a:ext cx="751668" cy="772567"/>
          </a:xfrm>
          <a:prstGeom prst="rect">
            <a:avLst/>
          </a:prstGeom>
          <a:noFill/>
          <a:ln>
            <a:noFill/>
          </a:ln>
        </p:spPr>
      </p:pic>
      <p:sp>
        <p:nvSpPr>
          <p:cNvPr id="22" name="Google Shape;22;p15"/>
          <p:cNvSpPr txBox="1">
            <a:spLocks noGrp="1"/>
          </p:cNvSpPr>
          <p:nvPr>
            <p:ph type="title"/>
          </p:nvPr>
        </p:nvSpPr>
        <p:spPr>
          <a:xfrm>
            <a:off x="2029399" y="157258"/>
            <a:ext cx="5085300" cy="3735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800"/>
              <a:buNone/>
              <a:defRPr sz="2300" b="1" i="0">
                <a:solidFill>
                  <a:srgbClr val="C00000"/>
                </a:solidFill>
                <a:latin typeface="Times New Roman"/>
                <a:ea typeface="Times New Roman"/>
                <a:cs typeface="Times New Roman"/>
                <a:sym typeface="Times New Roman"/>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3" name="Google Shape;23;p15"/>
          <p:cNvSpPr txBox="1">
            <a:spLocks noGrp="1"/>
          </p:cNvSpPr>
          <p:nvPr>
            <p:ph type="ftr" idx="11"/>
          </p:nvPr>
        </p:nvSpPr>
        <p:spPr>
          <a:xfrm>
            <a:off x="3744682" y="4850796"/>
            <a:ext cx="1653600" cy="133500"/>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Times New Roman"/>
              <a:buNone/>
              <a:defRPr sz="900" b="0" i="0" u="none" strike="noStrike" cap="none">
                <a:solidFill>
                  <a:srgbClr val="888888"/>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9pPr>
          </a:lstStyle>
          <a:p>
            <a:endParaRPr/>
          </a:p>
        </p:txBody>
      </p:sp>
      <p:sp>
        <p:nvSpPr>
          <p:cNvPr id="24" name="Google Shape;24;p15"/>
          <p:cNvSpPr txBox="1">
            <a:spLocks noGrp="1"/>
          </p:cNvSpPr>
          <p:nvPr>
            <p:ph type="dt" idx="10"/>
          </p:nvPr>
        </p:nvSpPr>
        <p:spPr>
          <a:xfrm>
            <a:off x="683419" y="4850796"/>
            <a:ext cx="570000" cy="133500"/>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Times New Roman"/>
              <a:buNone/>
              <a:defRPr sz="900" b="0" i="0" u="none" strike="noStrike" cap="none">
                <a:solidFill>
                  <a:srgbClr val="888888"/>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9pPr>
          </a:lstStyle>
          <a:p>
            <a:endParaRPr/>
          </a:p>
        </p:txBody>
      </p:sp>
      <p:sp>
        <p:nvSpPr>
          <p:cNvPr id="25" name="Google Shape;25;p15"/>
          <p:cNvSpPr txBox="1">
            <a:spLocks noGrp="1"/>
          </p:cNvSpPr>
          <p:nvPr>
            <p:ph type="sldNum" idx="12"/>
          </p:nvPr>
        </p:nvSpPr>
        <p:spPr>
          <a:xfrm>
            <a:off x="8364550" y="4850796"/>
            <a:ext cx="115200" cy="138600"/>
          </a:xfrm>
          <a:prstGeom prst="rect">
            <a:avLst/>
          </a:prstGeom>
          <a:noFill/>
          <a:ln>
            <a:noFill/>
          </a:ln>
        </p:spPr>
        <p:txBody>
          <a:bodyPr spcFirstLastPara="1" wrap="square" lIns="0" tIns="0" rIns="0" bIns="0" anchor="t" anchorCtr="0">
            <a:spAutoFit/>
          </a:bodyPr>
          <a:lstStyle>
            <a:lvl1pPr marL="25400" marR="0" lvl="0"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1pPr>
            <a:lvl2pPr marL="25400" marR="0" lvl="1"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2pPr>
            <a:lvl3pPr marL="25400" marR="0" lvl="2"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3pPr>
            <a:lvl4pPr marL="25400" marR="0" lvl="3"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4pPr>
            <a:lvl5pPr marL="25400" marR="0" lvl="4"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5pPr>
            <a:lvl6pPr marL="25400" marR="0" lvl="5"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6pPr>
            <a:lvl7pPr marL="25400" marR="0" lvl="6"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7pPr>
            <a:lvl8pPr marL="25400" marR="0" lvl="7"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8pPr>
            <a:lvl9pPr marL="25400" marR="0" lvl="8" indent="0" algn="l">
              <a:lnSpc>
                <a:spcPct val="103333"/>
              </a:lnSpc>
              <a:spcBef>
                <a:spcPts val="0"/>
              </a:spcBef>
              <a:spcAft>
                <a:spcPts val="0"/>
              </a:spcAft>
              <a:buClr>
                <a:srgbClr val="000000"/>
              </a:buClr>
              <a:buSzPts val="900"/>
              <a:buFont typeface="Times New Roman"/>
              <a:buNone/>
              <a:defRPr sz="900" b="0" i="0" u="none" strike="noStrike" cap="none">
                <a:solidFill>
                  <a:srgbClr val="888888"/>
                </a:solidFill>
                <a:latin typeface="Times New Roman"/>
                <a:ea typeface="Times New Roman"/>
                <a:cs typeface="Times New Roman"/>
                <a:sym typeface="Times New Roman"/>
              </a:defRPr>
            </a:lvl9pPr>
          </a:lstStyle>
          <a:p>
            <a:pPr marL="2540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6"/>
        <p:cNvGrpSpPr/>
        <p:nvPr/>
      </p:nvGrpSpPr>
      <p:grpSpPr>
        <a:xfrm>
          <a:off x="0" y="0"/>
          <a:ext cx="0" cy="0"/>
          <a:chOff x="0" y="0"/>
          <a:chExt cx="0" cy="0"/>
        </a:xfrm>
      </p:grpSpPr>
      <p:sp>
        <p:nvSpPr>
          <p:cNvPr id="27" name="Google Shape;27;p1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28" name="Google Shape;28;p1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29" name="Google Shape;29;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0"/>
        <p:cNvGrpSpPr/>
        <p:nvPr/>
      </p:nvGrpSpPr>
      <p:grpSpPr>
        <a:xfrm>
          <a:off x="0" y="0"/>
          <a:ext cx="0" cy="0"/>
          <a:chOff x="0" y="0"/>
          <a:chExt cx="0" cy="0"/>
        </a:xfrm>
      </p:grpSpPr>
      <p:sp>
        <p:nvSpPr>
          <p:cNvPr id="31" name="Google Shape;31;p17"/>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32" name="Google Shape;32;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3"/>
        <p:cNvGrpSpPr/>
        <p:nvPr/>
      </p:nvGrpSpPr>
      <p:grpSpPr>
        <a:xfrm>
          <a:off x="0" y="0"/>
          <a:ext cx="0" cy="0"/>
          <a:chOff x="0" y="0"/>
          <a:chExt cx="0" cy="0"/>
        </a:xfrm>
      </p:grpSpPr>
      <p:sp>
        <p:nvSpPr>
          <p:cNvPr id="34" name="Google Shape;34;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5" name="Google Shape;35;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36" name="Google Shape;36;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7"/>
        <p:cNvGrpSpPr/>
        <p:nvPr/>
      </p:nvGrpSpPr>
      <p:grpSpPr>
        <a:xfrm>
          <a:off x="0" y="0"/>
          <a:ext cx="0" cy="0"/>
          <a:chOff x="0" y="0"/>
          <a:chExt cx="0" cy="0"/>
        </a:xfrm>
      </p:grpSpPr>
      <p:sp>
        <p:nvSpPr>
          <p:cNvPr id="38" name="Google Shape;38;p1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1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0" name="Google Shape;40;p1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1" name="Google Shape;41;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2"/>
        <p:cNvGrpSpPr/>
        <p:nvPr/>
      </p:nvGrpSpPr>
      <p:grpSpPr>
        <a:xfrm>
          <a:off x="0" y="0"/>
          <a:ext cx="0" cy="0"/>
          <a:chOff x="0" y="0"/>
          <a:chExt cx="0" cy="0"/>
        </a:xfrm>
      </p:grpSpPr>
      <p:sp>
        <p:nvSpPr>
          <p:cNvPr id="43" name="Google Shape;43;p20"/>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44" name="Google Shape;44;p20"/>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5" name="Google Shape;45;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6"/>
        <p:cNvGrpSpPr/>
        <p:nvPr/>
      </p:nvGrpSpPr>
      <p:grpSpPr>
        <a:xfrm>
          <a:off x="0" y="0"/>
          <a:ext cx="0" cy="0"/>
          <a:chOff x="0" y="0"/>
          <a:chExt cx="0" cy="0"/>
        </a:xfrm>
      </p:grpSpPr>
      <p:sp>
        <p:nvSpPr>
          <p:cNvPr id="47" name="Google Shape;47;p2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48" name="Google Shape;48;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9"/>
        <p:cNvGrpSpPr/>
        <p:nvPr/>
      </p:nvGrpSpPr>
      <p:grpSpPr>
        <a:xfrm>
          <a:off x="0" y="0"/>
          <a:ext cx="0" cy="0"/>
          <a:chOff x="0" y="0"/>
          <a:chExt cx="0" cy="0"/>
        </a:xfrm>
      </p:grpSpPr>
      <p:sp>
        <p:nvSpPr>
          <p:cNvPr id="50" name="Google Shape;50;p2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Times New Roman"/>
              <a:buNone/>
            </a:pPr>
            <a:endParaRPr sz="1400" b="0" i="0" u="none" strike="noStrike" cap="none">
              <a:solidFill>
                <a:srgbClr val="000000"/>
              </a:solidFill>
              <a:latin typeface="Times New Roman"/>
              <a:ea typeface="Times New Roman"/>
              <a:cs typeface="Times New Roman"/>
              <a:sym typeface="Times New Roman"/>
            </a:endParaRPr>
          </a:p>
        </p:txBody>
      </p:sp>
      <p:sp>
        <p:nvSpPr>
          <p:cNvPr id="51" name="Google Shape;51;p2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52" name="Google Shape;52;p2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3" name="Google Shape;53;p2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54" name="Google Shape;54;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5"/>
        <p:cNvGrpSpPr/>
        <p:nvPr/>
      </p:nvGrpSpPr>
      <p:grpSpPr>
        <a:xfrm>
          <a:off x="0" y="0"/>
          <a:ext cx="0" cy="0"/>
          <a:chOff x="0" y="0"/>
          <a:chExt cx="0" cy="0"/>
        </a:xfrm>
      </p:grpSpPr>
      <p:sp>
        <p:nvSpPr>
          <p:cNvPr id="56" name="Google Shape;56;p23"/>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57" name="Google Shape;57;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8"/>
        <p:cNvGrpSpPr/>
        <p:nvPr/>
      </p:nvGrpSpPr>
      <p:grpSpPr>
        <a:xfrm>
          <a:off x="0" y="0"/>
          <a:ext cx="0" cy="0"/>
          <a:chOff x="0" y="0"/>
          <a:chExt cx="0" cy="0"/>
        </a:xfrm>
      </p:grpSpPr>
      <p:sp>
        <p:nvSpPr>
          <p:cNvPr id="59" name="Google Shape;59;p24"/>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60" name="Google Shape;60;p24"/>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61" name="Google Shape;61;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Times New Roman"/>
              <a:buNone/>
              <a:defRPr sz="2800" b="0" i="0" u="none" strike="noStrike" cap="none">
                <a:solidFill>
                  <a:schemeClr val="dk1"/>
                </a:solidFill>
                <a:latin typeface="Times New Roman"/>
                <a:ea typeface="Times New Roman"/>
                <a:cs typeface="Times New Roman"/>
                <a:sym typeface="Times New Roman"/>
              </a:defRPr>
            </a:lvl1pPr>
            <a:lvl2pPr marR="0" lvl="1" algn="l" rtl="0">
              <a:lnSpc>
                <a:spcPct val="100000"/>
              </a:lnSpc>
              <a:spcBef>
                <a:spcPts val="0"/>
              </a:spcBef>
              <a:spcAft>
                <a:spcPts val="0"/>
              </a:spcAft>
              <a:buClr>
                <a:schemeClr val="dk1"/>
              </a:buClr>
              <a:buSzPts val="2800"/>
              <a:buFont typeface="Times New Roman"/>
              <a:buNone/>
              <a:defRPr sz="2800" b="0" i="0" u="none" strike="noStrike" cap="none">
                <a:solidFill>
                  <a:schemeClr val="dk1"/>
                </a:solidFill>
                <a:latin typeface="Times New Roman"/>
                <a:ea typeface="Times New Roman"/>
                <a:cs typeface="Times New Roman"/>
                <a:sym typeface="Times New Roman"/>
              </a:defRPr>
            </a:lvl2pPr>
            <a:lvl3pPr marR="0" lvl="2" algn="l" rtl="0">
              <a:lnSpc>
                <a:spcPct val="100000"/>
              </a:lnSpc>
              <a:spcBef>
                <a:spcPts val="0"/>
              </a:spcBef>
              <a:spcAft>
                <a:spcPts val="0"/>
              </a:spcAft>
              <a:buClr>
                <a:schemeClr val="dk1"/>
              </a:buClr>
              <a:buSzPts val="2800"/>
              <a:buFont typeface="Times New Roman"/>
              <a:buNone/>
              <a:defRPr sz="2800" b="0" i="0" u="none" strike="noStrike" cap="none">
                <a:solidFill>
                  <a:schemeClr val="dk1"/>
                </a:solidFill>
                <a:latin typeface="Times New Roman"/>
                <a:ea typeface="Times New Roman"/>
                <a:cs typeface="Times New Roman"/>
                <a:sym typeface="Times New Roman"/>
              </a:defRPr>
            </a:lvl3pPr>
            <a:lvl4pPr marR="0" lvl="3" algn="l" rtl="0">
              <a:lnSpc>
                <a:spcPct val="100000"/>
              </a:lnSpc>
              <a:spcBef>
                <a:spcPts val="0"/>
              </a:spcBef>
              <a:spcAft>
                <a:spcPts val="0"/>
              </a:spcAft>
              <a:buClr>
                <a:schemeClr val="dk1"/>
              </a:buClr>
              <a:buSzPts val="2800"/>
              <a:buFont typeface="Times New Roman"/>
              <a:buNone/>
              <a:defRPr sz="2800" b="0" i="0" u="none" strike="noStrike" cap="none">
                <a:solidFill>
                  <a:schemeClr val="dk1"/>
                </a:solidFill>
                <a:latin typeface="Times New Roman"/>
                <a:ea typeface="Times New Roman"/>
                <a:cs typeface="Times New Roman"/>
                <a:sym typeface="Times New Roman"/>
              </a:defRPr>
            </a:lvl4pPr>
            <a:lvl5pPr marR="0" lvl="4" algn="l" rtl="0">
              <a:lnSpc>
                <a:spcPct val="100000"/>
              </a:lnSpc>
              <a:spcBef>
                <a:spcPts val="0"/>
              </a:spcBef>
              <a:spcAft>
                <a:spcPts val="0"/>
              </a:spcAft>
              <a:buClr>
                <a:schemeClr val="dk1"/>
              </a:buClr>
              <a:buSzPts val="2800"/>
              <a:buFont typeface="Times New Roman"/>
              <a:buNone/>
              <a:defRPr sz="2800" b="0" i="0" u="none" strike="noStrike" cap="none">
                <a:solidFill>
                  <a:schemeClr val="dk1"/>
                </a:solidFill>
                <a:latin typeface="Times New Roman"/>
                <a:ea typeface="Times New Roman"/>
                <a:cs typeface="Times New Roman"/>
                <a:sym typeface="Times New Roman"/>
              </a:defRPr>
            </a:lvl5pPr>
            <a:lvl6pPr marR="0" lvl="5" algn="l" rtl="0">
              <a:lnSpc>
                <a:spcPct val="100000"/>
              </a:lnSpc>
              <a:spcBef>
                <a:spcPts val="0"/>
              </a:spcBef>
              <a:spcAft>
                <a:spcPts val="0"/>
              </a:spcAft>
              <a:buClr>
                <a:schemeClr val="dk1"/>
              </a:buClr>
              <a:buSzPts val="2800"/>
              <a:buFont typeface="Times New Roman"/>
              <a:buNone/>
              <a:defRPr sz="2800" b="0" i="0" u="none" strike="noStrike" cap="none">
                <a:solidFill>
                  <a:schemeClr val="dk1"/>
                </a:solidFill>
                <a:latin typeface="Times New Roman"/>
                <a:ea typeface="Times New Roman"/>
                <a:cs typeface="Times New Roman"/>
                <a:sym typeface="Times New Roman"/>
              </a:defRPr>
            </a:lvl6pPr>
            <a:lvl7pPr marR="0" lvl="6" algn="l" rtl="0">
              <a:lnSpc>
                <a:spcPct val="100000"/>
              </a:lnSpc>
              <a:spcBef>
                <a:spcPts val="0"/>
              </a:spcBef>
              <a:spcAft>
                <a:spcPts val="0"/>
              </a:spcAft>
              <a:buClr>
                <a:schemeClr val="dk1"/>
              </a:buClr>
              <a:buSzPts val="2800"/>
              <a:buFont typeface="Times New Roman"/>
              <a:buNone/>
              <a:defRPr sz="2800" b="0" i="0" u="none" strike="noStrike" cap="none">
                <a:solidFill>
                  <a:schemeClr val="dk1"/>
                </a:solidFill>
                <a:latin typeface="Times New Roman"/>
                <a:ea typeface="Times New Roman"/>
                <a:cs typeface="Times New Roman"/>
                <a:sym typeface="Times New Roman"/>
              </a:defRPr>
            </a:lvl7pPr>
            <a:lvl8pPr marR="0" lvl="7" algn="l" rtl="0">
              <a:lnSpc>
                <a:spcPct val="100000"/>
              </a:lnSpc>
              <a:spcBef>
                <a:spcPts val="0"/>
              </a:spcBef>
              <a:spcAft>
                <a:spcPts val="0"/>
              </a:spcAft>
              <a:buClr>
                <a:schemeClr val="dk1"/>
              </a:buClr>
              <a:buSzPts val="2800"/>
              <a:buFont typeface="Times New Roman"/>
              <a:buNone/>
              <a:defRPr sz="2800" b="0" i="0" u="none" strike="noStrike" cap="none">
                <a:solidFill>
                  <a:schemeClr val="dk1"/>
                </a:solidFill>
                <a:latin typeface="Times New Roman"/>
                <a:ea typeface="Times New Roman"/>
                <a:cs typeface="Times New Roman"/>
                <a:sym typeface="Times New Roman"/>
              </a:defRPr>
            </a:lvl8pPr>
            <a:lvl9pPr marR="0" lvl="8" algn="l" rtl="0">
              <a:lnSpc>
                <a:spcPct val="100000"/>
              </a:lnSpc>
              <a:spcBef>
                <a:spcPts val="0"/>
              </a:spcBef>
              <a:spcAft>
                <a:spcPts val="0"/>
              </a:spcAft>
              <a:buClr>
                <a:schemeClr val="dk1"/>
              </a:buClr>
              <a:buSzPts val="2800"/>
              <a:buFont typeface="Times New Roman"/>
              <a:buNone/>
              <a:defRPr sz="2800" b="0" i="0" u="none" strike="noStrike" cap="none">
                <a:solidFill>
                  <a:schemeClr val="dk1"/>
                </a:solidFill>
                <a:latin typeface="Times New Roman"/>
                <a:ea typeface="Times New Roman"/>
                <a:cs typeface="Times New Roman"/>
                <a:sym typeface="Times New Roman"/>
              </a:defRPr>
            </a:lvl9pPr>
          </a:lstStyle>
          <a:p>
            <a:endParaRPr/>
          </a:p>
        </p:txBody>
      </p:sp>
      <p:sp>
        <p:nvSpPr>
          <p:cNvPr id="7" name="Google Shape;7;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Times New Roman"/>
              <a:buChar char="●"/>
              <a:defRPr sz="1800" b="0" i="0" u="none" strike="noStrike" cap="none">
                <a:solidFill>
                  <a:schemeClr val="dk2"/>
                </a:solidFill>
                <a:latin typeface="Times New Roman"/>
                <a:ea typeface="Times New Roman"/>
                <a:cs typeface="Times New Roman"/>
                <a:sym typeface="Times New Roman"/>
              </a:defRPr>
            </a:lvl1pPr>
            <a:lvl2pPr marL="914400" marR="0" lvl="1" indent="-317500" algn="l" rtl="0">
              <a:lnSpc>
                <a:spcPct val="115000"/>
              </a:lnSpc>
              <a:spcBef>
                <a:spcPts val="0"/>
              </a:spcBef>
              <a:spcAft>
                <a:spcPts val="0"/>
              </a:spcAft>
              <a:buClr>
                <a:schemeClr val="dk2"/>
              </a:buClr>
              <a:buSzPts val="1400"/>
              <a:buFont typeface="Times New Roman"/>
              <a:buChar char="○"/>
              <a:defRPr sz="1400" b="0" i="0" u="none" strike="noStrike" cap="none">
                <a:solidFill>
                  <a:schemeClr val="dk2"/>
                </a:solidFill>
                <a:latin typeface="Times New Roman"/>
                <a:ea typeface="Times New Roman"/>
                <a:cs typeface="Times New Roman"/>
                <a:sym typeface="Times New Roman"/>
              </a:defRPr>
            </a:lvl2pPr>
            <a:lvl3pPr marL="1371600" marR="0" lvl="2" indent="-317500" algn="l" rtl="0">
              <a:lnSpc>
                <a:spcPct val="115000"/>
              </a:lnSpc>
              <a:spcBef>
                <a:spcPts val="0"/>
              </a:spcBef>
              <a:spcAft>
                <a:spcPts val="0"/>
              </a:spcAft>
              <a:buClr>
                <a:schemeClr val="dk2"/>
              </a:buClr>
              <a:buSzPts val="1400"/>
              <a:buFont typeface="Times New Roman"/>
              <a:buChar char="■"/>
              <a:defRPr sz="1400" b="0" i="0" u="none" strike="noStrike" cap="none">
                <a:solidFill>
                  <a:schemeClr val="dk2"/>
                </a:solidFill>
                <a:latin typeface="Times New Roman"/>
                <a:ea typeface="Times New Roman"/>
                <a:cs typeface="Times New Roman"/>
                <a:sym typeface="Times New Roman"/>
              </a:defRPr>
            </a:lvl3pPr>
            <a:lvl4pPr marL="1828800" marR="0" lvl="3" indent="-317500" algn="l" rtl="0">
              <a:lnSpc>
                <a:spcPct val="115000"/>
              </a:lnSpc>
              <a:spcBef>
                <a:spcPts val="0"/>
              </a:spcBef>
              <a:spcAft>
                <a:spcPts val="0"/>
              </a:spcAft>
              <a:buClr>
                <a:schemeClr val="dk2"/>
              </a:buClr>
              <a:buSzPts val="1400"/>
              <a:buFont typeface="Times New Roman"/>
              <a:buChar char="●"/>
              <a:defRPr sz="1400" b="0" i="0" u="none" strike="noStrike" cap="none">
                <a:solidFill>
                  <a:schemeClr val="dk2"/>
                </a:solidFill>
                <a:latin typeface="Times New Roman"/>
                <a:ea typeface="Times New Roman"/>
                <a:cs typeface="Times New Roman"/>
                <a:sym typeface="Times New Roman"/>
              </a:defRPr>
            </a:lvl4pPr>
            <a:lvl5pPr marL="2286000" marR="0" lvl="4" indent="-317500" algn="l" rtl="0">
              <a:lnSpc>
                <a:spcPct val="115000"/>
              </a:lnSpc>
              <a:spcBef>
                <a:spcPts val="0"/>
              </a:spcBef>
              <a:spcAft>
                <a:spcPts val="0"/>
              </a:spcAft>
              <a:buClr>
                <a:schemeClr val="dk2"/>
              </a:buClr>
              <a:buSzPts val="1400"/>
              <a:buFont typeface="Times New Roman"/>
              <a:buChar char="○"/>
              <a:defRPr sz="1400" b="0" i="0" u="none" strike="noStrike" cap="none">
                <a:solidFill>
                  <a:schemeClr val="dk2"/>
                </a:solidFill>
                <a:latin typeface="Times New Roman"/>
                <a:ea typeface="Times New Roman"/>
                <a:cs typeface="Times New Roman"/>
                <a:sym typeface="Times New Roman"/>
              </a:defRPr>
            </a:lvl5pPr>
            <a:lvl6pPr marL="2743200" marR="0" lvl="5" indent="-317500" algn="l" rtl="0">
              <a:lnSpc>
                <a:spcPct val="115000"/>
              </a:lnSpc>
              <a:spcBef>
                <a:spcPts val="0"/>
              </a:spcBef>
              <a:spcAft>
                <a:spcPts val="0"/>
              </a:spcAft>
              <a:buClr>
                <a:schemeClr val="dk2"/>
              </a:buClr>
              <a:buSzPts val="1400"/>
              <a:buFont typeface="Times New Roman"/>
              <a:buChar char="■"/>
              <a:defRPr sz="1400" b="0" i="0" u="none" strike="noStrike" cap="none">
                <a:solidFill>
                  <a:schemeClr val="dk2"/>
                </a:solidFill>
                <a:latin typeface="Times New Roman"/>
                <a:ea typeface="Times New Roman"/>
                <a:cs typeface="Times New Roman"/>
                <a:sym typeface="Times New Roman"/>
              </a:defRPr>
            </a:lvl6pPr>
            <a:lvl7pPr marL="3200400" marR="0" lvl="6" indent="-317500" algn="l" rtl="0">
              <a:lnSpc>
                <a:spcPct val="115000"/>
              </a:lnSpc>
              <a:spcBef>
                <a:spcPts val="0"/>
              </a:spcBef>
              <a:spcAft>
                <a:spcPts val="0"/>
              </a:spcAft>
              <a:buClr>
                <a:schemeClr val="dk2"/>
              </a:buClr>
              <a:buSzPts val="1400"/>
              <a:buFont typeface="Times New Roman"/>
              <a:buChar char="●"/>
              <a:defRPr sz="1400" b="0" i="0" u="none" strike="noStrike" cap="none">
                <a:solidFill>
                  <a:schemeClr val="dk2"/>
                </a:solidFill>
                <a:latin typeface="Times New Roman"/>
                <a:ea typeface="Times New Roman"/>
                <a:cs typeface="Times New Roman"/>
                <a:sym typeface="Times New Roman"/>
              </a:defRPr>
            </a:lvl7pPr>
            <a:lvl8pPr marL="3657600" marR="0" lvl="7" indent="-317500" algn="l" rtl="0">
              <a:lnSpc>
                <a:spcPct val="115000"/>
              </a:lnSpc>
              <a:spcBef>
                <a:spcPts val="0"/>
              </a:spcBef>
              <a:spcAft>
                <a:spcPts val="0"/>
              </a:spcAft>
              <a:buClr>
                <a:schemeClr val="dk2"/>
              </a:buClr>
              <a:buSzPts val="1400"/>
              <a:buFont typeface="Times New Roman"/>
              <a:buChar char="○"/>
              <a:defRPr sz="1400" b="0" i="0" u="none" strike="noStrike" cap="none">
                <a:solidFill>
                  <a:schemeClr val="dk2"/>
                </a:solidFill>
                <a:latin typeface="Times New Roman"/>
                <a:ea typeface="Times New Roman"/>
                <a:cs typeface="Times New Roman"/>
                <a:sym typeface="Times New Roman"/>
              </a:defRPr>
            </a:lvl8pPr>
            <a:lvl9pPr marL="4114800" marR="0" lvl="8" indent="-317500" algn="l" rtl="0">
              <a:lnSpc>
                <a:spcPct val="115000"/>
              </a:lnSpc>
              <a:spcBef>
                <a:spcPts val="0"/>
              </a:spcBef>
              <a:spcAft>
                <a:spcPts val="0"/>
              </a:spcAft>
              <a:buClr>
                <a:schemeClr val="dk2"/>
              </a:buClr>
              <a:buSzPts val="1400"/>
              <a:buFont typeface="Times New Roman"/>
              <a:buChar char="■"/>
              <a:defRPr sz="1400" b="0" i="0" u="none" strike="noStrike" cap="none">
                <a:solidFill>
                  <a:schemeClr val="dk2"/>
                </a:solidFill>
                <a:latin typeface="Times New Roman"/>
                <a:ea typeface="Times New Roman"/>
                <a:cs typeface="Times New Roman"/>
                <a:sym typeface="Times New Roman"/>
              </a:defRPr>
            </a:lvl9pPr>
          </a:lstStyle>
          <a:p>
            <a:endParaRPr/>
          </a:p>
        </p:txBody>
      </p:sp>
      <p:sp>
        <p:nvSpPr>
          <p:cNvPr id="8" name="Google Shape;8;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rgbClr val="000000"/>
              </a:buClr>
              <a:buSzPts val="1000"/>
              <a:buFont typeface="Times New Roman"/>
              <a:buNone/>
              <a:defRPr sz="1000" b="0" i="0" u="none" strike="noStrike" cap="none">
                <a:solidFill>
                  <a:schemeClr val="dk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spd="med">
    <p:fade thruBlk="1"/>
  </p:transition>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Font typeface="Times New Roman"/>
        <a:defRPr sz="1400" b="0" i="0" u="none" strike="noStrike" cap="none" spc="0">
          <a:solidFill>
            <a:srgbClr val="000000"/>
          </a:solidFill>
          <a:latin typeface="Times New Roman"/>
          <a:ea typeface="Times New Roman"/>
          <a:cs typeface="Times New Roman"/>
          <a:sym typeface="Times New Roman"/>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
          <p:cNvSpPr txBox="1"/>
          <p:nvPr/>
        </p:nvSpPr>
        <p:spPr>
          <a:xfrm>
            <a:off x="-518" y="1113979"/>
            <a:ext cx="9144000" cy="3457500"/>
          </a:xfrm>
          <a:prstGeom prst="rect">
            <a:avLst/>
          </a:prstGeom>
          <a:noFill/>
          <a:ln>
            <a:noFill/>
          </a:ln>
        </p:spPr>
        <p:txBody>
          <a:bodyPr spcFirstLastPara="1" wrap="square" lIns="0" tIns="9525" rIns="0" bIns="0" anchor="t" anchorCtr="0">
            <a:spAutoFit/>
          </a:bodyPr>
          <a:lstStyle/>
          <a:p>
            <a:pPr marL="406400" marR="317500" lvl="0" indent="-88900" algn="l" rtl="0">
              <a:lnSpc>
                <a:spcPct val="100000"/>
              </a:lnSpc>
              <a:spcBef>
                <a:spcPts val="0"/>
              </a:spcBef>
              <a:spcAft>
                <a:spcPts val="0"/>
              </a:spcAft>
              <a:buClr>
                <a:srgbClr val="000000"/>
              </a:buClr>
              <a:buSzPts val="1900"/>
              <a:buFont typeface="Times New Roman"/>
              <a:buNone/>
            </a:pPr>
            <a:r>
              <a:rPr lang="en-IN" sz="1900" b="1" i="0" u="none" strike="noStrike" cap="none">
                <a:solidFill>
                  <a:srgbClr val="C00000"/>
                </a:solidFill>
                <a:latin typeface="Times New Roman"/>
                <a:ea typeface="Times New Roman"/>
                <a:cs typeface="Times New Roman"/>
                <a:sym typeface="Times New Roman"/>
              </a:rPr>
              <a:t>      </a:t>
            </a:r>
            <a:endParaRPr sz="1100" b="0" i="0" u="none" strike="noStrike" cap="none">
              <a:solidFill>
                <a:srgbClr val="0000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2200"/>
              <a:buFont typeface="Times New Roman"/>
              <a:buNone/>
            </a:pPr>
            <a:r>
              <a:rPr lang="en-IN" sz="2200" b="1" i="0" u="sng" strike="noStrike" cap="none">
                <a:solidFill>
                  <a:srgbClr val="052358"/>
                </a:solidFill>
                <a:latin typeface="Times New Roman"/>
                <a:ea typeface="Times New Roman"/>
                <a:cs typeface="Times New Roman"/>
                <a:sym typeface="Times New Roman"/>
              </a:rPr>
              <a:t>Department of Computer Engineering</a:t>
            </a:r>
            <a:endParaRPr sz="1400" b="0" i="0" u="none" strike="noStrike" cap="none">
              <a:solidFill>
                <a:srgbClr val="0000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2200"/>
              <a:buFont typeface="Times New Roman"/>
              <a:buNone/>
            </a:pPr>
            <a:r>
              <a:rPr lang="en-IN" sz="2200" b="1" i="0" u="sng" strike="noStrike" cap="none">
                <a:solidFill>
                  <a:srgbClr val="052358"/>
                </a:solidFill>
                <a:latin typeface="Times New Roman"/>
                <a:ea typeface="Times New Roman"/>
                <a:cs typeface="Times New Roman"/>
                <a:sym typeface="Times New Roman"/>
              </a:rPr>
              <a:t>Academic Year 2026-2027 (Odd Semester)</a:t>
            </a:r>
            <a:endParaRPr sz="1400" b="0" i="0" u="none" strike="noStrike" cap="none">
              <a:solidFill>
                <a:srgbClr val="0000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2200"/>
              <a:buFont typeface="Times New Roman"/>
              <a:buNone/>
            </a:pPr>
            <a:r>
              <a:rPr lang="en-IN" sz="2200" b="1" i="0" u="sng" strike="noStrike" cap="none">
                <a:solidFill>
                  <a:srgbClr val="052358"/>
                </a:solidFill>
                <a:latin typeface="Times New Roman"/>
                <a:ea typeface="Times New Roman"/>
                <a:cs typeface="Times New Roman"/>
                <a:sym typeface="Times New Roman"/>
              </a:rPr>
              <a:t>Mini Project</a:t>
            </a:r>
            <a:endParaRPr sz="1400" b="0" i="0" u="none" strike="noStrike" cap="none">
              <a:solidFill>
                <a:srgbClr val="0000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2200"/>
              <a:buFont typeface="Times New Roman"/>
              <a:buNone/>
            </a:pPr>
            <a:endParaRPr sz="2200" b="1" i="0" u="sng" strike="noStrike" cap="none">
              <a:solidFill>
                <a:srgbClr val="052358"/>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2200"/>
              <a:buFont typeface="Times New Roman"/>
              <a:buNone/>
            </a:pPr>
            <a:r>
              <a:rPr lang="en-IN" sz="2200" b="1" i="0" u="sng" strike="noStrike" cap="none">
                <a:solidFill>
                  <a:srgbClr val="052358"/>
                </a:solidFill>
                <a:latin typeface="Times New Roman"/>
                <a:ea typeface="Times New Roman"/>
                <a:cs typeface="Times New Roman"/>
                <a:sym typeface="Times New Roman"/>
              </a:rPr>
              <a:t>Bank Transaction Analytics and Fraud Detection</a:t>
            </a:r>
            <a:endParaRPr sz="1400" b="0" i="0" u="none" strike="noStrike" cap="none">
              <a:solidFill>
                <a:srgbClr val="0000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2200"/>
              <a:buFont typeface="Times New Roman"/>
              <a:buNone/>
            </a:pPr>
            <a:endParaRPr sz="2200" b="1" i="0" u="sng" strike="noStrike" cap="none">
              <a:solidFill>
                <a:srgbClr val="052358"/>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1800"/>
              <a:buFont typeface="Times New Roman"/>
              <a:buNone/>
            </a:pPr>
            <a:r>
              <a:rPr lang="en-IN" sz="1800" b="1" i="0" u="none" strike="noStrike" cap="none">
                <a:solidFill>
                  <a:srgbClr val="C00000"/>
                </a:solidFill>
                <a:latin typeface="Times New Roman"/>
                <a:ea typeface="Times New Roman"/>
                <a:cs typeface="Times New Roman"/>
                <a:sym typeface="Times New Roman"/>
              </a:rPr>
              <a:t>Jay Dhake  (A – 07)</a:t>
            </a:r>
            <a:endParaRPr sz="1400" b="0" i="0" u="none" strike="noStrike" cap="none">
              <a:solidFill>
                <a:srgbClr val="0000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1800"/>
              <a:buFont typeface="Times New Roman"/>
              <a:buNone/>
            </a:pPr>
            <a:r>
              <a:rPr lang="en-IN" sz="1800" b="1" i="0" u="none" strike="noStrike" cap="none">
                <a:solidFill>
                  <a:srgbClr val="C00000"/>
                </a:solidFill>
                <a:latin typeface="Times New Roman"/>
                <a:ea typeface="Times New Roman"/>
                <a:cs typeface="Times New Roman"/>
                <a:sym typeface="Times New Roman"/>
              </a:rPr>
              <a:t>Samarth Ghanekar  (A – 10)</a:t>
            </a:r>
            <a:endParaRPr sz="1400" b="0" i="0" u="none" strike="noStrike" cap="none">
              <a:solidFill>
                <a:srgbClr val="0000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1800"/>
              <a:buFont typeface="Times New Roman"/>
              <a:buNone/>
            </a:pPr>
            <a:r>
              <a:rPr lang="en-IN" sz="1800" b="1" i="0" u="none" strike="noStrike" cap="none">
                <a:solidFill>
                  <a:srgbClr val="C00000"/>
                </a:solidFill>
                <a:latin typeface="Times New Roman"/>
                <a:ea typeface="Times New Roman"/>
                <a:cs typeface="Times New Roman"/>
                <a:sym typeface="Times New Roman"/>
              </a:rPr>
              <a:t>Saahir Joshi  (A – 16)</a:t>
            </a:r>
            <a:endParaRPr sz="1400" b="0" i="0" u="none" strike="noStrike" cap="none">
              <a:solidFill>
                <a:srgbClr val="000000"/>
              </a:solidFill>
              <a:latin typeface="Times New Roman"/>
              <a:ea typeface="Times New Roman"/>
              <a:cs typeface="Times New Roman"/>
              <a:sym typeface="Times New Roman"/>
            </a:endParaRPr>
          </a:p>
          <a:p>
            <a:pPr marL="0" marR="0" lvl="0" indent="0" algn="ctr" rtl="0">
              <a:lnSpc>
                <a:spcPct val="200000"/>
              </a:lnSpc>
              <a:spcBef>
                <a:spcPts val="0"/>
              </a:spcBef>
              <a:spcAft>
                <a:spcPts val="0"/>
              </a:spcAft>
              <a:buClr>
                <a:srgbClr val="000000"/>
              </a:buClr>
              <a:buSzPts val="1800"/>
              <a:buFont typeface="Times New Roman"/>
              <a:buNone/>
            </a:pPr>
            <a:r>
              <a:rPr lang="en-IN" sz="1900" b="1" i="0" u="none" strike="noStrike" cap="none">
                <a:solidFill>
                  <a:srgbClr val="002060"/>
                </a:solidFill>
                <a:latin typeface="Times New Roman"/>
                <a:ea typeface="Times New Roman"/>
                <a:cs typeface="Times New Roman"/>
                <a:sym typeface="Times New Roman"/>
              </a:rPr>
              <a:t>Name of the Guide:- Prof. Mrunali Desai</a:t>
            </a:r>
            <a:endParaRPr sz="1900" b="1" i="0" u="none" strike="noStrike" cap="none">
              <a:solidFill>
                <a:srgbClr val="002060"/>
              </a:solidFill>
              <a:latin typeface="Times New Roman"/>
              <a:ea typeface="Times New Roman"/>
              <a:cs typeface="Times New Roman"/>
              <a:sym typeface="Times New Roman"/>
            </a:endParaRPr>
          </a:p>
        </p:txBody>
      </p:sp>
      <p:pic>
        <p:nvPicPr>
          <p:cNvPr id="69" name="Google Shape;69;p1"/>
          <p:cNvPicPr preferRelativeResize="0"/>
          <p:nvPr/>
        </p:nvPicPr>
        <p:blipFill rotWithShape="1">
          <a:blip r:embed="rId3">
            <a:alphaModFix/>
          </a:blip>
          <a:srcRect/>
          <a:stretch/>
        </p:blipFill>
        <p:spPr>
          <a:xfrm>
            <a:off x="82866" y="117475"/>
            <a:ext cx="4848225" cy="77851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fade">
                                      <p:cBhvr>
                                        <p:cTn id="7" dur="10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2"/>
          <p:cNvSpPr txBox="1">
            <a:spLocks noGrp="1"/>
          </p:cNvSpPr>
          <p:nvPr>
            <p:ph type="title"/>
          </p:nvPr>
        </p:nvSpPr>
        <p:spPr>
          <a:xfrm>
            <a:off x="1417118" y="204251"/>
            <a:ext cx="4686300" cy="486900"/>
          </a:xfrm>
          <a:prstGeom prst="rect">
            <a:avLst/>
          </a:prstGeom>
          <a:noFill/>
          <a:ln>
            <a:noFill/>
          </a:ln>
        </p:spPr>
        <p:txBody>
          <a:bodyPr spcFirstLastPara="1" wrap="square" lIns="0" tIns="9525" rIns="0" bIns="0" anchor="t" anchorCtr="0">
            <a:spAutoFit/>
          </a:bodyPr>
          <a:lstStyle/>
          <a:p>
            <a:pPr marL="12700" lvl="0" indent="0" algn="ctr" rtl="0">
              <a:lnSpc>
                <a:spcPct val="100000"/>
              </a:lnSpc>
              <a:spcBef>
                <a:spcPts val="0"/>
              </a:spcBef>
              <a:spcAft>
                <a:spcPts val="0"/>
              </a:spcAft>
              <a:buSzPts val="2800"/>
              <a:buNone/>
            </a:pPr>
            <a:r>
              <a:rPr lang="en-IN" sz="3100" u="sng">
                <a:latin typeface="Times New Roman"/>
                <a:ea typeface="Times New Roman"/>
                <a:cs typeface="Times New Roman"/>
                <a:sym typeface="Times New Roman"/>
              </a:rPr>
              <a:t>Problem Statement</a:t>
            </a:r>
            <a:endParaRPr sz="3100">
              <a:latin typeface="Times New Roman"/>
              <a:ea typeface="Times New Roman"/>
              <a:cs typeface="Times New Roman"/>
              <a:sym typeface="Times New Roman"/>
            </a:endParaRPr>
          </a:p>
        </p:txBody>
      </p:sp>
      <p:sp>
        <p:nvSpPr>
          <p:cNvPr id="75" name="Google Shape;75;p2"/>
          <p:cNvSpPr txBox="1"/>
          <p:nvPr/>
        </p:nvSpPr>
        <p:spPr>
          <a:xfrm>
            <a:off x="761944" y="1201779"/>
            <a:ext cx="7383300" cy="3393900"/>
          </a:xfrm>
          <a:prstGeom prst="rect">
            <a:avLst/>
          </a:prstGeom>
          <a:noFill/>
          <a:ln>
            <a:noFill/>
          </a:ln>
        </p:spPr>
        <p:txBody>
          <a:bodyPr spcFirstLastPara="1" wrap="square" lIns="68575" tIns="34275" rIns="68575" bIns="34275" anchor="t" anchorCtr="0">
            <a:spAutoFit/>
          </a:bodyPr>
          <a:lstStyle/>
          <a:p>
            <a:pPr marL="0" marR="0" lvl="0" indent="0" algn="just" rtl="0">
              <a:lnSpc>
                <a:spcPct val="100000"/>
              </a:lnSpc>
              <a:spcBef>
                <a:spcPts val="0"/>
              </a:spcBef>
              <a:spcAft>
                <a:spcPts val="0"/>
              </a:spcAft>
              <a:buClr>
                <a:srgbClr val="000000"/>
              </a:buClr>
              <a:buSzPts val="1200"/>
              <a:buFont typeface="Times New Roman"/>
              <a:buNone/>
            </a:pPr>
            <a:r>
              <a:rPr lang="en-IN" sz="1200" b="1" i="0" u="none" strike="noStrike" cap="none">
                <a:solidFill>
                  <a:srgbClr val="000000"/>
                </a:solidFill>
                <a:highlight>
                  <a:srgbClr val="FFFFFF"/>
                </a:highlight>
                <a:latin typeface="Times New Roman"/>
                <a:ea typeface="Times New Roman"/>
                <a:cs typeface="Times New Roman"/>
                <a:sym typeface="Times New Roman"/>
              </a:rPr>
              <a:t>The Core Problem</a:t>
            </a:r>
            <a:endParaRPr sz="12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highlight>
                  <a:srgbClr val="FFFFFF"/>
                </a:highlight>
                <a:latin typeface="Times New Roman"/>
                <a:ea typeface="Times New Roman"/>
                <a:cs typeface="Times New Roman"/>
                <a:sym typeface="Times New Roman"/>
              </a:rPr>
              <a:t>Banks must find the </a:t>
            </a:r>
            <a:r>
              <a:rPr lang="en-IN" sz="1200" b="1" i="0" u="none" strike="noStrike" cap="none">
                <a:solidFill>
                  <a:srgbClr val="000000"/>
                </a:solidFill>
                <a:highlight>
                  <a:srgbClr val="FFFFFF"/>
                </a:highlight>
                <a:latin typeface="Times New Roman"/>
                <a:ea typeface="Times New Roman"/>
                <a:cs typeface="Times New Roman"/>
                <a:sym typeface="Times New Roman"/>
              </a:rPr>
              <a:t>very few fraudulent transactions</a:t>
            </a:r>
            <a:r>
              <a:rPr lang="en-IN" sz="1200" b="0" i="0" u="none" strike="noStrike" cap="none">
                <a:solidFill>
                  <a:srgbClr val="000000"/>
                </a:solidFill>
                <a:highlight>
                  <a:srgbClr val="FFFFFF"/>
                </a:highlight>
                <a:latin typeface="Times New Roman"/>
                <a:ea typeface="Times New Roman"/>
                <a:cs typeface="Times New Roman"/>
                <a:sym typeface="Times New Roman"/>
              </a:rPr>
              <a:t> hidden among </a:t>
            </a:r>
            <a:r>
              <a:rPr lang="en-IN" sz="1200" b="1" i="0" u="none" strike="noStrike" cap="none">
                <a:solidFill>
                  <a:srgbClr val="000000"/>
                </a:solidFill>
                <a:highlight>
                  <a:srgbClr val="FFFFFF"/>
                </a:highlight>
                <a:latin typeface="Times New Roman"/>
                <a:ea typeface="Times New Roman"/>
                <a:cs typeface="Times New Roman"/>
                <a:sym typeface="Times New Roman"/>
              </a:rPr>
              <a:t>millions of legitimate ones</a:t>
            </a:r>
            <a:r>
              <a:rPr lang="en-IN" sz="1200" b="0" i="0" u="none" strike="noStrike" cap="none">
                <a:solidFill>
                  <a:srgbClr val="000000"/>
                </a:solidFill>
                <a:highlight>
                  <a:srgbClr val="FFFFFF"/>
                </a:highlight>
                <a:latin typeface="Times New Roman"/>
                <a:ea typeface="Times New Roman"/>
                <a:cs typeface="Times New Roman"/>
                <a:sym typeface="Times New Roman"/>
              </a:rPr>
              <a:t> and then act on them. Today this work is split across fixed rules, offline notebooks and separate tools, so an analyst cannot search, investigate and check new batches of transactions in one place.</a:t>
            </a:r>
            <a:endParaRPr sz="12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endParaRPr sz="1200" b="0" i="0" u="none" strike="noStrike" cap="none">
              <a:solidFill>
                <a:srgbClr val="000000"/>
              </a:solidFill>
              <a:highlight>
                <a:srgbClr val="FFFFFF"/>
              </a:highlight>
              <a:latin typeface="Times New Roman"/>
              <a:ea typeface="Times New Roman"/>
              <a:cs typeface="Times New Roman"/>
              <a:sym typeface="Times New Roman"/>
            </a:endParaRPr>
          </a:p>
          <a:p>
            <a:pPr marL="171450" marR="0" lvl="0" indent="-171450" algn="just" rtl="0">
              <a:lnSpc>
                <a:spcPct val="100000"/>
              </a:lnSpc>
              <a:spcBef>
                <a:spcPts val="0"/>
              </a:spcBef>
              <a:spcAft>
                <a:spcPts val="0"/>
              </a:spcAft>
              <a:buClr>
                <a:srgbClr val="000000"/>
              </a:buClr>
              <a:buSzPts val="1200"/>
              <a:buFont typeface="Times New Roman"/>
              <a:buChar char="•"/>
            </a:pPr>
            <a:r>
              <a:rPr lang="en-IN" sz="1200" b="1" i="0" u="none" strike="noStrike" cap="none">
                <a:solidFill>
                  <a:srgbClr val="000000"/>
                </a:solidFill>
                <a:highlight>
                  <a:srgbClr val="FFFFFF"/>
                </a:highlight>
                <a:latin typeface="Times New Roman"/>
                <a:ea typeface="Times New Roman"/>
                <a:cs typeface="Times New Roman"/>
                <a:sym typeface="Times New Roman"/>
              </a:rPr>
              <a:t>Rare, imbalanced events: Fraud is about 1 in 776 transactions in our benchmark data, so accuracy is meaningless; precision and recall are needed.</a:t>
            </a:r>
            <a:endParaRPr sz="1200" b="0" i="0" u="none" strike="noStrike" cap="none">
              <a:solidFill>
                <a:srgbClr val="000000"/>
              </a:solidFill>
              <a:latin typeface="Times New Roman"/>
              <a:ea typeface="Times New Roman"/>
              <a:cs typeface="Times New Roman"/>
              <a:sym typeface="Times New Roman"/>
            </a:endParaRPr>
          </a:p>
          <a:p>
            <a:pPr marL="171450" marR="0" lvl="0" indent="-171450" algn="just" rtl="0">
              <a:lnSpc>
                <a:spcPct val="100000"/>
              </a:lnSpc>
              <a:spcBef>
                <a:spcPts val="0"/>
              </a:spcBef>
              <a:spcAft>
                <a:spcPts val="0"/>
              </a:spcAft>
              <a:buClr>
                <a:srgbClr val="000000"/>
              </a:buClr>
              <a:buSzPts val="1200"/>
              <a:buFont typeface="Times New Roman"/>
              <a:buChar char="•"/>
            </a:pPr>
            <a:r>
              <a:rPr lang="en-IN" sz="1200" b="1" i="0" u="none" strike="noStrike" cap="none">
                <a:solidFill>
                  <a:srgbClr val="000000"/>
                </a:solidFill>
                <a:highlight>
                  <a:srgbClr val="FFFFFF"/>
                </a:highlight>
                <a:latin typeface="Times New Roman"/>
                <a:ea typeface="Times New Roman"/>
                <a:cs typeface="Times New Roman"/>
                <a:sym typeface="Times New Roman"/>
              </a:rPr>
              <a:t>Rules and notebooks do not scale: Fixed rules catch few frauds, and single-machine notebooks cannot process millions of rows.</a:t>
            </a:r>
            <a:endParaRPr sz="1200" b="0" i="0" u="none" strike="noStrike" cap="none">
              <a:solidFill>
                <a:srgbClr val="000000"/>
              </a:solidFill>
              <a:highlight>
                <a:srgbClr val="FFFFFF"/>
              </a:highlight>
              <a:latin typeface="Times New Roman"/>
              <a:ea typeface="Times New Roman"/>
              <a:cs typeface="Times New Roman"/>
              <a:sym typeface="Times New Roman"/>
            </a:endParaRPr>
          </a:p>
          <a:p>
            <a:pPr marL="171450" marR="0" lvl="0" indent="-171450" algn="just" rtl="0">
              <a:lnSpc>
                <a:spcPct val="100000"/>
              </a:lnSpc>
              <a:spcBef>
                <a:spcPts val="0"/>
              </a:spcBef>
              <a:spcAft>
                <a:spcPts val="0"/>
              </a:spcAft>
              <a:buClr>
                <a:srgbClr val="000000"/>
              </a:buClr>
              <a:buSzPts val="1200"/>
              <a:buFont typeface="Times New Roman"/>
              <a:buChar char="•"/>
            </a:pPr>
            <a:r>
              <a:rPr lang="en-IN" sz="1200" b="1" i="0" u="none" strike="noStrike" cap="none">
                <a:solidFill>
                  <a:srgbClr val="000000"/>
                </a:solidFill>
                <a:highlight>
                  <a:srgbClr val="FFFFFF"/>
                </a:highlight>
                <a:latin typeface="Times New Roman"/>
                <a:ea typeface="Times New Roman"/>
                <a:cs typeface="Times New Roman"/>
                <a:sym typeface="Times New Roman"/>
              </a:rPr>
              <a:t>Slow lookups: Scanning all the data for one account takes over a second; analysts need answers in milliseconds.</a:t>
            </a:r>
            <a:endParaRPr sz="1200" b="0" i="0" u="none" strike="noStrike" cap="none">
              <a:solidFill>
                <a:srgbClr val="000000"/>
              </a:solidFill>
              <a:highlight>
                <a:srgbClr val="FFFFFF"/>
              </a:highlight>
              <a:latin typeface="Times New Roman"/>
              <a:ea typeface="Times New Roman"/>
              <a:cs typeface="Times New Roman"/>
              <a:sym typeface="Times New Roman"/>
            </a:endParaRPr>
          </a:p>
          <a:p>
            <a:pPr marL="171450" marR="0" lvl="0" indent="-171450" algn="just" rtl="0">
              <a:lnSpc>
                <a:spcPct val="100000"/>
              </a:lnSpc>
              <a:spcBef>
                <a:spcPts val="0"/>
              </a:spcBef>
              <a:spcAft>
                <a:spcPts val="0"/>
              </a:spcAft>
              <a:buClr>
                <a:srgbClr val="000000"/>
              </a:buClr>
              <a:buSzPts val="1200"/>
              <a:buFont typeface="Times New Roman"/>
              <a:buChar char="•"/>
            </a:pPr>
            <a:r>
              <a:rPr lang="en-IN" sz="1200" b="1" i="0" u="none" strike="noStrike" cap="none">
                <a:solidFill>
                  <a:srgbClr val="000000"/>
                </a:solidFill>
                <a:highlight>
                  <a:srgbClr val="FFFFFF"/>
                </a:highlight>
                <a:latin typeface="Times New Roman"/>
                <a:ea typeface="Times New Roman"/>
                <a:cs typeface="Times New Roman"/>
                <a:sym typeface="Times New Roman"/>
              </a:rPr>
              <a:t>No workflow: Flagged transactions need case management, and new files of transactions must be scored and explored without rebuilding the pipeline.</a:t>
            </a:r>
            <a:endParaRPr sz="1200" b="0" i="0" u="none" strike="noStrike" cap="none">
              <a:solidFill>
                <a:srgbClr val="000000"/>
              </a:solidFill>
              <a:highlight>
                <a:srgbClr val="FFFFFF"/>
              </a:highlight>
              <a:latin typeface="Times New Roman"/>
              <a:ea typeface="Times New Roman"/>
              <a:cs typeface="Times New Roman"/>
              <a:sym typeface="Times New Roman"/>
            </a:endParaRPr>
          </a:p>
          <a:p>
            <a:pPr marL="285750" marR="0" lvl="0" indent="-171450" algn="just" rtl="0">
              <a:lnSpc>
                <a:spcPct val="100000"/>
              </a:lnSpc>
              <a:spcBef>
                <a:spcPts val="0"/>
              </a:spcBef>
              <a:spcAft>
                <a:spcPts val="0"/>
              </a:spcAft>
              <a:buClr>
                <a:srgbClr val="000000"/>
              </a:buClr>
              <a:buSzPts val="1800"/>
              <a:buFont typeface="Times New Roman"/>
              <a:buNone/>
            </a:pPr>
            <a:endParaRPr sz="1200" b="0" i="0" u="none" strike="noStrike" cap="none">
              <a:solidFill>
                <a:schemeClr val="dk1"/>
              </a:solidFill>
              <a:highlight>
                <a:srgbClr val="FFFFFF"/>
              </a:highlight>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800"/>
              <a:buFont typeface="Times New Roman"/>
              <a:buNone/>
            </a:pPr>
            <a:endParaRPr sz="1200" b="0" i="0" u="none" strike="noStrike" cap="none">
              <a:solidFill>
                <a:schemeClr val="dk1"/>
              </a:solidFill>
              <a:highlight>
                <a:srgbClr val="FFFFFF"/>
              </a:highlight>
              <a:latin typeface="Times New Roman"/>
              <a:ea typeface="Times New Roman"/>
              <a:cs typeface="Times New Roman"/>
              <a:sym typeface="Times New Roma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fade">
                                      <p:cBhvr>
                                        <p:cTn id="7" dur="1000"/>
                                        <p:tgtEl>
                                          <p:spTgt spid="74"/>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75"/>
                                        </p:tgtEl>
                                        <p:attrNameLst>
                                          <p:attrName>style.visibility</p:attrName>
                                        </p:attrNameLst>
                                      </p:cBhvr>
                                      <p:to>
                                        <p:strVal val="visible"/>
                                      </p:to>
                                    </p:set>
                                    <p:animEffect transition="in" filter="fade">
                                      <p:cBhvr>
                                        <p:cTn id="11" dur="1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3"/>
          <p:cNvSpPr txBox="1">
            <a:spLocks noGrp="1"/>
          </p:cNvSpPr>
          <p:nvPr>
            <p:ph type="title"/>
          </p:nvPr>
        </p:nvSpPr>
        <p:spPr>
          <a:xfrm>
            <a:off x="1471352" y="145582"/>
            <a:ext cx="4686300" cy="486900"/>
          </a:xfrm>
          <a:prstGeom prst="rect">
            <a:avLst/>
          </a:prstGeom>
          <a:noFill/>
          <a:ln>
            <a:noFill/>
          </a:ln>
        </p:spPr>
        <p:txBody>
          <a:bodyPr spcFirstLastPara="1" wrap="square" lIns="0" tIns="9525" rIns="0" bIns="0" anchor="t" anchorCtr="0">
            <a:spAutoFit/>
          </a:bodyPr>
          <a:lstStyle/>
          <a:p>
            <a:pPr marL="12700" lvl="0" indent="0" algn="ctr" rtl="0">
              <a:lnSpc>
                <a:spcPct val="100000"/>
              </a:lnSpc>
              <a:spcBef>
                <a:spcPts val="0"/>
              </a:spcBef>
              <a:spcAft>
                <a:spcPts val="0"/>
              </a:spcAft>
              <a:buSzPts val="2800"/>
              <a:buNone/>
            </a:pPr>
            <a:r>
              <a:rPr lang="en-IN" sz="3100" u="sng">
                <a:latin typeface="Times New Roman"/>
                <a:ea typeface="Times New Roman"/>
                <a:cs typeface="Times New Roman"/>
                <a:sym typeface="Times New Roman"/>
              </a:rPr>
              <a:t>Literature Survey</a:t>
            </a:r>
            <a:endParaRPr sz="3100">
              <a:latin typeface="Times New Roman"/>
              <a:ea typeface="Times New Roman"/>
              <a:cs typeface="Times New Roman"/>
              <a:sym typeface="Times New Roman"/>
            </a:endParaRPr>
          </a:p>
        </p:txBody>
      </p:sp>
      <p:sp>
        <p:nvSpPr>
          <p:cNvPr id="81" name="Google Shape;81;p3"/>
          <p:cNvSpPr txBox="1"/>
          <p:nvPr/>
        </p:nvSpPr>
        <p:spPr>
          <a:xfrm>
            <a:off x="503696" y="1097999"/>
            <a:ext cx="6470541" cy="623217"/>
          </a:xfrm>
          <a:prstGeom prst="rect">
            <a:avLst/>
          </a:prstGeom>
          <a:noFill/>
          <a:ln>
            <a:noFill/>
          </a:ln>
        </p:spPr>
        <p:txBody>
          <a:bodyPr spcFirstLastPara="1" wrap="square" lIns="68575" tIns="34275" rIns="68575" bIns="34275" anchor="t" anchorCtr="0">
            <a:spAutoFit/>
          </a:bodyPr>
          <a:lstStyle/>
          <a:p>
            <a:pPr marL="0" marR="0" lvl="0" indent="0" algn="just" rtl="0">
              <a:lnSpc>
                <a:spcPct val="100000"/>
              </a:lnSpc>
              <a:spcBef>
                <a:spcPts val="0"/>
              </a:spcBef>
              <a:spcAft>
                <a:spcPts val="0"/>
              </a:spcAft>
              <a:buClr>
                <a:srgbClr val="000000"/>
              </a:buClr>
              <a:buSzPts val="1800"/>
              <a:buFont typeface="Times New Roman"/>
              <a:buNone/>
            </a:pPr>
            <a:endParaRPr sz="1800" b="0" i="0" u="none" strike="noStrike" cap="none">
              <a:solidFill>
                <a:schemeClr val="dk1"/>
              </a:solidFill>
              <a:highlight>
                <a:srgbClr val="FFFFFF"/>
              </a:highlight>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800"/>
              <a:buFont typeface="Times New Roman"/>
              <a:buNone/>
            </a:pPr>
            <a:endParaRPr sz="1800" b="0" i="0" u="none" strike="noStrike" cap="none">
              <a:solidFill>
                <a:schemeClr val="dk1"/>
              </a:solidFill>
              <a:highlight>
                <a:srgbClr val="FFFFFF"/>
              </a:highlight>
              <a:latin typeface="Times New Roman"/>
              <a:ea typeface="Times New Roman"/>
              <a:cs typeface="Times New Roman"/>
              <a:sym typeface="Times New Roman"/>
            </a:endParaRPr>
          </a:p>
        </p:txBody>
      </p:sp>
      <p:graphicFrame>
        <p:nvGraphicFramePr>
          <p:cNvPr id="82" name="Google Shape;82;p3"/>
          <p:cNvGraphicFramePr/>
          <p:nvPr>
            <p:extLst>
              <p:ext uri="{D42A27DB-BD31-4B8C-83A1-F6EECF244321}">
                <p14:modId xmlns:p14="http://schemas.microsoft.com/office/powerpoint/2010/main" val="3728577641"/>
              </p:ext>
            </p:extLst>
          </p:nvPr>
        </p:nvGraphicFramePr>
        <p:xfrm>
          <a:off x="676656" y="868680"/>
          <a:ext cx="7726680" cy="3642360"/>
        </p:xfrm>
        <a:graphic>
          <a:graphicData uri="http://schemas.openxmlformats.org/drawingml/2006/table">
            <a:tbl>
              <a:tblPr>
                <a:noFill/>
                <a:tableStyleId>{66A4A503-B986-45E2-8678-F1D963D36F8F}</a:tableStyleId>
              </a:tblPr>
              <a:tblGrid>
                <a:gridCol w="1600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274320">
                <a:tc>
                  <a:txBody>
                    <a:bodyPr/>
                    <a:lstStyle/>
                    <a:p>
                      <a:pPr marL="0" marR="0" lvl="0" indent="0" algn="ctr" rtl="0">
                        <a:lnSpc>
                          <a:spcPct val="100000"/>
                        </a:lnSpc>
                        <a:spcBef>
                          <a:spcPts val="0"/>
                        </a:spcBef>
                        <a:spcAft>
                          <a:spcPts val="0"/>
                        </a:spcAft>
                        <a:buClr>
                          <a:srgbClr val="000000"/>
                        </a:buClr>
                        <a:buSzPts val="1200"/>
                        <a:buFont typeface="Times New Roman"/>
                        <a:buNone/>
                      </a:pPr>
                      <a:r>
                        <a:rPr lang="en-IN" sz="1200" b="1" u="none" strike="noStrike" cap="none">
                          <a:solidFill>
                            <a:srgbClr val="1F1F1F"/>
                          </a:solidFill>
                          <a:latin typeface="Times New Roman"/>
                          <a:ea typeface="Times New Roman"/>
                          <a:cs typeface="Times New Roman"/>
                          <a:sym typeface="Times New Roman"/>
                        </a:rPr>
                        <a:t>Title/ Year</a:t>
                      </a:r>
                      <a:endParaRPr sz="1200" u="none" strike="noStrike" cap="none">
                        <a:solidFill>
                          <a:srgbClr val="1F1F1F"/>
                        </a:solidFill>
                        <a:latin typeface="Times New Roman"/>
                        <a:ea typeface="Times New Roman"/>
                        <a:cs typeface="Times New Roman"/>
                        <a:sym typeface="Times New Roman"/>
                      </a:endParaRPr>
                    </a:p>
                  </a:txBody>
                  <a:tcPr marL="76200" marR="76200" marT="50800" marB="50800" anchor="ctr"/>
                </a:tc>
                <a:tc>
                  <a:txBody>
                    <a:bodyPr/>
                    <a:lstStyle/>
                    <a:p>
                      <a:pPr marL="0" marR="0" lvl="0" indent="0" algn="ctr" rtl="0">
                        <a:lnSpc>
                          <a:spcPct val="100000"/>
                        </a:lnSpc>
                        <a:spcBef>
                          <a:spcPts val="0"/>
                        </a:spcBef>
                        <a:spcAft>
                          <a:spcPts val="0"/>
                        </a:spcAft>
                        <a:buClr>
                          <a:srgbClr val="000000"/>
                        </a:buClr>
                        <a:buSzPts val="1200"/>
                        <a:buFont typeface="Times New Roman"/>
                        <a:buNone/>
                      </a:pPr>
                      <a:r>
                        <a:rPr lang="en-IN" sz="1200" b="1" u="none" strike="noStrike" cap="none">
                          <a:solidFill>
                            <a:srgbClr val="1F1F1F"/>
                          </a:solidFill>
                          <a:latin typeface="Times New Roman"/>
                          <a:ea typeface="Times New Roman"/>
                          <a:cs typeface="Times New Roman"/>
                          <a:sym typeface="Times New Roman"/>
                        </a:rPr>
                        <a:t>Methodology</a:t>
                      </a:r>
                      <a:endParaRPr sz="1200" u="none" strike="noStrike" cap="none">
                        <a:solidFill>
                          <a:srgbClr val="1F1F1F"/>
                        </a:solidFill>
                        <a:latin typeface="Times New Roman"/>
                        <a:ea typeface="Times New Roman"/>
                        <a:cs typeface="Times New Roman"/>
                        <a:sym typeface="Times New Roman"/>
                      </a:endParaRPr>
                    </a:p>
                  </a:txBody>
                  <a:tcPr marL="76200" marR="76200" marT="50800" marB="50800" anchor="ctr"/>
                </a:tc>
                <a:tc>
                  <a:txBody>
                    <a:bodyPr/>
                    <a:lstStyle/>
                    <a:p>
                      <a:pPr marL="0" marR="0" lvl="0" indent="0" algn="ctr" rtl="0">
                        <a:lnSpc>
                          <a:spcPct val="100000"/>
                        </a:lnSpc>
                        <a:spcBef>
                          <a:spcPts val="0"/>
                        </a:spcBef>
                        <a:spcAft>
                          <a:spcPts val="0"/>
                        </a:spcAft>
                        <a:buClr>
                          <a:srgbClr val="000000"/>
                        </a:buClr>
                        <a:buSzPts val="1200"/>
                        <a:buFont typeface="Times New Roman"/>
                        <a:buNone/>
                      </a:pPr>
                      <a:r>
                        <a:rPr lang="en-IN" sz="1200" b="1" u="none" strike="noStrike" cap="none">
                          <a:solidFill>
                            <a:srgbClr val="1F1F1F"/>
                          </a:solidFill>
                          <a:latin typeface="Times New Roman"/>
                          <a:ea typeface="Times New Roman"/>
                          <a:cs typeface="Times New Roman"/>
                          <a:sym typeface="Times New Roman"/>
                        </a:rPr>
                        <a:t>Findings</a:t>
                      </a:r>
                      <a:endParaRPr sz="1200" u="none" strike="noStrike" cap="none">
                        <a:solidFill>
                          <a:srgbClr val="1F1F1F"/>
                        </a:solidFill>
                        <a:latin typeface="Times New Roman"/>
                        <a:ea typeface="Times New Roman"/>
                        <a:cs typeface="Times New Roman"/>
                        <a:sym typeface="Times New Roman"/>
                      </a:endParaRPr>
                    </a:p>
                  </a:txBody>
                  <a:tcPr marL="76200" marR="76200" marT="50800" marB="50800" anchor="ctr"/>
                </a:tc>
                <a:tc>
                  <a:txBody>
                    <a:bodyPr/>
                    <a:lstStyle/>
                    <a:p>
                      <a:pPr marL="0" marR="0" lvl="0" indent="0" algn="ctr" rtl="0">
                        <a:lnSpc>
                          <a:spcPct val="100000"/>
                        </a:lnSpc>
                        <a:spcBef>
                          <a:spcPts val="0"/>
                        </a:spcBef>
                        <a:spcAft>
                          <a:spcPts val="0"/>
                        </a:spcAft>
                        <a:buClr>
                          <a:srgbClr val="000000"/>
                        </a:buClr>
                        <a:buSzPts val="1200"/>
                        <a:buFont typeface="Times New Roman"/>
                        <a:buNone/>
                      </a:pPr>
                      <a:r>
                        <a:rPr lang="en-IN" sz="1200" b="1" u="none" strike="noStrike" cap="none">
                          <a:solidFill>
                            <a:srgbClr val="1F1F1F"/>
                          </a:solidFill>
                          <a:latin typeface="Times New Roman"/>
                          <a:ea typeface="Times New Roman"/>
                          <a:cs typeface="Times New Roman"/>
                          <a:sym typeface="Times New Roman"/>
                        </a:rPr>
                        <a:t>Limitation</a:t>
                      </a:r>
                      <a:endParaRPr sz="1200" u="none" strike="noStrike" cap="none">
                        <a:solidFill>
                          <a:srgbClr val="1F1F1F"/>
                        </a:solidFill>
                        <a:latin typeface="Times New Roman"/>
                        <a:ea typeface="Times New Roman"/>
                        <a:cs typeface="Times New Roman"/>
                        <a:sym typeface="Times New Roman"/>
                      </a:endParaRPr>
                    </a:p>
                  </a:txBody>
                  <a:tcPr marL="76200" marR="76200" marT="50800" marB="50800" anchor="ctr"/>
                </a:tc>
                <a:tc>
                  <a:txBody>
                    <a:bodyPr/>
                    <a:lstStyle/>
                    <a:p>
                      <a:pPr marL="0" marR="0" lvl="0" indent="0" algn="ctr" rtl="0">
                        <a:lnSpc>
                          <a:spcPct val="100000"/>
                        </a:lnSpc>
                        <a:spcBef>
                          <a:spcPts val="0"/>
                        </a:spcBef>
                        <a:spcAft>
                          <a:spcPts val="0"/>
                        </a:spcAft>
                        <a:buClr>
                          <a:srgbClr val="000000"/>
                        </a:buClr>
                        <a:buSzPts val="1200"/>
                        <a:buFont typeface="Times New Roman"/>
                        <a:buNone/>
                      </a:pPr>
                      <a:r>
                        <a:rPr lang="en-IN" sz="1200" b="1" u="none" strike="noStrike" cap="none">
                          <a:solidFill>
                            <a:srgbClr val="1F1F1F"/>
                          </a:solidFill>
                          <a:latin typeface="Times New Roman"/>
                          <a:ea typeface="Times New Roman"/>
                          <a:cs typeface="Times New Roman"/>
                          <a:sym typeface="Times New Roman"/>
                        </a:rPr>
                        <a:t>Algorithms Used</a:t>
                      </a:r>
                      <a:endParaRPr sz="1400" u="none" strike="noStrike" cap="none">
                        <a:latin typeface="Times New Roman"/>
                        <a:ea typeface="Times New Roman"/>
                        <a:cs typeface="Times New Roman"/>
                        <a:sym typeface="Times New Roman"/>
                      </a:endParaRPr>
                    </a:p>
                  </a:txBody>
                  <a:tcPr marL="76200" marR="76200" marT="50800" marB="50800" anchor="ctr"/>
                </a:tc>
                <a:extLst>
                  <a:ext uri="{0D108BD9-81ED-4DB2-BD59-A6C34878D82A}">
                    <a16:rowId xmlns:a16="http://schemas.microsoft.com/office/drawing/2014/main" val="10000"/>
                  </a:ext>
                </a:extLst>
              </a:tr>
              <a:tr h="274320">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Random Forests (Breiman, 2001)</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Introduced an ensemble of randomised decision trees trained on bootstrap samples; predictions are averaged.</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Accurate and robust to noise; gives variable importance. Basis of the fraud model.</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Hard to interpret as a whole; needs care with extreme class imbalance.</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Bagging, random feature selection, decision trees</a:t>
                      </a:r>
                      <a:endParaRPr sz="1400" u="none" strike="noStrike" cap="none">
                        <a:latin typeface="Times New Roman"/>
                        <a:ea typeface="Times New Roman"/>
                        <a:cs typeface="Times New Roman"/>
                        <a:sym typeface="Times New Roman"/>
                      </a:endParaRPr>
                    </a:p>
                  </a:txBody>
                  <a:tcPr marL="19050" marR="19050" marT="12700" marB="12700" anchor="ctr"/>
                </a:tc>
                <a:extLst>
                  <a:ext uri="{0D108BD9-81ED-4DB2-BD59-A6C34878D82A}">
                    <a16:rowId xmlns:a16="http://schemas.microsoft.com/office/drawing/2014/main" val="10001"/>
                  </a:ext>
                </a:extLst>
              </a:tr>
              <a:tr h="274320">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Apache Spark: A Unified Engine for Big Data Processing (Zaharia et al., 2016)</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Describes Spark's design: distributed datasets, DataFrames, SQL and libraries on one engine.</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Parallel in-memory processing and a query optimiser run batch, SQL and ML workloads on large data.</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Built for batch jobs; scanning for each single lookup is too slow for interactive use.</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DataFrame API, Spark SQL, Catalyst optimiser</a:t>
                      </a:r>
                      <a:endParaRPr sz="1400" u="none" strike="noStrike" cap="none">
                        <a:latin typeface="Times New Roman"/>
                        <a:ea typeface="Times New Roman"/>
                        <a:cs typeface="Times New Roman"/>
                        <a:sym typeface="Times New Roman"/>
                      </a:endParaRPr>
                    </a:p>
                  </a:txBody>
                  <a:tcPr marL="19050" marR="19050" marT="12700" marB="12700" anchor="ctr"/>
                </a:tc>
                <a:extLst>
                  <a:ext uri="{0D108BD9-81ED-4DB2-BD59-A6C34878D82A}">
                    <a16:rowId xmlns:a16="http://schemas.microsoft.com/office/drawing/2014/main" val="10002"/>
                  </a:ext>
                </a:extLst>
              </a:tr>
              <a:tr h="274320">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MLlib: Machine Learning in Apache Spark (Meng et al., 2016)</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Presents Spark's distributed ML library with pipelines, feature transformers and scalable learners.</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Provides Random Forest and Logistic Regression that train on millions of rows within pipelines.</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chemeClr val="dk1"/>
                          </a:solidFill>
                          <a:latin typeface="Times New Roman"/>
                          <a:ea typeface="Times New Roman"/>
                          <a:cs typeface="Times New Roman"/>
                          <a:sym typeface="Times New Roman"/>
                        </a:rPr>
                        <a:t>A trained model must be exported to be served outside Spark.</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dirty="0">
                          <a:solidFill>
                            <a:schemeClr val="dk1"/>
                          </a:solidFill>
                          <a:latin typeface="Times New Roman"/>
                          <a:ea typeface="Times New Roman"/>
                          <a:cs typeface="Times New Roman"/>
                          <a:sym typeface="Times New Roman"/>
                        </a:rPr>
                        <a:t>ML pipelines, Random Forest, Logistic Regression</a:t>
                      </a:r>
                    </a:p>
                  </a:txBody>
                  <a:tcPr marL="19050" marR="19050" marT="12700" marB="12700" anchor="ctr"/>
                </a:tc>
                <a:extLst>
                  <a:ext uri="{0D108BD9-81ED-4DB2-BD59-A6C34878D82A}">
                    <a16:rowId xmlns:a16="http://schemas.microsoft.com/office/drawing/2014/main" val="10003"/>
                  </a:ext>
                </a:extLst>
              </a:tr>
              <a:tr h="274320">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rgbClr val="1F1F1F"/>
                          </a:solidFill>
                          <a:latin typeface="Times New Roman"/>
                          <a:ea typeface="Times New Roman"/>
                          <a:cs typeface="Times New Roman"/>
                          <a:sym typeface="Times New Roman"/>
                        </a:rPr>
                        <a:t>DuckDB: an Embeddable Analytical Database (Raasveldt and Muhleisen, 2019)</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dirty="0">
                          <a:solidFill>
                            <a:srgbClr val="1F1F1F"/>
                          </a:solidFill>
                          <a:latin typeface="Times New Roman"/>
                          <a:ea typeface="Times New Roman"/>
                          <a:cs typeface="Times New Roman"/>
                          <a:sym typeface="Times New Roman"/>
                        </a:rPr>
                        <a:t>Describes an in-process analytical database with columnar, vectorised query execution.</a:t>
                      </a:r>
                      <a:endParaRPr sz="1400" u="none" strike="noStrike" cap="none" dirty="0">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rgbClr val="1F1F1F"/>
                          </a:solidFill>
                          <a:latin typeface="Times New Roman"/>
                          <a:ea typeface="Times New Roman"/>
                          <a:cs typeface="Times New Roman"/>
                          <a:sym typeface="Times New Roman"/>
                        </a:rPr>
                        <a:t>Runs analytical SQL without a server and reads Parquet files directly. Used for the search index.</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rgbClr val="1F1F1F"/>
                          </a:solidFill>
                          <a:latin typeface="Times New Roman"/>
                          <a:ea typeface="Times New Roman"/>
                          <a:cs typeface="Times New Roman"/>
                          <a:sym typeface="Times New Roman"/>
                        </a:rPr>
                        <a:t>Single-writer design; not meant for many concurrent writers.</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dirty="0">
                          <a:solidFill>
                            <a:srgbClr val="1F1F1F"/>
                          </a:solidFill>
                          <a:latin typeface="Times New Roman"/>
                          <a:ea typeface="Times New Roman"/>
                          <a:cs typeface="Times New Roman"/>
                          <a:sym typeface="Times New Roman"/>
                        </a:rPr>
                        <a:t>Columnar storage, vectorised execution</a:t>
                      </a:r>
                      <a:endParaRPr sz="1400" u="none" strike="noStrike" cap="none" dirty="0">
                        <a:latin typeface="Times New Roman"/>
                        <a:ea typeface="Times New Roman"/>
                        <a:cs typeface="Times New Roman"/>
                        <a:sym typeface="Times New Roman"/>
                      </a:endParaRPr>
                    </a:p>
                  </a:txBody>
                  <a:tcPr marL="19050" marR="19050" marT="12700" marB="12700" anchor="ctr"/>
                </a:tc>
                <a:extLst>
                  <a:ext uri="{0D108BD9-81ED-4DB2-BD59-A6C34878D82A}">
                    <a16:rowId xmlns:a16="http://schemas.microsoft.com/office/drawing/2014/main" val="4126973753"/>
                  </a:ext>
                </a:extLst>
              </a:tr>
              <a:tr h="274320">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rgbClr val="1F1F1F"/>
                          </a:solidFill>
                          <a:latin typeface="Times New Roman"/>
                          <a:ea typeface="Times New Roman"/>
                          <a:cs typeface="Times New Roman"/>
                          <a:sym typeface="Times New Roman"/>
                        </a:rPr>
                        <a:t>The Adaptive Radix Tree: ARTful Indexing for Main-Memory Databases (Leis et al., 2013)</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rgbClr val="1F1F1F"/>
                          </a:solidFill>
                          <a:latin typeface="Times New Roman"/>
                          <a:ea typeface="Times New Roman"/>
                          <a:cs typeface="Times New Roman"/>
                          <a:sym typeface="Times New Roman"/>
                        </a:rPr>
                        <a:t>Proposes an adaptive radix tree index whose nodes adapt their size to the keys stored.</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rgbClr val="1F1F1F"/>
                          </a:solidFill>
                          <a:latin typeface="Times New Roman"/>
                          <a:ea typeface="Times New Roman"/>
                          <a:cs typeface="Times New Roman"/>
                          <a:sym typeface="Times New Roman"/>
                        </a:rPr>
                        <a:t>Fast exact and prefix lookups with low memory use; behind account search and suggestions.</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a:solidFill>
                            <a:srgbClr val="1F1F1F"/>
                          </a:solidFill>
                          <a:latin typeface="Times New Roman"/>
                          <a:ea typeface="Times New Roman"/>
                          <a:cs typeface="Times New Roman"/>
                          <a:sym typeface="Times New Roman"/>
                        </a:rPr>
                        <a:t>Designed for main memory; ordering follows the key bytes.</a:t>
                      </a:r>
                      <a:endParaRPr sz="1400" u="none" strike="noStrike" cap="none">
                        <a:latin typeface="Times New Roman"/>
                        <a:ea typeface="Times New Roman"/>
                        <a:cs typeface="Times New Roman"/>
                        <a:sym typeface="Times New Roman"/>
                      </a:endParaRPr>
                    </a:p>
                  </a:txBody>
                  <a:tcPr marL="19050" marR="19050" marT="12700" marB="12700" anchor="ctr"/>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0" u="none" strike="noStrike" cap="none" dirty="0">
                          <a:solidFill>
                            <a:srgbClr val="1F1F1F"/>
                          </a:solidFill>
                          <a:latin typeface="Times New Roman"/>
                          <a:ea typeface="Times New Roman"/>
                          <a:cs typeface="Times New Roman"/>
                          <a:sym typeface="Times New Roman"/>
                        </a:rPr>
                        <a:t>Adaptive radix tree, path compression</a:t>
                      </a:r>
                      <a:endParaRPr sz="1400" u="none" strike="noStrike" cap="none" dirty="0">
                        <a:latin typeface="Times New Roman"/>
                        <a:ea typeface="Times New Roman"/>
                        <a:cs typeface="Times New Roman"/>
                        <a:sym typeface="Times New Roman"/>
                      </a:endParaRPr>
                    </a:p>
                  </a:txBody>
                  <a:tcPr marL="19050" marR="19050" marT="12700" marB="12700" anchor="ctr"/>
                </a:tc>
                <a:extLst>
                  <a:ext uri="{0D108BD9-81ED-4DB2-BD59-A6C34878D82A}">
                    <a16:rowId xmlns:a16="http://schemas.microsoft.com/office/drawing/2014/main" val="2465932921"/>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1000"/>
                                        <p:tgtEl>
                                          <p:spTgt spid="80"/>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fade">
                                      <p:cBhvr>
                                        <p:cTn id="11" dur="10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6"/>
          <p:cNvSpPr txBox="1">
            <a:spLocks noGrp="1"/>
          </p:cNvSpPr>
          <p:nvPr>
            <p:ph type="title"/>
          </p:nvPr>
        </p:nvSpPr>
        <p:spPr>
          <a:xfrm>
            <a:off x="1311284" y="142896"/>
            <a:ext cx="5085300" cy="492443"/>
          </a:xfrm>
          <a:prstGeom prst="rect">
            <a:avLst/>
          </a:prstGeom>
          <a:noFill/>
          <a:ln>
            <a:noFill/>
          </a:ln>
        </p:spPr>
        <p:txBody>
          <a:bodyPr spcFirstLastPara="1" wrap="square" lIns="0" tIns="0" rIns="0" bIns="0" anchor="t" anchorCtr="0">
            <a:spAutoFit/>
          </a:bodyPr>
          <a:lstStyle/>
          <a:p>
            <a:pPr marL="0" lvl="0" indent="0" algn="ctr" rtl="0">
              <a:lnSpc>
                <a:spcPct val="100000"/>
              </a:lnSpc>
              <a:spcBef>
                <a:spcPts val="0"/>
              </a:spcBef>
              <a:spcAft>
                <a:spcPts val="0"/>
              </a:spcAft>
              <a:buSzPts val="2800"/>
              <a:buNone/>
            </a:pPr>
            <a:r>
              <a:rPr lang="en-IN" sz="3100" u="sng">
                <a:latin typeface="Times New Roman"/>
                <a:ea typeface="Times New Roman"/>
                <a:cs typeface="Times New Roman"/>
                <a:sym typeface="Times New Roman"/>
              </a:rPr>
              <a:t>Objectives</a:t>
            </a:r>
            <a:r>
              <a:rPr lang="en-IN" sz="3200">
                <a:latin typeface="Times New Roman"/>
                <a:ea typeface="Times New Roman"/>
                <a:cs typeface="Times New Roman"/>
                <a:sym typeface="Times New Roman"/>
              </a:rPr>
              <a:t> </a:t>
            </a:r>
            <a:endParaRPr sz="3200">
              <a:latin typeface="Times New Roman"/>
              <a:ea typeface="Times New Roman"/>
              <a:cs typeface="Times New Roman"/>
              <a:sym typeface="Times New Roman"/>
            </a:endParaRPr>
          </a:p>
        </p:txBody>
      </p:sp>
      <p:sp>
        <p:nvSpPr>
          <p:cNvPr id="102" name="Google Shape;102;p6"/>
          <p:cNvSpPr/>
          <p:nvPr/>
        </p:nvSpPr>
        <p:spPr>
          <a:xfrm>
            <a:off x="38259" y="1107940"/>
            <a:ext cx="2160000" cy="3960000"/>
          </a:xfrm>
          <a:prstGeom prst="roundRect">
            <a:avLst>
              <a:gd name="adj" fmla="val 16667"/>
            </a:avLst>
          </a:prstGeom>
          <a:solidFill>
            <a:srgbClr val="F2F2F2"/>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000"/>
              <a:buFont typeface="Times New Roman"/>
              <a:buNone/>
            </a:pPr>
            <a:r>
              <a:rPr lang="en-IN" sz="1800" b="0" i="0" u="none" strike="noStrike" cap="none" dirty="0">
                <a:solidFill>
                  <a:schemeClr val="dk1"/>
                </a:solidFill>
                <a:latin typeface="Times New Roman"/>
                <a:ea typeface="Times New Roman"/>
                <a:cs typeface="Times New Roman"/>
                <a:sym typeface="Times New Roman"/>
              </a:rPr>
              <a:t>Scalable Data Processing</a:t>
            </a:r>
            <a:endParaRPr sz="1400" b="0" i="0" u="none" strike="noStrike" cap="none" dirty="0">
              <a:solidFill>
                <a:srgbClr val="0000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2000"/>
              <a:buFont typeface="Times New Roman"/>
              <a:buNone/>
            </a:pPr>
            <a:endParaRPr sz="2000" b="0" i="0" u="none" strike="noStrike" cap="none" dirty="0">
              <a:solidFill>
                <a:schemeClr val="dk1"/>
              </a:solidFill>
              <a:latin typeface="Times New Roman"/>
              <a:ea typeface="Times New Roman"/>
              <a:cs typeface="Times New Roman"/>
              <a:sym typeface="Times New Roman"/>
            </a:endParaRPr>
          </a:p>
          <a:p>
            <a:pPr marL="285750" marR="0" lvl="0" indent="-285750" algn="just" rtl="0">
              <a:lnSpc>
                <a:spcPct val="100000"/>
              </a:lnSpc>
              <a:spcBef>
                <a:spcPts val="0"/>
              </a:spcBef>
              <a:spcAft>
                <a:spcPts val="0"/>
              </a:spcAft>
              <a:buClr>
                <a:srgbClr val="000000"/>
              </a:buClr>
              <a:buSzPts val="1200"/>
              <a:buFont typeface="Times New Roman"/>
              <a:buChar char="•"/>
            </a:pPr>
            <a:r>
              <a:rPr lang="en-IN" sz="1200" b="0" i="0" u="none" strike="noStrike" cap="none" dirty="0">
                <a:solidFill>
                  <a:schemeClr val="dk1"/>
                </a:solidFill>
                <a:latin typeface="Times New Roman"/>
                <a:ea typeface="Times New Roman"/>
                <a:cs typeface="Times New Roman"/>
                <a:sym typeface="Times New Roman"/>
              </a:rPr>
              <a:t>Process millions of transactions with Spark into a columnar data lake.</a:t>
            </a:r>
            <a:endParaRPr sz="1200" b="0" i="0" u="none" strike="noStrike" cap="none" dirty="0">
              <a:solidFill>
                <a:srgbClr val="000000"/>
              </a:solidFill>
              <a:latin typeface="Times New Roman"/>
              <a:ea typeface="Times New Roman"/>
              <a:cs typeface="Times New Roman"/>
              <a:sym typeface="Times New Roman"/>
            </a:endParaRPr>
          </a:p>
          <a:p>
            <a:pPr marL="285750" marR="0" lvl="0" indent="-285750" algn="just" rtl="0">
              <a:lnSpc>
                <a:spcPct val="100000"/>
              </a:lnSpc>
              <a:spcBef>
                <a:spcPts val="0"/>
              </a:spcBef>
              <a:spcAft>
                <a:spcPts val="0"/>
              </a:spcAft>
              <a:buClr>
                <a:srgbClr val="000000"/>
              </a:buClr>
              <a:buSzPts val="1200"/>
              <a:buFont typeface="Times New Roman"/>
              <a:buChar char="•"/>
            </a:pPr>
            <a:r>
              <a:rPr lang="en-IN" sz="1200" b="0" i="0" u="none" strike="noStrike" cap="none" dirty="0">
                <a:solidFill>
                  <a:schemeClr val="dk1"/>
                </a:solidFill>
                <a:latin typeface="Times New Roman"/>
                <a:ea typeface="Times New Roman"/>
                <a:cs typeface="Times New Roman"/>
                <a:sym typeface="Times New Roman"/>
              </a:rPr>
              <a:t>Accept any transaction file through a validated, streaming upload.</a:t>
            </a:r>
            <a:endParaRPr sz="1200" b="0" i="0" u="none" strike="noStrike" cap="none" dirty="0">
              <a:solidFill>
                <a:schemeClr val="dk1"/>
              </a:solidFill>
              <a:latin typeface="Times New Roman"/>
              <a:ea typeface="Times New Roman"/>
              <a:cs typeface="Times New Roman"/>
              <a:sym typeface="Times New Roman"/>
            </a:endParaRPr>
          </a:p>
        </p:txBody>
      </p:sp>
      <p:sp>
        <p:nvSpPr>
          <p:cNvPr id="103" name="Google Shape;103;p6"/>
          <p:cNvSpPr/>
          <p:nvPr/>
        </p:nvSpPr>
        <p:spPr>
          <a:xfrm>
            <a:off x="2266045" y="1126387"/>
            <a:ext cx="2160000" cy="3960000"/>
          </a:xfrm>
          <a:prstGeom prst="roundRect">
            <a:avLst>
              <a:gd name="adj" fmla="val 16667"/>
            </a:avLst>
          </a:prstGeom>
          <a:solidFill>
            <a:srgbClr val="F2F2F2"/>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900"/>
              <a:buFont typeface="Times New Roman"/>
              <a:buNone/>
            </a:pPr>
            <a:r>
              <a:rPr lang="en-IN" sz="1800" b="0" i="0" u="none" strike="noStrike" cap="none">
                <a:solidFill>
                  <a:schemeClr val="dk1"/>
                </a:solidFill>
                <a:latin typeface="Times New Roman"/>
                <a:ea typeface="Times New Roman"/>
                <a:cs typeface="Times New Roman"/>
                <a:sym typeface="Times New Roman"/>
              </a:rPr>
              <a:t>Accurate Fraud Detection</a:t>
            </a:r>
            <a:endParaRPr sz="1400" b="0" i="0" u="none" strike="noStrike" cap="none">
              <a:solidFill>
                <a:srgbClr val="0000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1800"/>
              <a:buFont typeface="Times New Roman"/>
              <a:buNone/>
            </a:pPr>
            <a:endParaRPr sz="1800" b="0" i="0" u="none" strike="noStrike" cap="none">
              <a:solidFill>
                <a:schemeClr val="dk1"/>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800"/>
              <a:buFont typeface="Times New Roman"/>
              <a:buNone/>
            </a:pPr>
            <a:endParaRPr sz="1800" b="0" i="0" u="none" strike="noStrike" cap="none">
              <a:solidFill>
                <a:schemeClr val="dk1"/>
              </a:solidFill>
              <a:latin typeface="Times New Roman"/>
              <a:ea typeface="Times New Roman"/>
              <a:cs typeface="Times New Roman"/>
              <a:sym typeface="Times New Roman"/>
            </a:endParaRPr>
          </a:p>
          <a:p>
            <a:pPr marL="171450" marR="0" lvl="0" indent="-171450" algn="just" rtl="0">
              <a:lnSpc>
                <a:spcPct val="100000"/>
              </a:lnSpc>
              <a:spcBef>
                <a:spcPts val="0"/>
              </a:spcBef>
              <a:spcAft>
                <a:spcPts val="0"/>
              </a:spcAft>
              <a:buClr>
                <a:srgbClr val="000000"/>
              </a:buClr>
              <a:buSzPts val="1200"/>
              <a:buFont typeface="Times New Roman"/>
              <a:buChar char="•"/>
            </a:pPr>
            <a:r>
              <a:rPr lang="en-IN" sz="1200" b="0" i="0" u="none" strike="noStrike" cap="none">
                <a:solidFill>
                  <a:schemeClr val="dk1"/>
                </a:solidFill>
                <a:latin typeface="Times New Roman"/>
                <a:ea typeface="Times New Roman"/>
                <a:cs typeface="Times New Roman"/>
                <a:sym typeface="Times New Roman"/>
              </a:rPr>
              <a:t>Train and compare models with Spark MLlib on imbalanced data.</a:t>
            </a:r>
            <a:endParaRPr sz="1200" b="0" i="0" u="none" strike="noStrike" cap="none">
              <a:solidFill>
                <a:srgbClr val="000000"/>
              </a:solidFill>
              <a:latin typeface="Times New Roman"/>
              <a:ea typeface="Times New Roman"/>
              <a:cs typeface="Times New Roman"/>
              <a:sym typeface="Times New Roman"/>
            </a:endParaRPr>
          </a:p>
          <a:p>
            <a:pPr marL="171450" marR="0" lvl="0" indent="-171450" algn="just" rtl="0">
              <a:lnSpc>
                <a:spcPct val="100000"/>
              </a:lnSpc>
              <a:spcBef>
                <a:spcPts val="0"/>
              </a:spcBef>
              <a:spcAft>
                <a:spcPts val="0"/>
              </a:spcAft>
              <a:buClr>
                <a:srgbClr val="000000"/>
              </a:buClr>
              <a:buSzPts val="1200"/>
              <a:buFont typeface="Times New Roman"/>
              <a:buChar char="•"/>
            </a:pPr>
            <a:r>
              <a:rPr lang="en-IN" sz="1200" b="0" i="0" u="none" strike="noStrike" cap="none">
                <a:solidFill>
                  <a:schemeClr val="dk1"/>
                </a:solidFill>
                <a:latin typeface="Times New Roman"/>
                <a:ea typeface="Times New Roman"/>
                <a:cs typeface="Times New Roman"/>
                <a:sym typeface="Times New Roman"/>
              </a:rPr>
              <a:t>Judge them with precision, recall and AUC-PR, not accuracy.</a:t>
            </a:r>
            <a:endParaRPr sz="1200" b="0" i="0" u="none" strike="noStrike" cap="none">
              <a:solidFill>
                <a:srgbClr val="000000"/>
              </a:solidFill>
              <a:latin typeface="Times New Roman"/>
              <a:ea typeface="Times New Roman"/>
              <a:cs typeface="Times New Roman"/>
              <a:sym typeface="Times New Roman"/>
            </a:endParaRPr>
          </a:p>
        </p:txBody>
      </p:sp>
      <p:sp>
        <p:nvSpPr>
          <p:cNvPr id="104" name="Google Shape;104;p6"/>
          <p:cNvSpPr/>
          <p:nvPr/>
        </p:nvSpPr>
        <p:spPr>
          <a:xfrm>
            <a:off x="6653832" y="1109312"/>
            <a:ext cx="2123430" cy="3960000"/>
          </a:xfrm>
          <a:prstGeom prst="roundRect">
            <a:avLst>
              <a:gd name="adj" fmla="val 16667"/>
            </a:avLst>
          </a:prstGeom>
          <a:solidFill>
            <a:srgbClr val="F2F2F2"/>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Times New Roman"/>
              <a:buNone/>
            </a:pPr>
            <a:r>
              <a:rPr lang="en-IN" sz="1800" b="0" i="0" u="none" strike="noStrike" cap="none">
                <a:solidFill>
                  <a:schemeClr val="dk1"/>
                </a:solidFill>
                <a:latin typeface="Times New Roman"/>
                <a:ea typeface="Times New Roman"/>
                <a:cs typeface="Times New Roman"/>
                <a:sym typeface="Times New Roman"/>
              </a:rPr>
              <a:t>Investigation Workflow</a:t>
            </a:r>
            <a:endParaRPr sz="1400" b="0" i="0" u="none" strike="noStrike" cap="none">
              <a:solidFill>
                <a:srgbClr val="0000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1800"/>
              <a:buFont typeface="Times New Roman"/>
              <a:buNone/>
            </a:pPr>
            <a:endParaRPr sz="1800" b="0" i="0" u="none" strike="noStrike" cap="none">
              <a:solidFill>
                <a:schemeClr val="dk1"/>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1800"/>
              <a:buFont typeface="Times New Roman"/>
              <a:buNone/>
            </a:pPr>
            <a:endParaRPr sz="1800" b="0" i="0" u="none" strike="noStrike" cap="none">
              <a:solidFill>
                <a:schemeClr val="dk1"/>
              </a:solidFill>
              <a:latin typeface="Times New Roman"/>
              <a:ea typeface="Times New Roman"/>
              <a:cs typeface="Times New Roman"/>
              <a:sym typeface="Times New Roman"/>
            </a:endParaRPr>
          </a:p>
          <a:p>
            <a:pPr marL="171450" marR="0" lvl="0" indent="-171450" algn="just" rtl="0">
              <a:lnSpc>
                <a:spcPct val="100000"/>
              </a:lnSpc>
              <a:spcBef>
                <a:spcPts val="0"/>
              </a:spcBef>
              <a:spcAft>
                <a:spcPts val="0"/>
              </a:spcAft>
              <a:buClr>
                <a:srgbClr val="000000"/>
              </a:buClr>
              <a:buSzPts val="1200"/>
              <a:buFont typeface="Times New Roman"/>
              <a:buChar char="•"/>
            </a:pPr>
            <a:r>
              <a:rPr lang="en-IN" sz="1200" b="0" i="0" u="none" strike="noStrike" cap="none">
                <a:solidFill>
                  <a:schemeClr val="dk1"/>
                </a:solidFill>
                <a:latin typeface="Times New Roman"/>
                <a:ea typeface="Times New Roman"/>
                <a:cs typeface="Times New Roman"/>
                <a:sym typeface="Times New Roman"/>
              </a:rPr>
              <a:t>Manage fraud cases with create, read, update and delete.</a:t>
            </a:r>
            <a:endParaRPr sz="1200" b="0" i="0" u="none" strike="noStrike" cap="none">
              <a:solidFill>
                <a:srgbClr val="000000"/>
              </a:solidFill>
              <a:latin typeface="Times New Roman"/>
              <a:ea typeface="Times New Roman"/>
              <a:cs typeface="Times New Roman"/>
              <a:sym typeface="Times New Roman"/>
            </a:endParaRPr>
          </a:p>
          <a:p>
            <a:pPr marL="171450" marR="0" lvl="0" indent="-171450" algn="just" rtl="0">
              <a:lnSpc>
                <a:spcPct val="100000"/>
              </a:lnSpc>
              <a:spcBef>
                <a:spcPts val="0"/>
              </a:spcBef>
              <a:spcAft>
                <a:spcPts val="0"/>
              </a:spcAft>
              <a:buClr>
                <a:srgbClr val="000000"/>
              </a:buClr>
              <a:buSzPts val="1200"/>
              <a:buFont typeface="Times New Roman"/>
              <a:buChar char="•"/>
            </a:pPr>
            <a:r>
              <a:rPr lang="en-IN" sz="1200" b="0" i="0" u="none" strike="noStrike" cap="none">
                <a:solidFill>
                  <a:schemeClr val="dk1"/>
                </a:solidFill>
                <a:latin typeface="Times New Roman"/>
                <a:ea typeface="Times New Roman"/>
                <a:cs typeface="Times New Roman"/>
                <a:sym typeface="Times New Roman"/>
              </a:rPr>
              <a:t>Explore, analyse and open cases on any dataset.</a:t>
            </a:r>
            <a:endParaRPr sz="1200" b="0" i="0" u="none" strike="noStrike" cap="none">
              <a:solidFill>
                <a:srgbClr val="000000"/>
              </a:solidFill>
              <a:latin typeface="Times New Roman"/>
              <a:ea typeface="Times New Roman"/>
              <a:cs typeface="Times New Roman"/>
              <a:sym typeface="Times New Roman"/>
            </a:endParaRPr>
          </a:p>
        </p:txBody>
      </p:sp>
      <p:sp>
        <p:nvSpPr>
          <p:cNvPr id="105" name="Google Shape;105;p6"/>
          <p:cNvSpPr/>
          <p:nvPr/>
        </p:nvSpPr>
        <p:spPr>
          <a:xfrm>
            <a:off x="4493831" y="1104492"/>
            <a:ext cx="2088000" cy="3960000"/>
          </a:xfrm>
          <a:prstGeom prst="roundRect">
            <a:avLst>
              <a:gd name="adj" fmla="val 16667"/>
            </a:avLst>
          </a:prstGeom>
          <a:solidFill>
            <a:srgbClr val="F2F2F2"/>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Times New Roman"/>
              <a:buNone/>
            </a:pPr>
            <a:r>
              <a:rPr lang="en-IN" sz="1800" b="0" i="0" u="none" strike="noStrike" cap="none">
                <a:solidFill>
                  <a:schemeClr val="dk1"/>
                </a:solidFill>
                <a:latin typeface="Times New Roman"/>
                <a:ea typeface="Times New Roman"/>
                <a:cs typeface="Times New Roman"/>
                <a:sym typeface="Times New Roman"/>
              </a:rPr>
              <a:t>Instant Search</a:t>
            </a:r>
            <a:endParaRPr sz="1400" b="0" i="0" u="none" strike="noStrike" cap="none">
              <a:solidFill>
                <a:srgbClr val="0000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1800"/>
              <a:buFont typeface="Times New Roman"/>
              <a:buNone/>
            </a:pPr>
            <a:endParaRPr sz="1800" b="0" i="0" u="none" strike="noStrike" cap="none">
              <a:solidFill>
                <a:schemeClr val="dk1"/>
              </a:solidFill>
              <a:latin typeface="Times New Roman"/>
              <a:ea typeface="Times New Roman"/>
              <a:cs typeface="Times New Roman"/>
              <a:sym typeface="Times New Roman"/>
            </a:endParaRPr>
          </a:p>
          <a:p>
            <a:pPr marL="285750" marR="0" lvl="0" indent="-285750" algn="just" rtl="0">
              <a:lnSpc>
                <a:spcPct val="100000"/>
              </a:lnSpc>
              <a:spcBef>
                <a:spcPts val="0"/>
              </a:spcBef>
              <a:spcAft>
                <a:spcPts val="0"/>
              </a:spcAft>
              <a:buClr>
                <a:srgbClr val="000000"/>
              </a:buClr>
              <a:buSzPts val="1200"/>
              <a:buFont typeface="Times New Roman"/>
              <a:buChar char="•"/>
            </a:pPr>
            <a:r>
              <a:rPr lang="en-IN" sz="1200" b="0" i="0" u="none" strike="noStrike" cap="none">
                <a:solidFill>
                  <a:schemeClr val="dk1"/>
                </a:solidFill>
                <a:latin typeface="Times New Roman"/>
                <a:ea typeface="Times New Roman"/>
                <a:cs typeface="Times New Roman"/>
                <a:sym typeface="Times New Roman"/>
              </a:rPr>
              <a:t>Find every transaction of an account in milliseconds with an index.</a:t>
            </a:r>
            <a:endParaRPr sz="1200" b="0" i="0" u="none" strike="noStrike" cap="none">
              <a:solidFill>
                <a:srgbClr val="000000"/>
              </a:solidFill>
              <a:latin typeface="Times New Roman"/>
              <a:ea typeface="Times New Roman"/>
              <a:cs typeface="Times New Roman"/>
              <a:sym typeface="Times New Roman"/>
            </a:endParaRPr>
          </a:p>
          <a:p>
            <a:pPr marL="285750" marR="0" lvl="0" indent="-285750" algn="just" rtl="0">
              <a:lnSpc>
                <a:spcPct val="100000"/>
              </a:lnSpc>
              <a:spcBef>
                <a:spcPts val="0"/>
              </a:spcBef>
              <a:spcAft>
                <a:spcPts val="0"/>
              </a:spcAft>
              <a:buClr>
                <a:srgbClr val="000000"/>
              </a:buClr>
              <a:buSzPts val="1200"/>
              <a:buFont typeface="Times New Roman"/>
              <a:buChar char="•"/>
            </a:pPr>
            <a:r>
              <a:rPr lang="en-IN" sz="1200" b="0" i="0" u="none" strike="noStrike" cap="none">
                <a:solidFill>
                  <a:schemeClr val="dk1"/>
                </a:solidFill>
                <a:latin typeface="Times New Roman"/>
                <a:ea typeface="Times New Roman"/>
                <a:cs typeface="Times New Roman"/>
                <a:sym typeface="Times New Roman"/>
              </a:rPr>
              <a:t>Build an index for each uploaded file as well.</a:t>
            </a:r>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7"/>
          <p:cNvSpPr txBox="1">
            <a:spLocks noGrp="1"/>
          </p:cNvSpPr>
          <p:nvPr>
            <p:ph type="title"/>
          </p:nvPr>
        </p:nvSpPr>
        <p:spPr>
          <a:xfrm>
            <a:off x="1541080" y="168284"/>
            <a:ext cx="5085300" cy="430887"/>
          </a:xfrm>
          <a:prstGeom prst="rect">
            <a:avLst/>
          </a:prstGeom>
          <a:noFill/>
          <a:ln>
            <a:noFill/>
          </a:ln>
        </p:spPr>
        <p:txBody>
          <a:bodyPr spcFirstLastPara="1" wrap="square" lIns="0" tIns="0" rIns="0" bIns="0" anchor="t" anchorCtr="0">
            <a:spAutoFit/>
          </a:bodyPr>
          <a:lstStyle/>
          <a:p>
            <a:pPr marL="0" lvl="0" indent="0" algn="ctr" rtl="0">
              <a:lnSpc>
                <a:spcPct val="100000"/>
              </a:lnSpc>
              <a:spcBef>
                <a:spcPts val="0"/>
              </a:spcBef>
              <a:spcAft>
                <a:spcPts val="0"/>
              </a:spcAft>
              <a:buSzPts val="2800"/>
              <a:buNone/>
            </a:pPr>
            <a:r>
              <a:rPr lang="en-IN" sz="2800" u="sng">
                <a:latin typeface="Times New Roman"/>
                <a:ea typeface="Times New Roman"/>
                <a:cs typeface="Times New Roman"/>
                <a:sym typeface="Times New Roman"/>
              </a:rPr>
              <a:t>System Architecture</a:t>
            </a:r>
            <a:endParaRPr sz="2800" u="sng">
              <a:latin typeface="Times New Roman"/>
              <a:ea typeface="Times New Roman"/>
              <a:cs typeface="Times New Roman"/>
              <a:sym typeface="Times New Roman"/>
            </a:endParaRPr>
          </a:p>
        </p:txBody>
      </p:sp>
      <p:pic>
        <p:nvPicPr>
          <p:cNvPr id="111" name="Picture 110" descr="fig_architecture.png"/>
          <p:cNvPicPr>
            <a:picLocks noChangeAspect="1"/>
          </p:cNvPicPr>
          <p:nvPr/>
        </p:nvPicPr>
        <p:blipFill>
          <a:blip r:embed="rId3"/>
          <a:stretch>
            <a:fillRect/>
          </a:stretch>
        </p:blipFill>
        <p:spPr>
          <a:xfrm>
            <a:off x="1889877" y="868680"/>
            <a:ext cx="5364245" cy="397763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8"/>
          <p:cNvSpPr txBox="1">
            <a:spLocks noGrp="1"/>
          </p:cNvSpPr>
          <p:nvPr>
            <p:ph type="title"/>
          </p:nvPr>
        </p:nvSpPr>
        <p:spPr>
          <a:xfrm>
            <a:off x="1463029" y="272156"/>
            <a:ext cx="5085300" cy="477300"/>
          </a:xfrm>
          <a:prstGeom prst="rect">
            <a:avLst/>
          </a:prstGeom>
          <a:noFill/>
          <a:ln>
            <a:noFill/>
          </a:ln>
        </p:spPr>
        <p:txBody>
          <a:bodyPr spcFirstLastPara="1" wrap="square" lIns="0" tIns="0" rIns="0" bIns="0" anchor="t" anchorCtr="0">
            <a:spAutoFit/>
          </a:bodyPr>
          <a:lstStyle/>
          <a:p>
            <a:pPr marL="0" lvl="0" indent="0" algn="ctr" rtl="0">
              <a:lnSpc>
                <a:spcPct val="100000"/>
              </a:lnSpc>
              <a:spcBef>
                <a:spcPts val="0"/>
              </a:spcBef>
              <a:spcAft>
                <a:spcPts val="0"/>
              </a:spcAft>
              <a:buSzPts val="2800"/>
              <a:buNone/>
            </a:pPr>
            <a:r>
              <a:rPr lang="en-IN" sz="3100" u="sng">
                <a:latin typeface="Times New Roman"/>
                <a:ea typeface="Times New Roman"/>
                <a:cs typeface="Times New Roman"/>
                <a:sym typeface="Times New Roman"/>
              </a:rPr>
              <a:t>Proposed Solution </a:t>
            </a:r>
            <a:endParaRPr u="sng">
              <a:latin typeface="Times New Roman"/>
              <a:ea typeface="Times New Roman"/>
              <a:cs typeface="Times New Roman"/>
              <a:sym typeface="Times New Roman"/>
            </a:endParaRPr>
          </a:p>
        </p:txBody>
      </p:sp>
      <p:sp>
        <p:nvSpPr>
          <p:cNvPr id="118" name="Google Shape;118;p8"/>
          <p:cNvSpPr/>
          <p:nvPr/>
        </p:nvSpPr>
        <p:spPr>
          <a:xfrm>
            <a:off x="642333" y="1259250"/>
            <a:ext cx="7439100" cy="2893200"/>
          </a:xfrm>
          <a:prstGeom prst="rect">
            <a:avLst/>
          </a:prstGeom>
          <a:noFill/>
          <a:ln>
            <a:noFill/>
          </a:ln>
        </p:spPr>
        <p:txBody>
          <a:bodyPr spcFirstLastPara="1" wrap="square" lIns="91425" tIns="45700" rIns="91425" bIns="45700" anchor="ctr" anchorCtr="0">
            <a:spAutoFit/>
          </a:bodyPr>
          <a:lstStyle/>
          <a:p>
            <a:pPr marL="285750" marR="0" lvl="0" indent="-285750" algn="just" rtl="0">
              <a:lnSpc>
                <a:spcPct val="100000"/>
              </a:lnSpc>
              <a:spcBef>
                <a:spcPts val="0"/>
              </a:spcBef>
              <a:spcAft>
                <a:spcPts val="0"/>
              </a:spcAft>
              <a:buClr>
                <a:schemeClr val="dk1"/>
              </a:buClr>
              <a:buSzPts val="1400"/>
              <a:buFont typeface="Times New Roman"/>
              <a:buChar char="•"/>
            </a:pPr>
            <a:r>
              <a:rPr lang="en-IN" b="1" i="0" u="none" strike="noStrike" cap="none">
                <a:solidFill>
                  <a:schemeClr val="dk1"/>
                </a:solidFill>
                <a:latin typeface="Times New Roman"/>
                <a:ea typeface="Times New Roman"/>
                <a:cs typeface="Times New Roman"/>
                <a:sym typeface="Times New Roman"/>
              </a:rPr>
              <a:t>Data Platform: </a:t>
            </a:r>
            <a:r>
              <a:rPr lang="en-IN" b="0" i="0" u="none" strike="noStrike" cap="none">
                <a:solidFill>
                  <a:schemeClr val="dk1"/>
                </a:solidFill>
                <a:latin typeface="Times New Roman"/>
                <a:ea typeface="Times New Roman"/>
                <a:cs typeface="Times New Roman"/>
                <a:sym typeface="Times New Roman"/>
              </a:rPr>
              <a:t>A Spark batch pipeline prepares the bulk data; any CSV file can be uploaded and is validated and streamed through the same scoring.</a:t>
            </a:r>
            <a:endParaRPr b="0" i="0" u="none" strike="noStrike" cap="none">
              <a:solidFill>
                <a:srgbClr val="000000"/>
              </a:solidFill>
              <a:latin typeface="Times New Roman"/>
              <a:ea typeface="Times New Roman"/>
              <a:cs typeface="Times New Roman"/>
              <a:sym typeface="Times New Roman"/>
            </a:endParaRPr>
          </a:p>
          <a:p>
            <a:pPr marL="285750" marR="0" lvl="0" indent="-285750" algn="just" rtl="0">
              <a:lnSpc>
                <a:spcPct val="100000"/>
              </a:lnSpc>
              <a:spcBef>
                <a:spcPts val="0"/>
              </a:spcBef>
              <a:spcAft>
                <a:spcPts val="0"/>
              </a:spcAft>
              <a:buClr>
                <a:schemeClr val="dk1"/>
              </a:buClr>
              <a:buSzPts val="1400"/>
              <a:buFont typeface="Times New Roman"/>
              <a:buChar char="•"/>
            </a:pPr>
            <a:r>
              <a:rPr lang="en-IN" b="1" i="0" u="none" strike="noStrike" cap="none">
                <a:solidFill>
                  <a:schemeClr val="dk1"/>
                </a:solidFill>
                <a:latin typeface="Times New Roman"/>
                <a:ea typeface="Times New Roman"/>
                <a:cs typeface="Times New Roman"/>
                <a:sym typeface="Times New Roman"/>
              </a:rPr>
              <a:t>Fraud Model: </a:t>
            </a:r>
            <a:r>
              <a:rPr lang="en-IN" b="0" i="0" u="none" strike="noStrike" cap="none">
                <a:solidFill>
                  <a:schemeClr val="dk1"/>
                </a:solidFill>
                <a:latin typeface="Times New Roman"/>
                <a:ea typeface="Times New Roman"/>
                <a:cs typeface="Times New Roman"/>
                <a:sym typeface="Times New Roman"/>
              </a:rPr>
              <a:t>A 60-tree Random Forest scores each transaction from nine features. It is trained with Spark MLlib and served without Spark.</a:t>
            </a:r>
            <a:endParaRPr b="0" i="0" u="none" strike="noStrike" cap="none">
              <a:solidFill>
                <a:srgbClr val="000000"/>
              </a:solidFill>
              <a:latin typeface="Times New Roman"/>
              <a:ea typeface="Times New Roman"/>
              <a:cs typeface="Times New Roman"/>
              <a:sym typeface="Times New Roman"/>
            </a:endParaRPr>
          </a:p>
          <a:p>
            <a:pPr marL="285750" marR="0" lvl="0" indent="-285750" algn="just" rtl="0">
              <a:lnSpc>
                <a:spcPct val="100000"/>
              </a:lnSpc>
              <a:spcBef>
                <a:spcPts val="0"/>
              </a:spcBef>
              <a:spcAft>
                <a:spcPts val="0"/>
              </a:spcAft>
              <a:buClr>
                <a:schemeClr val="dk1"/>
              </a:buClr>
              <a:buSzPts val="1400"/>
              <a:buFont typeface="Times New Roman"/>
              <a:buChar char="•"/>
            </a:pPr>
            <a:r>
              <a:rPr lang="en-IN" b="1" i="0" u="none" strike="noStrike" cap="none">
                <a:solidFill>
                  <a:schemeClr val="dk1"/>
                </a:solidFill>
                <a:latin typeface="Times New Roman"/>
                <a:ea typeface="Times New Roman"/>
                <a:cs typeface="Times New Roman"/>
                <a:sym typeface="Times New Roman"/>
              </a:rPr>
              <a:t>Millisecond Search: </a:t>
            </a:r>
            <a:r>
              <a:rPr lang="en-IN" b="0" i="0" u="none" strike="noStrike" cap="none">
                <a:solidFill>
                  <a:schemeClr val="dk1"/>
                </a:solidFill>
                <a:latin typeface="Times New Roman"/>
                <a:ea typeface="Times New Roman"/>
                <a:cs typeface="Times New Roman"/>
                <a:sym typeface="Times New Roman"/>
              </a:rPr>
              <a:t>Every dataset, bulk or uploaded, gets an index, so account lookup and suggestions while typing answer in milliseconds.</a:t>
            </a:r>
            <a:endParaRPr b="0" i="0" u="none" strike="noStrike" cap="none">
              <a:solidFill>
                <a:srgbClr val="000000"/>
              </a:solidFill>
              <a:latin typeface="Times New Roman"/>
              <a:ea typeface="Times New Roman"/>
              <a:cs typeface="Times New Roman"/>
              <a:sym typeface="Times New Roman"/>
            </a:endParaRPr>
          </a:p>
          <a:p>
            <a:pPr marL="285750" marR="0" lvl="0" indent="-285750" algn="just" rtl="0">
              <a:lnSpc>
                <a:spcPct val="100000"/>
              </a:lnSpc>
              <a:spcBef>
                <a:spcPts val="0"/>
              </a:spcBef>
              <a:spcAft>
                <a:spcPts val="0"/>
              </a:spcAft>
              <a:buClr>
                <a:schemeClr val="dk1"/>
              </a:buClr>
              <a:buSzPts val="1400"/>
              <a:buFont typeface="Times New Roman"/>
              <a:buChar char="•"/>
            </a:pPr>
            <a:r>
              <a:rPr lang="en-IN" b="1" i="0" u="none" strike="noStrike" cap="none">
                <a:solidFill>
                  <a:schemeClr val="dk1"/>
                </a:solidFill>
                <a:latin typeface="Times New Roman"/>
                <a:ea typeface="Times New Roman"/>
                <a:cs typeface="Times New Roman"/>
                <a:sym typeface="Times New Roman"/>
              </a:rPr>
              <a:t>Case Management: </a:t>
            </a:r>
            <a:r>
              <a:rPr lang="en-IN" b="0" i="0" u="none" strike="noStrike" cap="none">
                <a:solidFill>
                  <a:schemeClr val="dk1"/>
                </a:solidFill>
                <a:latin typeface="Times New Roman"/>
                <a:ea typeface="Times New Roman"/>
                <a:cs typeface="Times New Roman"/>
                <a:sym typeface="Times New Roman"/>
              </a:rPr>
              <a:t>Create, read, update and delete cases in MongoDB with a status workflow, notes and one open case per transaction.</a:t>
            </a:r>
            <a:endParaRPr b="0" i="0" u="none" strike="noStrike" cap="none">
              <a:solidFill>
                <a:srgbClr val="000000"/>
              </a:solidFill>
              <a:latin typeface="Times New Roman"/>
              <a:ea typeface="Times New Roman"/>
              <a:cs typeface="Times New Roman"/>
              <a:sym typeface="Times New Roman"/>
            </a:endParaRPr>
          </a:p>
          <a:p>
            <a:pPr marL="285750" marR="0" lvl="0" indent="-285750" algn="just" rtl="0">
              <a:lnSpc>
                <a:spcPct val="100000"/>
              </a:lnSpc>
              <a:spcBef>
                <a:spcPts val="0"/>
              </a:spcBef>
              <a:spcAft>
                <a:spcPts val="0"/>
              </a:spcAft>
              <a:buClr>
                <a:schemeClr val="dk1"/>
              </a:buClr>
              <a:buSzPts val="1400"/>
              <a:buFont typeface="Times New Roman"/>
              <a:buChar char="•"/>
            </a:pPr>
            <a:r>
              <a:rPr lang="en-IN" b="1" i="0" u="none" strike="noStrike" cap="none">
                <a:solidFill>
                  <a:schemeClr val="dk1"/>
                </a:solidFill>
                <a:latin typeface="Times New Roman"/>
                <a:ea typeface="Times New Roman"/>
                <a:cs typeface="Times New Roman"/>
                <a:sym typeface="Times New Roman"/>
              </a:rPr>
              <a:t>One Interface: </a:t>
            </a:r>
            <a:r>
              <a:rPr lang="en-IN" b="0" i="0" u="none" strike="noStrike" cap="none">
                <a:solidFill>
                  <a:schemeClr val="dk1"/>
                </a:solidFill>
                <a:latin typeface="Times New Roman"/>
                <a:ea typeface="Times New Roman"/>
                <a:cs typeface="Times New Roman"/>
                <a:sym typeface="Times New Roman"/>
              </a:rPr>
              <a:t>Overview, Explorer, Cases and Upload work on whichever dataset is selected, all through a validated REST API.</a:t>
            </a:r>
            <a:endParaRPr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9"/>
          <p:cNvSpPr txBox="1">
            <a:spLocks noGrp="1"/>
          </p:cNvSpPr>
          <p:nvPr>
            <p:ph type="title"/>
          </p:nvPr>
        </p:nvSpPr>
        <p:spPr>
          <a:xfrm>
            <a:off x="1383095" y="154984"/>
            <a:ext cx="5085300" cy="477054"/>
          </a:xfrm>
          <a:prstGeom prst="rect">
            <a:avLst/>
          </a:prstGeom>
          <a:noFill/>
          <a:ln>
            <a:noFill/>
          </a:ln>
        </p:spPr>
        <p:txBody>
          <a:bodyPr spcFirstLastPara="1" wrap="square" lIns="0" tIns="0" rIns="0" bIns="0" anchor="t" anchorCtr="0">
            <a:spAutoFit/>
          </a:bodyPr>
          <a:lstStyle/>
          <a:p>
            <a:pPr marL="0" lvl="0" indent="0" algn="ctr" rtl="0">
              <a:lnSpc>
                <a:spcPct val="100000"/>
              </a:lnSpc>
              <a:spcBef>
                <a:spcPts val="0"/>
              </a:spcBef>
              <a:spcAft>
                <a:spcPts val="0"/>
              </a:spcAft>
              <a:buSzPts val="2800"/>
              <a:buNone/>
            </a:pPr>
            <a:r>
              <a:rPr lang="en-IN" sz="3100" u="sng">
                <a:latin typeface="Times New Roman"/>
                <a:ea typeface="Times New Roman"/>
                <a:cs typeface="Times New Roman"/>
                <a:sym typeface="Times New Roman"/>
              </a:rPr>
              <a:t>Results</a:t>
            </a:r>
            <a:endParaRPr>
              <a:latin typeface="Times New Roman"/>
              <a:ea typeface="Times New Roman"/>
              <a:cs typeface="Times New Roman"/>
              <a:sym typeface="Times New Roman"/>
            </a:endParaRPr>
          </a:p>
        </p:txBody>
      </p:sp>
      <p:sp>
        <p:nvSpPr>
          <p:cNvPr id="124" name="Google Shape;124;p9"/>
          <p:cNvSpPr txBox="1"/>
          <p:nvPr/>
        </p:nvSpPr>
        <p:spPr>
          <a:xfrm>
            <a:off x="228600" y="685800"/>
            <a:ext cx="6629400" cy="254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300"/>
              <a:buFont typeface="Times New Roman"/>
              <a:buNone/>
            </a:pPr>
            <a:r>
              <a:rPr lang="en-IN" sz="1300" b="1" i="0" u="none" strike="noStrike" cap="none">
                <a:solidFill>
                  <a:srgbClr val="C00000"/>
                </a:solidFill>
                <a:latin typeface="Times New Roman"/>
                <a:ea typeface="Times New Roman"/>
                <a:cs typeface="Times New Roman"/>
                <a:sym typeface="Times New Roman"/>
              </a:rPr>
              <a:t>Table 1: Model Comparison on Held-out Test Data (831,437 transactions, 2,407 frauds)</a:t>
            </a:r>
            <a:endParaRPr>
              <a:latin typeface="Times New Roman"/>
              <a:ea typeface="Times New Roman"/>
              <a:cs typeface="Times New Roman"/>
              <a:sym typeface="Times New Roman"/>
            </a:endParaRPr>
          </a:p>
        </p:txBody>
      </p:sp>
      <p:graphicFrame>
        <p:nvGraphicFramePr>
          <p:cNvPr id="125" name="Google Shape;125;p9"/>
          <p:cNvGraphicFramePr/>
          <p:nvPr/>
        </p:nvGraphicFramePr>
        <p:xfrm>
          <a:off x="228600" y="914400"/>
          <a:ext cx="8503920" cy="1097280"/>
        </p:xfrm>
        <a:graphic>
          <a:graphicData uri="http://schemas.openxmlformats.org/drawingml/2006/table">
            <a:tbl>
              <a:tblPr firstRow="1" bandRow="1">
                <a:noFill/>
                <a:tableStyleId>{A2CE560F-E46D-4558-8A09-8A56FFD5A36B}</a:tableStyleId>
              </a:tblPr>
              <a:tblGrid>
                <a:gridCol w="22860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274320">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1" u="none" strike="noStrike" cap="none">
                          <a:latin typeface="Times New Roman"/>
                          <a:ea typeface="Times New Roman"/>
                          <a:cs typeface="Times New Roman"/>
                          <a:sym typeface="Times New Roman"/>
                        </a:rPr>
                        <a:t>Model</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1" u="none" strike="noStrike" cap="none">
                          <a:latin typeface="Times New Roman"/>
                          <a:ea typeface="Times New Roman"/>
                          <a:cs typeface="Times New Roman"/>
                          <a:sym typeface="Times New Roman"/>
                        </a:rPr>
                        <a:t>Precision</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1" u="none" strike="noStrike" cap="none">
                          <a:latin typeface="Times New Roman"/>
                          <a:ea typeface="Times New Roman"/>
                          <a:cs typeface="Times New Roman"/>
                          <a:sym typeface="Times New Roman"/>
                        </a:rPr>
                        <a:t>Recall</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1" u="none" strike="noStrike" cap="none">
                          <a:latin typeface="Times New Roman"/>
                          <a:ea typeface="Times New Roman"/>
                          <a:cs typeface="Times New Roman"/>
                          <a:sym typeface="Times New Roman"/>
                        </a:rPr>
                        <a:t>F1</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1" u="none" strike="noStrike" cap="none">
                          <a:latin typeface="Times New Roman"/>
                          <a:ea typeface="Times New Roman"/>
                          <a:cs typeface="Times New Roman"/>
                          <a:sym typeface="Times New Roman"/>
                        </a:rPr>
                        <a:t>AUC-PR</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1" u="none" strike="noStrike" cap="none">
                          <a:latin typeface="Times New Roman"/>
                          <a:ea typeface="Times New Roman"/>
                          <a:cs typeface="Times New Roman"/>
                          <a:sym typeface="Times New Roman"/>
                        </a:rPr>
                        <a:t>Frauds Caught</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1" u="none" strike="noStrike" cap="none">
                          <a:latin typeface="Times New Roman"/>
                          <a:ea typeface="Times New Roman"/>
                          <a:cs typeface="Times New Roman"/>
                          <a:sym typeface="Times New Roman"/>
                        </a:rPr>
                        <a:t>False Alarms</a:t>
                      </a:r>
                      <a:endParaRPr>
                        <a:latin typeface="Times New Roman"/>
                        <a:ea typeface="Times New Roman"/>
                        <a:cs typeface="Times New Roman"/>
                        <a:sym typeface="Times New Roman"/>
                      </a:endParaRPr>
                    </a:p>
                  </a:txBody>
                  <a:tcPr marL="76200" marR="76200" marT="38100" marB="38100"/>
                </a:tc>
                <a:extLst>
                  <a:ext uri="{0D108BD9-81ED-4DB2-BD59-A6C34878D82A}">
                    <a16:rowId xmlns:a16="http://schemas.microsoft.com/office/drawing/2014/main" val="10000"/>
                  </a:ext>
                </a:extLst>
              </a:tr>
              <a:tr h="274320">
                <a:tc>
                  <a:txBody>
                    <a:bodyPr/>
                    <a:lstStyle/>
                    <a:p>
                      <a:pPr marL="0" marR="0" lvl="0" indent="0" algn="l"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Logistic Regression (baseline)</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0.043</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0.909</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0.083</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0.549</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2,189 / 2,407</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48,466</a:t>
                      </a:r>
                      <a:endParaRPr>
                        <a:latin typeface="Times New Roman"/>
                        <a:ea typeface="Times New Roman"/>
                        <a:cs typeface="Times New Roman"/>
                        <a:sym typeface="Times New Roman"/>
                      </a:endParaRPr>
                    </a:p>
                  </a:txBody>
                  <a:tcPr marL="76200" marR="76200" marT="38100" marB="38100"/>
                </a:tc>
                <a:extLst>
                  <a:ext uri="{0D108BD9-81ED-4DB2-BD59-A6C34878D82A}">
                    <a16:rowId xmlns:a16="http://schemas.microsoft.com/office/drawing/2014/main" val="10001"/>
                  </a:ext>
                </a:extLst>
              </a:tr>
              <a:tr h="274320">
                <a:tc>
                  <a:txBody>
                    <a:bodyPr/>
                    <a:lstStyle/>
                    <a:p>
                      <a:pPr marL="0" marR="0" lvl="0" indent="0" algn="l"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Random Forest (selected) ★</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0.993</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0.998</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0.995</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0.998</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2,401 / 2,407</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17</a:t>
                      </a:r>
                      <a:endParaRPr>
                        <a:latin typeface="Times New Roman"/>
                        <a:ea typeface="Times New Roman"/>
                        <a:cs typeface="Times New Roman"/>
                        <a:sym typeface="Times New Roman"/>
                      </a:endParaRPr>
                    </a:p>
                  </a:txBody>
                  <a:tcPr marL="76200" marR="76200" marT="38100" marB="38100"/>
                </a:tc>
                <a:extLst>
                  <a:ext uri="{0D108BD9-81ED-4DB2-BD59-A6C34878D82A}">
                    <a16:rowId xmlns:a16="http://schemas.microsoft.com/office/drawing/2014/main" val="10002"/>
                  </a:ext>
                </a:extLst>
              </a:tr>
              <a:tr h="274320">
                <a:tc>
                  <a:txBody>
                    <a:bodyPr/>
                    <a:lstStyle/>
                    <a:p>
                      <a:pPr marL="0" marR="0" lvl="0" indent="0" algn="l"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Existing rule-based flag</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1.000</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0.002</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0.003</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4 / 2,407</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0</a:t>
                      </a:r>
                      <a:endParaRPr>
                        <a:latin typeface="Times New Roman"/>
                        <a:ea typeface="Times New Roman"/>
                        <a:cs typeface="Times New Roman"/>
                        <a:sym typeface="Times New Roman"/>
                      </a:endParaRPr>
                    </a:p>
                  </a:txBody>
                  <a:tcPr marL="76200" marR="76200" marT="38100" marB="38100"/>
                </a:tc>
                <a:extLst>
                  <a:ext uri="{0D108BD9-81ED-4DB2-BD59-A6C34878D82A}">
                    <a16:rowId xmlns:a16="http://schemas.microsoft.com/office/drawing/2014/main" val="10003"/>
                  </a:ext>
                </a:extLst>
              </a:tr>
            </a:tbl>
          </a:graphicData>
        </a:graphic>
      </p:graphicFrame>
      <p:sp>
        <p:nvSpPr>
          <p:cNvPr id="126" name="Google Shape;126;p9"/>
          <p:cNvSpPr txBox="1"/>
          <p:nvPr/>
        </p:nvSpPr>
        <p:spPr>
          <a:xfrm>
            <a:off x="228600" y="2286000"/>
            <a:ext cx="6629400" cy="254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300"/>
              <a:buFont typeface="Times New Roman"/>
              <a:buNone/>
            </a:pPr>
            <a:r>
              <a:rPr lang="en-IN" sz="1300" b="1" i="0" u="none" strike="noStrike" cap="none">
                <a:solidFill>
                  <a:srgbClr val="C00000"/>
                </a:solidFill>
                <a:latin typeface="Times New Roman"/>
                <a:ea typeface="Times New Roman"/>
                <a:cs typeface="Times New Roman"/>
                <a:sym typeface="Times New Roman"/>
              </a:rPr>
              <a:t>Table 2: Platform Performance</a:t>
            </a:r>
            <a:endParaRPr>
              <a:latin typeface="Times New Roman"/>
              <a:ea typeface="Times New Roman"/>
              <a:cs typeface="Times New Roman"/>
              <a:sym typeface="Times New Roman"/>
            </a:endParaRPr>
          </a:p>
        </p:txBody>
      </p:sp>
      <p:graphicFrame>
        <p:nvGraphicFramePr>
          <p:cNvPr id="127" name="Google Shape;127;p9"/>
          <p:cNvGraphicFramePr/>
          <p:nvPr/>
        </p:nvGraphicFramePr>
        <p:xfrm>
          <a:off x="228600" y="2606040"/>
          <a:ext cx="8595360" cy="1645920"/>
        </p:xfrm>
        <a:graphic>
          <a:graphicData uri="http://schemas.openxmlformats.org/drawingml/2006/table">
            <a:tbl>
              <a:tblPr firstRow="1" bandRow="1">
                <a:noFill/>
                <a:tableStyleId>{A2CE560F-E46D-4558-8A09-8A56FFD5A36B}</a:tableStyleId>
              </a:tblPr>
              <a:tblGrid>
                <a:gridCol w="23774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tblGrid>
              <a:tr h="274320">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1" u="none" strike="noStrike" cap="none">
                          <a:latin typeface="Times New Roman"/>
                          <a:ea typeface="Times New Roman"/>
                          <a:cs typeface="Times New Roman"/>
                          <a:sym typeface="Times New Roman"/>
                        </a:rPr>
                        <a:t>Capability</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1" u="none" strike="noStrike" cap="none">
                          <a:latin typeface="Times New Roman"/>
                          <a:ea typeface="Times New Roman"/>
                          <a:cs typeface="Times New Roman"/>
                          <a:sym typeface="Times New Roman"/>
                        </a:rPr>
                        <a:t>Measured</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1000"/>
                        <a:buFont typeface="Times New Roman"/>
                        <a:buNone/>
                      </a:pPr>
                      <a:r>
                        <a:rPr lang="en-IN" sz="1000" b="1" u="none" strike="noStrike" cap="none">
                          <a:latin typeface="Times New Roman"/>
                          <a:ea typeface="Times New Roman"/>
                          <a:cs typeface="Times New Roman"/>
                          <a:sym typeface="Times New Roman"/>
                        </a:rPr>
                        <a:t>Compared with</a:t>
                      </a:r>
                      <a:endParaRPr>
                        <a:latin typeface="Times New Roman"/>
                        <a:ea typeface="Times New Roman"/>
                        <a:cs typeface="Times New Roman"/>
                        <a:sym typeface="Times New Roman"/>
                      </a:endParaRPr>
                    </a:p>
                  </a:txBody>
                  <a:tcPr marL="76200" marR="76200" marT="38100" marB="38100"/>
                </a:tc>
                <a:extLst>
                  <a:ext uri="{0D108BD9-81ED-4DB2-BD59-A6C34878D82A}">
                    <a16:rowId xmlns:a16="http://schemas.microsoft.com/office/drawing/2014/main" val="10000"/>
                  </a:ext>
                </a:extLst>
              </a:tr>
              <a:tr h="274320">
                <a:tc>
                  <a:txBody>
                    <a:bodyPr/>
                    <a:lstStyle/>
                    <a:p>
                      <a:pPr marL="0" marR="0" lvl="0" indent="0" algn="l"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Account lookup with an index</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2.5 ms (median)</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Spark scan of the same data: 1,441 ms (574× slower)</a:t>
                      </a:r>
                      <a:endParaRPr>
                        <a:latin typeface="Times New Roman"/>
                        <a:ea typeface="Times New Roman"/>
                        <a:cs typeface="Times New Roman"/>
                        <a:sym typeface="Times New Roman"/>
                      </a:endParaRPr>
                    </a:p>
                  </a:txBody>
                  <a:tcPr marL="76200" marR="76200" marT="38100" marB="38100"/>
                </a:tc>
                <a:extLst>
                  <a:ext uri="{0D108BD9-81ED-4DB2-BD59-A6C34878D82A}">
                    <a16:rowId xmlns:a16="http://schemas.microsoft.com/office/drawing/2014/main" val="10001"/>
                  </a:ext>
                </a:extLst>
              </a:tr>
              <a:tr h="274320">
                <a:tc>
                  <a:txBody>
                    <a:bodyPr/>
                    <a:lstStyle/>
                    <a:p>
                      <a:pPr marL="0" marR="0" lvl="0" indent="0" algn="l"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Suggestions while typing</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about 8 to 30 ms</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Up to 10 matching accounts per pause in typing</a:t>
                      </a:r>
                      <a:endParaRPr>
                        <a:latin typeface="Times New Roman"/>
                        <a:ea typeface="Times New Roman"/>
                        <a:cs typeface="Times New Roman"/>
                        <a:sym typeface="Times New Roman"/>
                      </a:endParaRPr>
                    </a:p>
                  </a:txBody>
                  <a:tcPr marL="76200" marR="76200" marT="38100" marB="38100"/>
                </a:tc>
                <a:extLst>
                  <a:ext uri="{0D108BD9-81ED-4DB2-BD59-A6C34878D82A}">
                    <a16:rowId xmlns:a16="http://schemas.microsoft.com/office/drawing/2014/main" val="10002"/>
                  </a:ext>
                </a:extLst>
              </a:tr>
              <a:tr h="274320">
                <a:tc>
                  <a:txBody>
                    <a:bodyPr/>
                    <a:lstStyle/>
                    <a:p>
                      <a:pPr marL="0" marR="0" lvl="0" indent="0" algn="l"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Scoring throughput</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a:latin typeface="Times New Roman"/>
                          <a:ea typeface="Times New Roman"/>
                          <a:cs typeface="Times New Roman"/>
                          <a:sym typeface="Times New Roman"/>
                        </a:rPr>
                        <a:t>426,000 rows/s</a:t>
                      </a:r>
                      <a:endParaRPr sz="900">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a:latin typeface="Times New Roman"/>
                          <a:ea typeface="Times New Roman"/>
                          <a:cs typeface="Times New Roman"/>
                          <a:sym typeface="Times New Roman"/>
                        </a:rPr>
                        <a:t>38,000 rows/s without blocks and threads</a:t>
                      </a:r>
                      <a:endParaRPr>
                        <a:latin typeface="Times New Roman"/>
                        <a:ea typeface="Times New Roman"/>
                        <a:cs typeface="Times New Roman"/>
                        <a:sym typeface="Times New Roman"/>
                      </a:endParaRPr>
                    </a:p>
                  </a:txBody>
                  <a:tcPr marL="76200" marR="76200" marT="38100" marB="38100"/>
                </a:tc>
                <a:extLst>
                  <a:ext uri="{0D108BD9-81ED-4DB2-BD59-A6C34878D82A}">
                    <a16:rowId xmlns:a16="http://schemas.microsoft.com/office/drawing/2014/main" val="10003"/>
                  </a:ext>
                </a:extLst>
              </a:tr>
              <a:tr h="274320">
                <a:tc>
                  <a:txBody>
                    <a:bodyPr/>
                    <a:lstStyle/>
                    <a:p>
                      <a:pPr marL="0" marR="0" lvl="0" indent="0" algn="l" rtl="0">
                        <a:lnSpc>
                          <a:spcPct val="100000"/>
                        </a:lnSpc>
                        <a:spcBef>
                          <a:spcPts val="0"/>
                        </a:spcBef>
                        <a:spcAft>
                          <a:spcPts val="0"/>
                        </a:spcAft>
                        <a:buClr>
                          <a:srgbClr val="000000"/>
                        </a:buClr>
                        <a:buSzPts val="900"/>
                        <a:buFont typeface="Times New Roman"/>
                        <a:buNone/>
                      </a:pPr>
                      <a:r>
                        <a:rPr lang="en-IN" sz="900" b="1" u="none" strike="noStrike" cap="none">
                          <a:solidFill>
                            <a:srgbClr val="C00000"/>
                          </a:solidFill>
                          <a:latin typeface="Times New Roman"/>
                          <a:ea typeface="Times New Roman"/>
                          <a:cs typeface="Times New Roman"/>
                          <a:sym typeface="Times New Roman"/>
                        </a:rPr>
                        <a:t>Upload of an 8.0M-row file</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b="1">
                          <a:solidFill>
                            <a:srgbClr val="C00000"/>
                          </a:solidFill>
                          <a:latin typeface="Times New Roman"/>
                          <a:ea typeface="Times New Roman"/>
                          <a:cs typeface="Times New Roman"/>
                          <a:sym typeface="Times New Roman"/>
                        </a:rPr>
                        <a:t>scored in about 30 s, indexed in about 42 s</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b="1">
                          <a:solidFill>
                            <a:srgbClr val="C00000"/>
                          </a:solidFill>
                          <a:latin typeface="Times New Roman"/>
                          <a:ea typeface="Times New Roman"/>
                          <a:cs typeface="Times New Roman"/>
                          <a:sym typeface="Times New Roman"/>
                        </a:rPr>
                        <a:t>Streamed in 16 MB blocks; memory does not grow with file size</a:t>
                      </a:r>
                      <a:endParaRPr>
                        <a:latin typeface="Times New Roman"/>
                        <a:ea typeface="Times New Roman"/>
                        <a:cs typeface="Times New Roman"/>
                        <a:sym typeface="Times New Roman"/>
                      </a:endParaRPr>
                    </a:p>
                  </a:txBody>
                  <a:tcPr marL="76200" marR="76200" marT="38100" marB="38100"/>
                </a:tc>
                <a:extLst>
                  <a:ext uri="{0D108BD9-81ED-4DB2-BD59-A6C34878D82A}">
                    <a16:rowId xmlns:a16="http://schemas.microsoft.com/office/drawing/2014/main" val="10004"/>
                  </a:ext>
                </a:extLst>
              </a:tr>
              <a:tr h="274320">
                <a:tc>
                  <a:txBody>
                    <a:bodyPr/>
                    <a:lstStyle/>
                    <a:p>
                      <a:pPr marL="0" marR="0" lvl="0" indent="0" algn="l"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Automated tests</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144 passing</a:t>
                      </a:r>
                      <a:endParaRPr>
                        <a:latin typeface="Times New Roman"/>
                        <a:ea typeface="Times New Roman"/>
                        <a:cs typeface="Times New Roman"/>
                        <a:sym typeface="Times New Roman"/>
                      </a:endParaRPr>
                    </a:p>
                  </a:txBody>
                  <a:tcPr marL="76200" marR="76200" marT="38100" marB="38100"/>
                </a:tc>
                <a:tc>
                  <a:txBody>
                    <a:bodyPr/>
                    <a:lstStyle/>
                    <a:p>
                      <a:pPr marL="0" marR="0" lvl="0" indent="0" algn="ctr" rtl="0">
                        <a:lnSpc>
                          <a:spcPct val="100000"/>
                        </a:lnSpc>
                        <a:spcBef>
                          <a:spcPts val="0"/>
                        </a:spcBef>
                        <a:spcAft>
                          <a:spcPts val="0"/>
                        </a:spcAft>
                        <a:buClr>
                          <a:srgbClr val="000000"/>
                        </a:buClr>
                        <a:buSzPts val="900"/>
                        <a:buFont typeface="Times New Roman"/>
                        <a:buNone/>
                      </a:pPr>
                      <a:r>
                        <a:rPr lang="en-IN" sz="900" u="none" strike="noStrike" cap="none">
                          <a:latin typeface="Times New Roman"/>
                          <a:ea typeface="Times New Roman"/>
                          <a:cs typeface="Times New Roman"/>
                          <a:sym typeface="Times New Roman"/>
                        </a:rPr>
                        <a:t>Scoring matches Spark within 0.00005</a:t>
                      </a:r>
                      <a:endParaRPr>
                        <a:latin typeface="Times New Roman"/>
                        <a:ea typeface="Times New Roman"/>
                        <a:cs typeface="Times New Roman"/>
                        <a:sym typeface="Times New Roman"/>
                      </a:endParaRPr>
                    </a:p>
                  </a:txBody>
                  <a:tcPr marL="76200" marR="76200" marT="38100" marB="38100"/>
                </a:tc>
                <a:extLst>
                  <a:ext uri="{0D108BD9-81ED-4DB2-BD59-A6C34878D82A}">
                    <a16:rowId xmlns:a16="http://schemas.microsoft.com/office/drawing/2014/main" val="10005"/>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1"/>
          <p:cNvSpPr txBox="1">
            <a:spLocks noGrp="1"/>
          </p:cNvSpPr>
          <p:nvPr>
            <p:ph type="title"/>
          </p:nvPr>
        </p:nvSpPr>
        <p:spPr>
          <a:xfrm>
            <a:off x="1392670" y="243432"/>
            <a:ext cx="5085300" cy="477054"/>
          </a:xfrm>
          <a:prstGeom prst="rect">
            <a:avLst/>
          </a:prstGeom>
          <a:noFill/>
          <a:ln>
            <a:noFill/>
          </a:ln>
        </p:spPr>
        <p:txBody>
          <a:bodyPr spcFirstLastPara="1" wrap="square" lIns="0" tIns="0" rIns="0" bIns="0" anchor="t" anchorCtr="0">
            <a:spAutoFit/>
          </a:bodyPr>
          <a:lstStyle/>
          <a:p>
            <a:pPr marL="0" lvl="0" indent="0" algn="ctr" rtl="0">
              <a:lnSpc>
                <a:spcPct val="100000"/>
              </a:lnSpc>
              <a:spcBef>
                <a:spcPts val="0"/>
              </a:spcBef>
              <a:spcAft>
                <a:spcPts val="0"/>
              </a:spcAft>
              <a:buSzPts val="2800"/>
              <a:buNone/>
            </a:pPr>
            <a:r>
              <a:rPr lang="en-IN" sz="3100" u="sng">
                <a:latin typeface="Times New Roman"/>
                <a:ea typeface="Times New Roman"/>
                <a:cs typeface="Times New Roman"/>
                <a:sym typeface="Times New Roman"/>
              </a:rPr>
              <a:t>Conclusion</a:t>
            </a:r>
            <a:endParaRPr sz="3100" u="sng">
              <a:latin typeface="Times New Roman"/>
              <a:ea typeface="Times New Roman"/>
              <a:cs typeface="Times New Roman"/>
              <a:sym typeface="Times New Roman"/>
            </a:endParaRPr>
          </a:p>
        </p:txBody>
      </p:sp>
      <p:sp>
        <p:nvSpPr>
          <p:cNvPr id="135" name="Google Shape;135;p11"/>
          <p:cNvSpPr txBox="1"/>
          <p:nvPr/>
        </p:nvSpPr>
        <p:spPr>
          <a:xfrm>
            <a:off x="378300" y="1166300"/>
            <a:ext cx="4193700" cy="3122700"/>
          </a:xfrm>
          <a:prstGeom prst="rect">
            <a:avLst/>
          </a:prstGeom>
          <a:noFill/>
          <a:ln>
            <a:noFill/>
          </a:ln>
        </p:spPr>
        <p:txBody>
          <a:bodyPr spcFirstLastPara="1" wrap="square" lIns="91425" tIns="45700" rIns="91425" bIns="45700" anchor="ctr" anchorCtr="0">
            <a:noAutofit/>
          </a:bodyPr>
          <a:lstStyle/>
          <a:p>
            <a:pPr marL="457200" marR="0" lvl="0" indent="-323850" algn="just" rtl="0">
              <a:lnSpc>
                <a:spcPct val="100000"/>
              </a:lnSpc>
              <a:spcBef>
                <a:spcPts val="0"/>
              </a:spcBef>
              <a:spcAft>
                <a:spcPts val="0"/>
              </a:spcAft>
              <a:buClr>
                <a:srgbClr val="000000"/>
              </a:buClr>
              <a:buSzPts val="1500"/>
              <a:buFont typeface="Times New Roman"/>
              <a:buChar char="•"/>
            </a:pPr>
            <a:r>
              <a:rPr lang="en-IN" b="0" i="0" u="none" strike="noStrike" cap="none">
                <a:solidFill>
                  <a:schemeClr val="dk1"/>
                </a:solidFill>
                <a:latin typeface="Times New Roman"/>
                <a:ea typeface="Times New Roman"/>
                <a:cs typeface="Times New Roman"/>
                <a:sym typeface="Times New Roman"/>
              </a:rPr>
              <a:t>The platform takes transaction data from a </a:t>
            </a:r>
            <a:r>
              <a:rPr lang="en-IN" b="1" i="0" u="none" strike="noStrike" cap="none">
                <a:solidFill>
                  <a:schemeClr val="dk1"/>
                </a:solidFill>
                <a:latin typeface="Times New Roman"/>
                <a:ea typeface="Times New Roman"/>
                <a:cs typeface="Times New Roman"/>
                <a:sym typeface="Times New Roman"/>
              </a:rPr>
              <a:t>Spark pipeline or a CSV upload</a:t>
            </a:r>
            <a:r>
              <a:rPr lang="en-IN" b="0" i="0" u="none" strike="noStrike" cap="none">
                <a:solidFill>
                  <a:schemeClr val="dk1"/>
                </a:solidFill>
                <a:latin typeface="Times New Roman"/>
                <a:ea typeface="Times New Roman"/>
                <a:cs typeface="Times New Roman"/>
                <a:sym typeface="Times New Roman"/>
              </a:rPr>
              <a:t> to model scores, instant search and investigated cases in one system.</a:t>
            </a:r>
            <a:endParaRPr b="0" i="0" u="none" strike="noStrike" cap="none">
              <a:solidFill>
                <a:schemeClr val="dk1"/>
              </a:solidFill>
              <a:latin typeface="Times New Roman"/>
              <a:ea typeface="Times New Roman"/>
              <a:cs typeface="Times New Roman"/>
              <a:sym typeface="Times New Roman"/>
            </a:endParaRPr>
          </a:p>
          <a:p>
            <a:pPr marL="457200" marR="0" lvl="0" indent="-323850" algn="just" rtl="0">
              <a:lnSpc>
                <a:spcPct val="100000"/>
              </a:lnSpc>
              <a:spcBef>
                <a:spcPts val="0"/>
              </a:spcBef>
              <a:spcAft>
                <a:spcPts val="0"/>
              </a:spcAft>
              <a:buClr>
                <a:srgbClr val="000000"/>
              </a:buClr>
              <a:buSzPts val="1500"/>
              <a:buFont typeface="Times New Roman"/>
              <a:buChar char="•"/>
            </a:pPr>
            <a:r>
              <a:rPr lang="en-IN" b="1" i="0" u="none" strike="noStrike" cap="none">
                <a:solidFill>
                  <a:schemeClr val="dk1"/>
                </a:solidFill>
                <a:latin typeface="Times New Roman"/>
                <a:ea typeface="Times New Roman"/>
                <a:cs typeface="Times New Roman"/>
                <a:sym typeface="Times New Roman"/>
              </a:rPr>
              <a:t>A 60-tree Random Forest finds 99.75% of frauds at 99.3% precision on held-out data and scores about 426,000 rows per second.</a:t>
            </a:r>
            <a:endParaRPr b="0" i="0" u="none" strike="noStrike" cap="none">
              <a:solidFill>
                <a:schemeClr val="dk1"/>
              </a:solidFill>
              <a:latin typeface="Times New Roman"/>
              <a:ea typeface="Times New Roman"/>
              <a:cs typeface="Times New Roman"/>
              <a:sym typeface="Times New Roman"/>
            </a:endParaRPr>
          </a:p>
          <a:p>
            <a:pPr marL="457200" marR="0" lvl="0" indent="-323850" algn="just" rtl="0">
              <a:lnSpc>
                <a:spcPct val="100000"/>
              </a:lnSpc>
              <a:spcBef>
                <a:spcPts val="0"/>
              </a:spcBef>
              <a:spcAft>
                <a:spcPts val="0"/>
              </a:spcAft>
              <a:buClr>
                <a:srgbClr val="000000"/>
              </a:buClr>
              <a:buSzPts val="1500"/>
              <a:buFont typeface="Times New Roman"/>
              <a:buChar char="•"/>
            </a:pPr>
            <a:r>
              <a:rPr lang="en-IN" b="1" i="0" u="none" strike="noStrike" cap="none">
                <a:solidFill>
                  <a:schemeClr val="dk1"/>
                </a:solidFill>
                <a:latin typeface="Times New Roman"/>
                <a:ea typeface="Times New Roman"/>
                <a:cs typeface="Times New Roman"/>
                <a:sym typeface="Times New Roman"/>
              </a:rPr>
              <a:t>Indexes</a:t>
            </a:r>
            <a:r>
              <a:rPr lang="en-IN" b="0" i="0" u="none" strike="noStrike" cap="none">
                <a:solidFill>
                  <a:schemeClr val="dk1"/>
                </a:solidFill>
                <a:latin typeface="Times New Roman"/>
                <a:ea typeface="Times New Roman"/>
                <a:cs typeface="Times New Roman"/>
                <a:sym typeface="Times New Roman"/>
              </a:rPr>
              <a:t> make lookups 574 times faster than a Spark scan; uploads of 8 million rows are scored and explorable in about a minute.</a:t>
            </a:r>
            <a:endParaRPr b="0" i="0" u="none" strike="noStrike" cap="none">
              <a:solidFill>
                <a:schemeClr val="dk1"/>
              </a:solidFill>
              <a:latin typeface="Times New Roman"/>
              <a:ea typeface="Times New Roman"/>
              <a:cs typeface="Times New Roman"/>
              <a:sym typeface="Times New Roman"/>
            </a:endParaRPr>
          </a:p>
          <a:p>
            <a:pPr marL="457200" marR="0" lvl="0" indent="-323850" algn="just" rtl="0">
              <a:lnSpc>
                <a:spcPct val="100000"/>
              </a:lnSpc>
              <a:spcBef>
                <a:spcPts val="0"/>
              </a:spcBef>
              <a:spcAft>
                <a:spcPts val="0"/>
              </a:spcAft>
              <a:buClr>
                <a:srgbClr val="000000"/>
              </a:buClr>
              <a:buSzPts val="1500"/>
              <a:buFont typeface="Times New Roman"/>
              <a:buChar char="•"/>
            </a:pPr>
            <a:r>
              <a:rPr lang="en-IN" b="0" i="0" u="none" strike="noStrike" cap="none">
                <a:solidFill>
                  <a:schemeClr val="dk1"/>
                </a:solidFill>
                <a:latin typeface="Times New Roman"/>
                <a:ea typeface="Times New Roman"/>
                <a:cs typeface="Times New Roman"/>
                <a:sym typeface="Times New Roman"/>
              </a:rPr>
              <a:t>Limits: simulated data, Spark in local mode, no login. Future work: </a:t>
            </a:r>
            <a:r>
              <a:rPr lang="en-IN" b="1" i="0" u="none" strike="noStrike" cap="none">
                <a:solidFill>
                  <a:schemeClr val="dk1"/>
                </a:solidFill>
                <a:latin typeface="Times New Roman"/>
                <a:ea typeface="Times New Roman"/>
                <a:cs typeface="Times New Roman"/>
                <a:sym typeface="Times New Roman"/>
              </a:rPr>
              <a:t>streaming scoring, a cluster, authentication</a:t>
            </a:r>
            <a:r>
              <a:rPr lang="en-IN" b="0" i="0" u="none" strike="noStrike" cap="none">
                <a:solidFill>
                  <a:schemeClr val="dk1"/>
                </a:solidFill>
                <a:latin typeface="Times New Roman"/>
                <a:ea typeface="Times New Roman"/>
                <a:cs typeface="Times New Roman"/>
                <a:sym typeface="Times New Roman"/>
              </a:rPr>
              <a:t> and per-transaction explanations.</a:t>
            </a:r>
            <a:endParaRPr b="0" i="0" u="none" strike="noStrike" cap="none">
              <a:solidFill>
                <a:schemeClr val="dk1"/>
              </a:solidFill>
              <a:latin typeface="Times New Roman"/>
              <a:ea typeface="Times New Roman"/>
              <a:cs typeface="Times New Roman"/>
              <a:sym typeface="Times New Roman"/>
            </a:endParaRPr>
          </a:p>
        </p:txBody>
      </p:sp>
      <p:pic>
        <p:nvPicPr>
          <p:cNvPr id="136" name="Picture 135" descr="fig_cases.png"/>
          <p:cNvPicPr>
            <a:picLocks noChangeAspect="1"/>
          </p:cNvPicPr>
          <p:nvPr/>
        </p:nvPicPr>
        <p:blipFill>
          <a:blip r:embed="rId3"/>
          <a:stretch>
            <a:fillRect/>
          </a:stretch>
        </p:blipFill>
        <p:spPr>
          <a:xfrm>
            <a:off x="4849906" y="996463"/>
            <a:ext cx="3743531" cy="314748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12"/>
          <p:cNvSpPr txBox="1">
            <a:spLocks noGrp="1"/>
          </p:cNvSpPr>
          <p:nvPr>
            <p:ph type="title"/>
          </p:nvPr>
        </p:nvSpPr>
        <p:spPr>
          <a:xfrm>
            <a:off x="1383095" y="214707"/>
            <a:ext cx="5085300" cy="477054"/>
          </a:xfrm>
          <a:prstGeom prst="rect">
            <a:avLst/>
          </a:prstGeom>
          <a:noFill/>
          <a:ln>
            <a:noFill/>
          </a:ln>
        </p:spPr>
        <p:txBody>
          <a:bodyPr spcFirstLastPara="1" wrap="square" lIns="0" tIns="0" rIns="0" bIns="0" anchor="t" anchorCtr="0">
            <a:spAutoFit/>
          </a:bodyPr>
          <a:lstStyle/>
          <a:p>
            <a:pPr marL="0" lvl="0" indent="0" algn="ctr" rtl="0">
              <a:lnSpc>
                <a:spcPct val="100000"/>
              </a:lnSpc>
              <a:spcBef>
                <a:spcPts val="0"/>
              </a:spcBef>
              <a:spcAft>
                <a:spcPts val="0"/>
              </a:spcAft>
              <a:buSzPts val="2800"/>
              <a:buNone/>
            </a:pPr>
            <a:r>
              <a:rPr lang="en-IN" sz="3100" u="sng">
                <a:latin typeface="Times New Roman"/>
                <a:ea typeface="Times New Roman"/>
                <a:cs typeface="Times New Roman"/>
                <a:sym typeface="Times New Roman"/>
              </a:rPr>
              <a:t>References</a:t>
            </a:r>
            <a:endParaRPr sz="3100" u="sng">
              <a:latin typeface="Times New Roman"/>
              <a:ea typeface="Times New Roman"/>
              <a:cs typeface="Times New Roman"/>
              <a:sym typeface="Times New Roman"/>
            </a:endParaRPr>
          </a:p>
        </p:txBody>
      </p:sp>
      <p:sp>
        <p:nvSpPr>
          <p:cNvPr id="141" name="Google Shape;141;p12"/>
          <p:cNvSpPr txBox="1"/>
          <p:nvPr/>
        </p:nvSpPr>
        <p:spPr>
          <a:xfrm>
            <a:off x="411480" y="868680"/>
            <a:ext cx="8321040" cy="2605262"/>
          </a:xfrm>
          <a:prstGeom prst="rect">
            <a:avLst/>
          </a:prstGeom>
          <a:noFill/>
          <a:ln>
            <a:noFill/>
          </a:ln>
        </p:spPr>
        <p:txBody>
          <a:bodyPr spcFirstLastPara="1" wrap="square" lIns="91425" tIns="91425" rIns="91425" bIns="91425" anchor="t" anchorCtr="0">
            <a:noAutofit/>
          </a:bodyPr>
          <a:lstStyle/>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[1] L. Breiman, “Random Forests,” </a:t>
            </a:r>
            <a:r>
              <a:rPr lang="en-IN" sz="1200" b="0" i="1" u="none" strike="noStrike" cap="none">
                <a:solidFill>
                  <a:srgbClr val="000000"/>
                </a:solidFill>
                <a:latin typeface="Times New Roman"/>
                <a:ea typeface="Times New Roman"/>
                <a:cs typeface="Times New Roman"/>
                <a:sym typeface="Times New Roman"/>
              </a:rPr>
              <a:t>Machine Learning</a:t>
            </a:r>
            <a:r>
              <a:rPr lang="en-IN" sz="1200" b="0" i="0" u="none" strike="noStrike" cap="none">
                <a:solidFill>
                  <a:srgbClr val="000000"/>
                </a:solidFill>
                <a:latin typeface="Times New Roman"/>
                <a:ea typeface="Times New Roman"/>
                <a:cs typeface="Times New Roman"/>
                <a:sym typeface="Times New Roman"/>
              </a:rPr>
              <a:t>, vol. 45, no. 1, pp. 5–32, 2001.</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[2] M. Zaharia </a:t>
            </a:r>
            <a:r>
              <a:rPr lang="en-IN" sz="1200" b="0" i="1" u="none" strike="noStrike" cap="none">
                <a:solidFill>
                  <a:srgbClr val="000000"/>
                </a:solidFill>
                <a:latin typeface="Times New Roman"/>
                <a:ea typeface="Times New Roman"/>
                <a:cs typeface="Times New Roman"/>
                <a:sym typeface="Times New Roman"/>
              </a:rPr>
              <a:t>et al.</a:t>
            </a:r>
            <a:r>
              <a:rPr lang="en-IN" sz="1200" b="0" i="0" u="none" strike="noStrike" cap="none">
                <a:solidFill>
                  <a:srgbClr val="000000"/>
                </a:solidFill>
                <a:latin typeface="Times New Roman"/>
                <a:ea typeface="Times New Roman"/>
                <a:cs typeface="Times New Roman"/>
                <a:sym typeface="Times New Roman"/>
              </a:rPr>
              <a:t>, “Apache Spark: A Unified Engine for Big Data Processing,” Commun. ACM, vol. 59, no. 11, 2016.</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[3] X. Meng </a:t>
            </a:r>
            <a:r>
              <a:rPr lang="en-IN" sz="1200" b="0" i="1" u="none" strike="noStrike" cap="none">
                <a:solidFill>
                  <a:srgbClr val="000000"/>
                </a:solidFill>
                <a:latin typeface="Times New Roman"/>
                <a:ea typeface="Times New Roman"/>
                <a:cs typeface="Times New Roman"/>
                <a:sym typeface="Times New Roman"/>
              </a:rPr>
              <a:t>et al.</a:t>
            </a:r>
            <a:r>
              <a:rPr lang="en-IN" sz="1200" b="0" i="0" u="none" strike="noStrike" cap="none">
                <a:solidFill>
                  <a:srgbClr val="000000"/>
                </a:solidFill>
                <a:latin typeface="Times New Roman"/>
                <a:ea typeface="Times New Roman"/>
                <a:cs typeface="Times New Roman"/>
                <a:sym typeface="Times New Roman"/>
              </a:rPr>
              <a:t>, “MLlib: Machine Learning in Apache Spark,” J. Mach. Learn. Res., vol. 17, no. 34, 2016.</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[4] M. Stonebraker </a:t>
            </a:r>
            <a:r>
              <a:rPr lang="en-IN" sz="1200" b="0" i="1" u="none" strike="noStrike" cap="none">
                <a:solidFill>
                  <a:srgbClr val="000000"/>
                </a:solidFill>
                <a:latin typeface="Times New Roman"/>
                <a:ea typeface="Times New Roman"/>
                <a:cs typeface="Times New Roman"/>
                <a:sym typeface="Times New Roman"/>
              </a:rPr>
              <a:t>et al.</a:t>
            </a:r>
            <a:r>
              <a:rPr lang="en-IN" sz="1200" b="0" i="0" u="none" strike="noStrike" cap="none">
                <a:solidFill>
                  <a:srgbClr val="000000"/>
                </a:solidFill>
                <a:latin typeface="Times New Roman"/>
                <a:ea typeface="Times New Roman"/>
                <a:cs typeface="Times New Roman"/>
                <a:sym typeface="Times New Roman"/>
              </a:rPr>
              <a:t>, “C-Store: A Column-oriented DBMS,” Proc. VLDB, 2005.</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[5] N. V. Chawla </a:t>
            </a:r>
            <a:r>
              <a:rPr lang="en-IN" sz="1200" b="0" i="1" u="none" strike="noStrike" cap="none">
                <a:solidFill>
                  <a:srgbClr val="000000"/>
                </a:solidFill>
                <a:latin typeface="Times New Roman"/>
                <a:ea typeface="Times New Roman"/>
                <a:cs typeface="Times New Roman"/>
                <a:sym typeface="Times New Roman"/>
              </a:rPr>
              <a:t>et al.</a:t>
            </a:r>
            <a:r>
              <a:rPr lang="en-IN" sz="1200" b="0" i="0" u="none" strike="noStrike" cap="none">
                <a:solidFill>
                  <a:srgbClr val="000000"/>
                </a:solidFill>
                <a:latin typeface="Times New Roman"/>
                <a:ea typeface="Times New Roman"/>
                <a:cs typeface="Times New Roman"/>
                <a:sym typeface="Times New Roman"/>
              </a:rPr>
              <a:t>, “SMOTE: Synthetic Minority Over-sampling Technique,” J. Artif. Intell. Res., vol. 16, 2002.</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[6] T. Saito and M. Rehmsmeier, “The Precision-Recall Plot Is More Informative than the ROC Plot…,” </a:t>
            </a:r>
            <a:r>
              <a:rPr lang="en-IN" sz="1200" b="0" i="1" u="none" strike="noStrike" cap="none">
                <a:solidFill>
                  <a:srgbClr val="000000"/>
                </a:solidFill>
                <a:latin typeface="Times New Roman"/>
                <a:ea typeface="Times New Roman"/>
                <a:cs typeface="Times New Roman"/>
                <a:sym typeface="Times New Roman"/>
              </a:rPr>
              <a:t>PLoS ONE</a:t>
            </a:r>
            <a:r>
              <a:rPr lang="en-IN" sz="1200" b="0" i="0" u="none" strike="noStrike" cap="none">
                <a:solidFill>
                  <a:srgbClr val="000000"/>
                </a:solidFill>
                <a:latin typeface="Times New Roman"/>
                <a:ea typeface="Times New Roman"/>
                <a:cs typeface="Times New Roman"/>
                <a:sym typeface="Times New Roman"/>
              </a:rPr>
              <a:t>, vol. 10, no. 3, 2015.</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[7] M. Raasveldt and H. Muhleisen, “DuckDB: an Embeddable Analytical Database,” </a:t>
            </a:r>
            <a:r>
              <a:rPr lang="en-IN" sz="1200" b="0" i="1" u="none" strike="noStrike" cap="none">
                <a:solidFill>
                  <a:srgbClr val="000000"/>
                </a:solidFill>
                <a:latin typeface="Times New Roman"/>
                <a:ea typeface="Times New Roman"/>
                <a:cs typeface="Times New Roman"/>
                <a:sym typeface="Times New Roman"/>
              </a:rPr>
              <a:t>Proc. ACM SIGMOD</a:t>
            </a:r>
            <a:r>
              <a:rPr lang="en-IN" sz="1200" b="0" i="0" u="none" strike="noStrike" cap="none">
                <a:solidFill>
                  <a:srgbClr val="000000"/>
                </a:solidFill>
                <a:latin typeface="Times New Roman"/>
                <a:ea typeface="Times New Roman"/>
                <a:cs typeface="Times New Roman"/>
                <a:sym typeface="Times New Roman"/>
              </a:rPr>
              <a:t>, 2019.</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[8] V. Leis, A. Kemper and T. Neumann, “The Adaptive Radix Tree: ARTful Indexing for Main-Memory Databases,” </a:t>
            </a:r>
            <a:r>
              <a:rPr lang="en-IN" sz="1200" b="0" i="1" u="none" strike="noStrike" cap="none">
                <a:solidFill>
                  <a:srgbClr val="000000"/>
                </a:solidFill>
                <a:latin typeface="Times New Roman"/>
                <a:ea typeface="Times New Roman"/>
                <a:cs typeface="Times New Roman"/>
                <a:sym typeface="Times New Roman"/>
              </a:rPr>
              <a:t>Proc. IEEE ICDE</a:t>
            </a:r>
            <a:r>
              <a:rPr lang="en-IN" sz="1200" b="0" i="0" u="none" strike="noStrike" cap="none">
                <a:solidFill>
                  <a:srgbClr val="000000"/>
                </a:solidFill>
                <a:latin typeface="Times New Roman"/>
                <a:ea typeface="Times New Roman"/>
                <a:cs typeface="Times New Roman"/>
                <a:sym typeface="Times New Roman"/>
              </a:rPr>
              <a:t>, 2013.</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[9] Apache Spark Documentation, Spark SQL and MLlib guides. </a:t>
            </a:r>
            <a:r>
              <a:rPr lang="en-IN" sz="1200" b="0" i="1" u="none" strike="noStrike" cap="none">
                <a:solidFill>
                  <a:srgbClr val="000000"/>
                </a:solidFill>
                <a:latin typeface="Times New Roman"/>
                <a:ea typeface="Times New Roman"/>
                <a:cs typeface="Times New Roman"/>
                <a:sym typeface="Times New Roman"/>
              </a:rPr>
              <a:t>spark.apache.org/docs/latest</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[10] Apache Parquet Documentation. </a:t>
            </a:r>
            <a:r>
              <a:rPr lang="en-IN" sz="1200" b="0" i="1" u="none" strike="noStrike" cap="none">
                <a:solidFill>
                  <a:srgbClr val="000000"/>
                </a:solidFill>
                <a:latin typeface="Times New Roman"/>
                <a:ea typeface="Times New Roman"/>
                <a:cs typeface="Times New Roman"/>
                <a:sym typeface="Times New Roman"/>
              </a:rPr>
              <a:t>parquet.apache.org/docs</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[11] MongoDB Documentation, Indexes (TTL and partial). </a:t>
            </a:r>
            <a:r>
              <a:rPr lang="en-IN" sz="1200" b="0" i="1" u="none" strike="noStrike" cap="none">
                <a:solidFill>
                  <a:srgbClr val="000000"/>
                </a:solidFill>
                <a:latin typeface="Times New Roman"/>
                <a:ea typeface="Times New Roman"/>
                <a:cs typeface="Times New Roman"/>
                <a:sym typeface="Times New Roman"/>
              </a:rPr>
              <a:t>mongodb.com/docs/manual/indexes</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[12] FastAPI Documentation. </a:t>
            </a:r>
            <a:r>
              <a:rPr lang="en-IN" sz="1200" b="0" i="1" u="none" strike="noStrike" cap="none">
                <a:solidFill>
                  <a:srgbClr val="000000"/>
                </a:solidFill>
                <a:latin typeface="Times New Roman"/>
                <a:ea typeface="Times New Roman"/>
                <a:cs typeface="Times New Roman"/>
                <a:sym typeface="Times New Roman"/>
              </a:rPr>
              <a:t>fastapi.tiangolo.com</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[13] DuckDB Documentation. </a:t>
            </a:r>
            <a:r>
              <a:rPr lang="en-IN" sz="1200" b="0" i="1" u="none" strike="noStrike" cap="none">
                <a:solidFill>
                  <a:srgbClr val="000000"/>
                </a:solidFill>
                <a:latin typeface="Times New Roman"/>
                <a:ea typeface="Times New Roman"/>
                <a:cs typeface="Times New Roman"/>
                <a:sym typeface="Times New Roman"/>
              </a:rPr>
              <a:t>duckdb.org/docs</a:t>
            </a:r>
            <a:endParaRPr sz="1400" b="0" i="0" u="none" strike="noStrike" cap="none">
              <a:solidFill>
                <a:srgbClr val="000000"/>
              </a:solidFill>
              <a:latin typeface="Times New Roman"/>
              <a:ea typeface="Times New Roman"/>
              <a:cs typeface="Times New Roman"/>
              <a:sym typeface="Times New Roman"/>
            </a:endParaRPr>
          </a:p>
          <a:p>
            <a:pPr marL="0" marR="0" lvl="0" indent="0" algn="just" rtl="0">
              <a:lnSpc>
                <a:spcPct val="100000"/>
              </a:lnSpc>
              <a:spcBef>
                <a:spcPts val="0"/>
              </a:spcBef>
              <a:spcAft>
                <a:spcPts val="0"/>
              </a:spcAft>
              <a:buClr>
                <a:srgbClr val="000000"/>
              </a:buClr>
              <a:buSzPts val="1200"/>
              <a:buFont typeface="Times New Roman"/>
              <a:buNone/>
            </a:pPr>
            <a:r>
              <a:rPr lang="en-IN" sz="1200" b="0" i="0" u="none" strike="noStrike" cap="none">
                <a:solidFill>
                  <a:srgbClr val="000000"/>
                </a:solidFill>
                <a:latin typeface="Times New Roman"/>
                <a:ea typeface="Times New Roman"/>
                <a:cs typeface="Times New Roman"/>
                <a:sym typeface="Times New Roman"/>
              </a:rPr>
              <a:t>[14] E. A. Lopez-Rojas, A. Elmir and S. Axelsson, “PaySim: A financial mobile money simulator for fraud detection” (benchmark data), </a:t>
            </a:r>
            <a:r>
              <a:rPr lang="en-IN" sz="1200" b="0" i="1" u="none" strike="noStrike" cap="none">
                <a:solidFill>
                  <a:srgbClr val="000000"/>
                </a:solidFill>
                <a:latin typeface="Times New Roman"/>
                <a:ea typeface="Times New Roman"/>
                <a:cs typeface="Times New Roman"/>
                <a:sym typeface="Times New Roman"/>
              </a:rPr>
              <a:t>Proc. EMSS</a:t>
            </a:r>
            <a:r>
              <a:rPr lang="en-IN" sz="1200" b="0" i="0" u="none" strike="noStrike" cap="none">
                <a:solidFill>
                  <a:srgbClr val="000000"/>
                </a:solidFill>
                <a:latin typeface="Times New Roman"/>
                <a:ea typeface="Times New Roman"/>
                <a:cs typeface="Times New Roman"/>
                <a:sym typeface="Times New Roman"/>
              </a:rPr>
              <a:t>, 2016.</a:t>
            </a:r>
            <a:endParaRPr sz="140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1409</Words>
  <Application>Microsoft Office PowerPoint</Application>
  <PresentationFormat>On-screen Show (16:9)</PresentationFormat>
  <Paragraphs>147</Paragraphs>
  <Slides>9</Slides>
  <Notes>9</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9</vt:i4>
      </vt:variant>
    </vt:vector>
  </HeadingPairs>
  <TitlesOfParts>
    <vt:vector size="11" baseType="lpstr">
      <vt:lpstr>Times New Roman</vt:lpstr>
      <vt:lpstr>Simple Light</vt:lpstr>
      <vt:lpstr>PowerPoint Presentation</vt:lpstr>
      <vt:lpstr>Problem Statement</vt:lpstr>
      <vt:lpstr>Literature Survey</vt:lpstr>
      <vt:lpstr>Objectives </vt:lpstr>
      <vt:lpstr>System Architecture</vt:lpstr>
      <vt:lpstr>Proposed Solution </vt:lpstr>
      <vt:lpstr>Results</vt:lpstr>
      <vt:lpstr>Conclusion</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 Transaction Analytics and Fraud Detection</dc:title>
  <dc:creator>Jay Dhake, Samarth Ghanekar, Saahir Joshi</dc:creator>
  <cp:lastModifiedBy>Jay Dhake</cp:lastModifiedBy>
  <cp:revision>2</cp:revision>
  <dcterms:modified xsi:type="dcterms:W3CDTF">2026-10-15T04:18:26Z</dcterms:modified>
</cp:coreProperties>
</file>