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gy+3gO/eXCe6PWyUUiV6gijtUO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6A4A503-B986-45E2-8678-F1D963D36F8F}">
  <a:tblStyle styleId="{66A4A503-B986-45E2-8678-F1D963D36F8F}" styleName="Table_0">
    <a:wholeTbl>
      <a:tcTxStyle b="off" i="off">
        <a:font>
          <a:latin typeface="Times New Roman"/>
          <a:ea typeface="Times New Roman"/>
          <a:cs typeface="Times New Roman"/>
        </a:font>
        <a:schemeClr val="dk1"/>
      </a:tcTxStyle>
      <a:tcStyle>
        <a:tcBdr>
          <a:left>
            <a:ln cap="flat" cmpd="sng" w="12700">
              <a:solidFill>
                <a:schemeClr val="accent2"/>
              </a:solidFill>
              <a:prstDash val="solid"/>
              <a:round/>
              <a:headEnd len="sm" w="sm" type="none"/>
              <a:tailEnd len="sm" w="sm" type="none"/>
            </a:ln>
          </a:left>
          <a:right>
            <a:ln cap="flat" cmpd="sng" w="12700">
              <a:solidFill>
                <a:schemeClr val="accent2"/>
              </a:solidFill>
              <a:prstDash val="solid"/>
              <a:round/>
              <a:headEnd len="sm" w="sm" type="none"/>
              <a:tailEnd len="sm" w="sm" type="none"/>
            </a:ln>
          </a:right>
          <a:top>
            <a:ln cap="flat" cmpd="sng" w="12700">
              <a:solidFill>
                <a:schemeClr val="accent2"/>
              </a:solidFill>
              <a:prstDash val="solid"/>
              <a:round/>
              <a:headEnd len="sm" w="sm" type="none"/>
              <a:tailEnd len="sm" w="sm" type="none"/>
            </a:ln>
          </a:top>
          <a:bottom>
            <a:ln cap="flat" cmpd="sng" w="12700">
              <a:solidFill>
                <a:schemeClr val="accent2"/>
              </a:solidFill>
              <a:prstDash val="solid"/>
              <a:round/>
              <a:headEnd len="sm" w="sm" type="none"/>
              <a:tailEnd len="sm" w="sm" type="none"/>
            </a:ln>
          </a:bottom>
          <a:insideH>
            <a:ln cap="flat" cmpd="sng" w="12700">
              <a:solidFill>
                <a:schemeClr val="accent2"/>
              </a:solidFill>
              <a:prstDash val="solid"/>
              <a:round/>
              <a:headEnd len="sm" w="sm" type="none"/>
              <a:tailEnd len="sm" w="sm" type="none"/>
            </a:ln>
          </a:insideH>
          <a:insideV>
            <a:ln cap="flat" cmpd="sng" w="12700">
              <a:solidFill>
                <a:schemeClr val="accent2"/>
              </a:solidFill>
              <a:prstDash val="solid"/>
              <a:round/>
              <a:headEnd len="sm" w="sm" type="none"/>
              <a:tailEnd len="sm" w="sm" type="none"/>
            </a:ln>
          </a:insideV>
        </a:tcBdr>
        <a:fill>
          <a:solidFill>
            <a:srgbClr val="FFFFFF">
              <a:alpha val="0"/>
            </a:srgbClr>
          </a:solidFill>
        </a:fill>
      </a:tcStyle>
    </a:wholeTbl>
    <a:band1H>
      <a:tcTxStyle b="off" i="off"/>
      <a:tcStyle>
        <a:fill>
          <a:solidFill>
            <a:schemeClr val="accent2">
              <a:alpha val="20000"/>
            </a:schemeClr>
          </a:solidFill>
        </a:fill>
      </a:tcStyle>
    </a:band1H>
    <a:band2H>
      <a:tcTxStyle b="off" i="off"/>
    </a:band2H>
    <a:band1V>
      <a:tcTxStyle b="off" i="off"/>
      <a:tcStyle>
        <a:fill>
          <a:solidFill>
            <a:schemeClr val="accent2">
              <a:alpha val="20000"/>
            </a:schemeClr>
          </a:solidFill>
        </a:fill>
      </a:tcStyle>
    </a:band1V>
    <a:band2V>
      <a:tcTxStyle b="off" i="off"/>
    </a:band2V>
    <a:lastCol>
      <a:tcTxStyle b="on" i="off"/>
    </a:lastCol>
    <a:firstCol>
      <a:tcTxStyle b="on" i="off"/>
    </a:firstCol>
    <a:lastRow>
      <a:tcTxStyle b="on" i="off"/>
      <a:tcStyle>
        <a:tcBdr>
          <a:top>
            <a:ln cap="flat" cmpd="sng" w="50800">
              <a:solidFill>
                <a:schemeClr val="accent2"/>
              </a:solidFill>
              <a:prstDash val="solid"/>
              <a:round/>
              <a:headEnd len="sm" w="sm" type="none"/>
              <a:tailEnd len="sm" w="sm" type="none"/>
            </a:ln>
          </a:top>
        </a:tcBdr>
        <a:fill>
          <a:solidFill>
            <a:srgbClr val="FFFFFF">
              <a:alpha val="0"/>
            </a:srgbClr>
          </a:solidFill>
        </a:fill>
      </a:tcStyle>
    </a:lastRow>
    <a:seCell>
      <a:tcTxStyle b="off" i="off"/>
    </a:seCell>
    <a:swCell>
      <a:tcTxStyle b="off" i="off"/>
    </a:swCell>
    <a:firstRow>
      <a:tcTxStyle b="on" i="off"/>
      <a:tcStyle>
        <a:tcBdr>
          <a:bottom>
            <a:ln cap="flat" cmpd="sng" w="25400">
              <a:solidFill>
                <a:schemeClr val="accent2"/>
              </a:solidFill>
              <a:prstDash val="solid"/>
              <a:round/>
              <a:headEnd len="sm" w="sm" type="none"/>
              <a:tailEnd len="sm" w="sm" type="none"/>
            </a:ln>
          </a:bottom>
        </a:tcBdr>
        <a:fill>
          <a:solidFill>
            <a:srgbClr val="FFFFFF">
              <a:alpha val="0"/>
            </a:srgbClr>
          </a:solidFill>
        </a:fill>
      </a:tcStyle>
    </a:firstRow>
    <a:neCell>
      <a:tcTxStyle b="off" i="off"/>
    </a:neCell>
    <a:nwCell>
      <a:tcTxStyle b="off" i="off"/>
    </a:nwCell>
  </a:tblStyle>
  <a:tblStyle styleId="{A2CE560F-E46D-4558-8A09-8A56FFD5A36B}" styleName="Table_1">
    <a:wholeTbl>
      <a:tcTxStyle b="off" i="off">
        <a:font>
          <a:latin typeface="Times New Roman"/>
          <a:ea typeface="Times New Roman"/>
          <a:cs typeface="Times New Roman"/>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b="off" i="off"/>
      <a:tcStyle>
        <a:fill>
          <a:solidFill>
            <a:srgbClr val="CDD8FB"/>
          </a:solidFill>
        </a:fill>
      </a:tcStyle>
    </a:band1H>
    <a:band2H>
      <a:tcTxStyle b="off" i="off"/>
    </a:band2H>
    <a:band1V>
      <a:tcTxStyle b="off" i="off"/>
      <a:tcStyle>
        <a:fill>
          <a:solidFill>
            <a:srgbClr val="CDD8FB"/>
          </a:solidFill>
        </a:fill>
      </a:tcStyle>
    </a:band1V>
    <a:band2V>
      <a:tcTxStyle b="off" i="off"/>
    </a:band2V>
    <a:lastCol>
      <a:tcTxStyle b="on" i="off">
        <a:font>
          <a:latin typeface="Times New Roman"/>
          <a:ea typeface="Times New Roman"/>
          <a:cs typeface="Times New Roman"/>
        </a:font>
        <a:schemeClr val="lt1"/>
      </a:tcTxStyle>
      <a:tcStyle>
        <a:fill>
          <a:solidFill>
            <a:schemeClr val="accent1"/>
          </a:solidFill>
        </a:fill>
      </a:tcStyle>
    </a:lastCol>
    <a:firstCol>
      <a:tcTxStyle b="on" i="off">
        <a:font>
          <a:latin typeface="Times New Roman"/>
          <a:ea typeface="Times New Roman"/>
          <a:cs typeface="Times New Roman"/>
        </a:font>
        <a:schemeClr val="lt1"/>
      </a:tcTxStyle>
      <a:tcStyle>
        <a:fill>
          <a:solidFill>
            <a:schemeClr val="accent1"/>
          </a:solidFill>
        </a:fill>
      </a:tcStyle>
    </a:firstCol>
    <a:lastRow>
      <a:tcTxStyle b="on" i="off">
        <a:font>
          <a:latin typeface="Times New Roman"/>
          <a:ea typeface="Times New Roman"/>
          <a:cs typeface="Times New Roman"/>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Times New Roman"/>
          <a:ea typeface="Times New Roman"/>
          <a:cs typeface="Times New Roman"/>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1pPr>
            <a:lvl2pPr indent="-298450" lvl="1" marL="9144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2pPr>
            <a:lvl3pPr indent="-298450" lvl="2" marL="13716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3pPr>
            <a:lvl4pPr indent="-298450" lvl="3" marL="18288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4pPr>
            <a:lvl5pPr indent="-298450" lvl="4" marL="22860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5pPr>
            <a:lvl6pPr indent="-298450" lvl="5" marL="27432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6pPr>
            <a:lvl7pPr indent="-298450" lvl="6" marL="32004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7pPr>
            <a:lvl8pPr indent="-298450" lvl="7" marL="36576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8pPr>
            <a:lvl9pPr indent="-298450" lvl="8" marL="4114800" marR="0" rtl="0" algn="l">
              <a:lnSpc>
                <a:spcPct val="100000"/>
              </a:lnSpc>
              <a:spcBef>
                <a:spcPts val="0"/>
              </a:spcBef>
              <a:spcAft>
                <a:spcPts val="0"/>
              </a:spcAft>
              <a:buClr>
                <a:srgbClr val="000000"/>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1:notes"/>
          <p:cNvSpPr txBox="1"/>
          <p:nvPr>
            <p:ph idx="1" type="body"/>
          </p:nvPr>
        </p:nvSpPr>
        <p:spPr>
          <a:xfrm>
            <a:off x="685800" y="4400551"/>
            <a:ext cx="5486400" cy="3600300"/>
          </a:xfrm>
          <a:prstGeom prst="rect">
            <a:avLst/>
          </a:prstGeom>
          <a:noFill/>
          <a:ln>
            <a:noFill/>
          </a:ln>
        </p:spPr>
        <p:txBody>
          <a:bodyPr anchorCtr="0" anchor="t" bIns="45700" lIns="91425" spcFirstLastPara="1" rIns="91425" wrap="square" tIns="45700">
            <a:noAutofit/>
          </a:bodyPr>
          <a:lstStyle/>
          <a:p>
            <a:r>
              <a:t>Introduce the project, the team and the guide. One sentence: a fraud analytics platform that takes transaction data from a batch pipeline or a CSV upload to model scores, instant search and investigated cases.</a:t>
            </a:r>
          </a:p>
        </p:txBody>
      </p:sp>
      <p:sp>
        <p:nvSpPr>
          <p:cNvPr id="66" name="Google Shape;6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2:notes"/>
          <p:cNvSpPr txBox="1"/>
          <p:nvPr>
            <p:ph idx="1" type="body"/>
          </p:nvPr>
        </p:nvSpPr>
        <p:spPr>
          <a:xfrm>
            <a:off x="685800" y="4400551"/>
            <a:ext cx="5486400" cy="3600300"/>
          </a:xfrm>
          <a:prstGeom prst="rect">
            <a:avLst/>
          </a:prstGeom>
          <a:noFill/>
          <a:ln>
            <a:noFill/>
          </a:ln>
        </p:spPr>
        <p:txBody>
          <a:bodyPr anchorCtr="0" anchor="t" bIns="91425" lIns="91425" spcFirstLastPara="1" rIns="91425" wrap="square" tIns="91425">
            <a:noAutofit/>
          </a:bodyPr>
          <a:lstStyle/>
          <a:p>
            <a:r>
              <a:t>The problem is not only detecting fraud but working with it: rare events, scale, slow lookups and no workflow. The gap is a complete platform: scalable processing, accurate detection, millisecond search, a case workflow and file upload.</a:t>
            </a:r>
          </a:p>
        </p:txBody>
      </p:sp>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3:notes"/>
          <p:cNvSpPr txBox="1"/>
          <p:nvPr>
            <p:ph idx="1" type="body"/>
          </p:nvPr>
        </p:nvSpPr>
        <p:spPr>
          <a:xfrm>
            <a:off x="685800" y="4400551"/>
            <a:ext cx="5486400" cy="3600300"/>
          </a:xfrm>
          <a:prstGeom prst="rect">
            <a:avLst/>
          </a:prstGeom>
          <a:noFill/>
          <a:ln>
            <a:noFill/>
          </a:ln>
        </p:spPr>
        <p:txBody>
          <a:bodyPr anchorCtr="0" anchor="t" bIns="91425" lIns="91425" spcFirstLastPara="1" rIns="91425" wrap="square" tIns="91425">
            <a:noAutofit/>
          </a:bodyPr>
          <a:lstStyle/>
          <a:p>
            <a:r>
              <a:t>Foundations: Random Forests for the model, Spark for the batch pipeline, MLlib for training at scale.</a:t>
            </a:r>
          </a:p>
        </p:txBody>
      </p:sp>
      <p:sp>
        <p:nvSpPr>
          <p:cNvPr id="78" name="Google Shape;7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4:notes"/>
          <p:cNvSpPr txBox="1"/>
          <p:nvPr>
            <p:ph idx="1" type="body"/>
          </p:nvPr>
        </p:nvSpPr>
        <p:spPr>
          <a:xfrm>
            <a:off x="685800" y="4400551"/>
            <a:ext cx="5486400" cy="3600300"/>
          </a:xfrm>
          <a:prstGeom prst="rect">
            <a:avLst/>
          </a:prstGeom>
          <a:noFill/>
          <a:ln>
            <a:noFill/>
          </a:ln>
        </p:spPr>
        <p:txBody>
          <a:bodyPr anchorCtr="0" anchor="t" bIns="91425" lIns="91425" spcFirstLastPara="1" rIns="91425" wrap="square" tIns="91425">
            <a:noAutofit/>
          </a:bodyPr>
          <a:lstStyle/>
          <a:p>
            <a:r>
              <a:t>Why columnar storage (C-Store), how others handle imbalance (SMOTE), and why we use precision-recall metrics.</a:t>
            </a:r>
          </a:p>
        </p:txBody>
      </p:sp>
      <p:sp>
        <p:nvSpPr>
          <p:cNvPr id="85" name="Google Shape;8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5:notes"/>
          <p:cNvSpPr txBox="1"/>
          <p:nvPr>
            <p:ph idx="1" type="body"/>
          </p:nvPr>
        </p:nvSpPr>
        <p:spPr>
          <a:xfrm>
            <a:off x="685800" y="4400551"/>
            <a:ext cx="5486400" cy="3600300"/>
          </a:xfrm>
          <a:prstGeom prst="rect">
            <a:avLst/>
          </a:prstGeom>
          <a:noFill/>
          <a:ln>
            <a:noFill/>
          </a:ln>
        </p:spPr>
        <p:txBody>
          <a:bodyPr anchorCtr="0" anchor="t" bIns="91425" lIns="91425" spcFirstLastPara="1" rIns="91425" wrap="square" tIns="91425">
            <a:noAutofit/>
          </a:bodyPr>
          <a:lstStyle/>
          <a:p>
            <a:r>
              <a:t>The two papers behind the search: DuckDB as the analytical engine and the adaptive radix tree as the index.</a:t>
            </a:r>
          </a:p>
        </p:txBody>
      </p:sp>
      <p:sp>
        <p:nvSpPr>
          <p:cNvPr id="92" name="Google Shape;9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Four objectives: scalable processing for any data, accurate detection, instant search on every dataset, and a workflow for investigation.</a:t>
            </a:r>
          </a:p>
        </p:txBody>
      </p:sp>
      <p:sp>
        <p:nvSpPr>
          <p:cNvPr id="99" name="Google Shape;99;p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Two ways in: bulk historical data goes through the Spark batch pipeline; uploaded CSV files go through the streaming upload job. Both produce the same things: scores from the trained model, a search index and analytics. One REST API serves the web interface, and the interface works on whichever dataset is selected.</a:t>
            </a:r>
          </a:p>
        </p:txBody>
      </p:sp>
      <p:sp>
        <p:nvSpPr>
          <p:cNvPr id="108" name="Google Shape;108;p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Five parts: the data platform with two ways in, the fraud model, millisecond search on every dataset, case management, and one interface over a REST API.</a:t>
            </a:r>
          </a:p>
        </p:txBody>
      </p:sp>
      <p:sp>
        <p:nvSpPr>
          <p:cNvPr id="115" name="Google Shape;115;p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Table 1: the Random Forest finds 2,401 of 2,407 frauds with 17 false alarms; the baseline raises 48,466. Table 2 shows the platform: indexed lookup 574 times faster than a Spark scan, fast suggestions, high scoring throughput, and uploads of 8 million rows scored and indexed in about 70 seconds. On an unseen uploaded file recall stays high but precision drops to 51.8%.</a:t>
            </a:r>
          </a:p>
        </p:txBody>
      </p:sp>
      <p:sp>
        <p:nvSpPr>
          <p:cNvPr id="121" name="Google Shape;121;p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Summarise: one platform from data to investigated case, an accurate model, instant search on every dataset, a full case workflow and upload at scale. Be open about the limits: simulated data, local-mode Spark and no authentication.</a:t>
            </a:r>
          </a:p>
        </p:txBody>
      </p:sp>
      <p:sp>
        <p:nvSpPr>
          <p:cNvPr id="131" name="Google Shape;131;p1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Foundational papers for the model, the engine, columnar storage, the evaluation and the index, the documentation of the tools used, and the benchmark data.</a:t>
            </a:r>
          </a:p>
        </p:txBody>
      </p:sp>
      <p:sp>
        <p:nvSpPr>
          <p:cNvPr id="138" name="Google Shape;138;p1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showMasterSp="0" type="obj">
  <p:cSld name="OBJECT">
    <p:bg>
      <p:bgPr>
        <a:solidFill>
          <a:schemeClr val="lt1"/>
        </a:solidFill>
      </p:bgPr>
    </p:bg>
    <p:spTree>
      <p:nvGrpSpPr>
        <p:cNvPr id="9" name="Shape 9"/>
        <p:cNvGrpSpPr/>
        <p:nvPr/>
      </p:nvGrpSpPr>
      <p:grpSpPr>
        <a:xfrm>
          <a:off x="0" y="0"/>
          <a:ext cx="0" cy="0"/>
          <a:chOff x="0" y="0"/>
          <a:chExt cx="0" cy="0"/>
        </a:xfrm>
      </p:grpSpPr>
      <p:pic>
        <p:nvPicPr>
          <p:cNvPr id="10" name="Google Shape;10;p14"/>
          <p:cNvPicPr preferRelativeResize="0"/>
          <p:nvPr/>
        </p:nvPicPr>
        <p:blipFill rotWithShape="1">
          <a:blip r:embed="rId2">
            <a:alphaModFix/>
          </a:blip>
          <a:srcRect b="0" l="0" r="0" t="0"/>
          <a:stretch/>
        </p:blipFill>
        <p:spPr>
          <a:xfrm>
            <a:off x="0" y="4800600"/>
            <a:ext cx="9144000" cy="342899"/>
          </a:xfrm>
          <a:prstGeom prst="rect">
            <a:avLst/>
          </a:prstGeom>
          <a:noFill/>
          <a:ln>
            <a:noFill/>
          </a:ln>
        </p:spPr>
      </p:pic>
      <p:pic>
        <p:nvPicPr>
          <p:cNvPr id="11" name="Google Shape;11;p14"/>
          <p:cNvPicPr preferRelativeResize="0"/>
          <p:nvPr/>
        </p:nvPicPr>
        <p:blipFill rotWithShape="1">
          <a:blip r:embed="rId3">
            <a:alphaModFix/>
          </a:blip>
          <a:srcRect b="0" l="0" r="0" t="0"/>
          <a:stretch/>
        </p:blipFill>
        <p:spPr>
          <a:xfrm>
            <a:off x="8133347" y="249511"/>
            <a:ext cx="726408" cy="541439"/>
          </a:xfrm>
          <a:prstGeom prst="rect">
            <a:avLst/>
          </a:prstGeom>
          <a:noFill/>
          <a:ln>
            <a:noFill/>
          </a:ln>
        </p:spPr>
      </p:pic>
      <p:pic>
        <p:nvPicPr>
          <p:cNvPr id="12" name="Google Shape;12;p14"/>
          <p:cNvPicPr preferRelativeResize="0"/>
          <p:nvPr/>
        </p:nvPicPr>
        <p:blipFill rotWithShape="1">
          <a:blip r:embed="rId4">
            <a:alphaModFix/>
          </a:blip>
          <a:srcRect b="0" l="0" r="0" t="0"/>
          <a:stretch/>
        </p:blipFill>
        <p:spPr>
          <a:xfrm>
            <a:off x="0" y="4541041"/>
            <a:ext cx="430287" cy="259560"/>
          </a:xfrm>
          <a:prstGeom prst="rect">
            <a:avLst/>
          </a:prstGeom>
          <a:noFill/>
          <a:ln>
            <a:noFill/>
          </a:ln>
        </p:spPr>
      </p:pic>
      <p:pic>
        <p:nvPicPr>
          <p:cNvPr id="13" name="Google Shape;13;p14"/>
          <p:cNvPicPr preferRelativeResize="0"/>
          <p:nvPr/>
        </p:nvPicPr>
        <p:blipFill rotWithShape="1">
          <a:blip r:embed="rId5">
            <a:alphaModFix/>
          </a:blip>
          <a:srcRect b="0" l="0" r="0" t="0"/>
          <a:stretch/>
        </p:blipFill>
        <p:spPr>
          <a:xfrm>
            <a:off x="268819" y="128831"/>
            <a:ext cx="3143126" cy="541443"/>
          </a:xfrm>
          <a:prstGeom prst="rect">
            <a:avLst/>
          </a:prstGeom>
          <a:noFill/>
          <a:ln>
            <a:noFill/>
          </a:ln>
        </p:spPr>
      </p:pic>
      <p:sp>
        <p:nvSpPr>
          <p:cNvPr id="14" name="Google Shape;14;p14"/>
          <p:cNvSpPr txBox="1"/>
          <p:nvPr>
            <p:ph idx="11" type="ftr"/>
          </p:nvPr>
        </p:nvSpPr>
        <p:spPr>
          <a:xfrm>
            <a:off x="3744682" y="4850796"/>
            <a:ext cx="1653600" cy="1335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100"/>
              <a:buFont typeface="Times New Roman"/>
              <a:buNone/>
              <a:defRPr b="0" i="0" sz="900" u="none" cap="none" strike="noStrike">
                <a:solidFill>
                  <a:srgbClr val="888888"/>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9pPr>
          </a:lstStyle>
          <a:p/>
        </p:txBody>
      </p:sp>
      <p:sp>
        <p:nvSpPr>
          <p:cNvPr id="15" name="Google Shape;15;p14"/>
          <p:cNvSpPr txBox="1"/>
          <p:nvPr>
            <p:ph idx="10" type="dt"/>
          </p:nvPr>
        </p:nvSpPr>
        <p:spPr>
          <a:xfrm>
            <a:off x="683419" y="4850796"/>
            <a:ext cx="570300" cy="1335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100"/>
              <a:buFont typeface="Times New Roman"/>
              <a:buNone/>
              <a:defRPr b="0" i="0" sz="900" u="none" cap="none" strike="noStrike">
                <a:solidFill>
                  <a:srgbClr val="888888"/>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9pPr>
          </a:lstStyle>
          <a:p/>
        </p:txBody>
      </p:sp>
      <p:sp>
        <p:nvSpPr>
          <p:cNvPr id="16" name="Google Shape;16;p14"/>
          <p:cNvSpPr txBox="1"/>
          <p:nvPr>
            <p:ph idx="12" type="sldNum"/>
          </p:nvPr>
        </p:nvSpPr>
        <p:spPr>
          <a:xfrm>
            <a:off x="8364550" y="4850796"/>
            <a:ext cx="115200" cy="138600"/>
          </a:xfrm>
          <a:prstGeom prst="rect">
            <a:avLst/>
          </a:prstGeom>
          <a:noFill/>
          <a:ln>
            <a:noFill/>
          </a:ln>
        </p:spPr>
        <p:txBody>
          <a:bodyPr anchorCtr="0" anchor="t" bIns="0" lIns="0" spcFirstLastPara="1" rIns="0" wrap="square" tIns="0">
            <a:spAutoFit/>
          </a:bodyPr>
          <a:lstStyle>
            <a:lvl1pPr indent="0" lvl="0"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1pPr>
            <a:lvl2pPr indent="0" lvl="1"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2pPr>
            <a:lvl3pPr indent="0" lvl="2"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3pPr>
            <a:lvl4pPr indent="0" lvl="3"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4pPr>
            <a:lvl5pPr indent="0" lvl="4"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5pPr>
            <a:lvl6pPr indent="0" lvl="5"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6pPr>
            <a:lvl7pPr indent="0" lvl="6"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7pPr>
            <a:lvl8pPr indent="0" lvl="7"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8pPr>
            <a:lvl9pPr indent="0" lvl="8"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9pPr>
          </a:lstStyle>
          <a:p>
            <a:pPr indent="0" lvl="0" marL="25400" rtl="0" algn="l">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solidFill>
          <a:schemeClr val="lt1"/>
        </a:solidFill>
      </p:bgPr>
    </p:bg>
    <p:spTree>
      <p:nvGrpSpPr>
        <p:cNvPr id="17" name="Shape 17"/>
        <p:cNvGrpSpPr/>
        <p:nvPr/>
      </p:nvGrpSpPr>
      <p:grpSpPr>
        <a:xfrm>
          <a:off x="0" y="0"/>
          <a:ext cx="0" cy="0"/>
          <a:chOff x="0" y="0"/>
          <a:chExt cx="0" cy="0"/>
        </a:xfrm>
      </p:grpSpPr>
      <p:pic>
        <p:nvPicPr>
          <p:cNvPr id="18" name="Google Shape;18;p15"/>
          <p:cNvPicPr preferRelativeResize="0"/>
          <p:nvPr/>
        </p:nvPicPr>
        <p:blipFill rotWithShape="1">
          <a:blip r:embed="rId2">
            <a:alphaModFix/>
          </a:blip>
          <a:srcRect b="0" l="0" r="0" t="0"/>
          <a:stretch/>
        </p:blipFill>
        <p:spPr>
          <a:xfrm>
            <a:off x="8816258" y="3652"/>
            <a:ext cx="327742" cy="5139846"/>
          </a:xfrm>
          <a:prstGeom prst="rect">
            <a:avLst/>
          </a:prstGeom>
          <a:noFill/>
          <a:ln>
            <a:noFill/>
          </a:ln>
        </p:spPr>
      </p:pic>
      <p:pic>
        <p:nvPicPr>
          <p:cNvPr id="19" name="Google Shape;19;p15"/>
          <p:cNvPicPr preferRelativeResize="0"/>
          <p:nvPr/>
        </p:nvPicPr>
        <p:blipFill rotWithShape="1">
          <a:blip r:embed="rId3">
            <a:alphaModFix/>
          </a:blip>
          <a:srcRect b="0" l="0" r="0" t="0"/>
          <a:stretch/>
        </p:blipFill>
        <p:spPr>
          <a:xfrm>
            <a:off x="413124" y="4236787"/>
            <a:ext cx="726408" cy="541439"/>
          </a:xfrm>
          <a:prstGeom prst="rect">
            <a:avLst/>
          </a:prstGeom>
          <a:noFill/>
          <a:ln>
            <a:noFill/>
          </a:ln>
        </p:spPr>
      </p:pic>
      <p:pic>
        <p:nvPicPr>
          <p:cNvPr id="20" name="Google Shape;20;p15"/>
          <p:cNvPicPr preferRelativeResize="0"/>
          <p:nvPr/>
        </p:nvPicPr>
        <p:blipFill rotWithShape="1">
          <a:blip r:embed="rId4">
            <a:alphaModFix/>
          </a:blip>
          <a:srcRect b="0" l="0" r="0" t="0"/>
          <a:stretch/>
        </p:blipFill>
        <p:spPr>
          <a:xfrm>
            <a:off x="7046288" y="0"/>
            <a:ext cx="2097710" cy="414655"/>
          </a:xfrm>
          <a:prstGeom prst="rect">
            <a:avLst/>
          </a:prstGeom>
          <a:noFill/>
          <a:ln>
            <a:noFill/>
          </a:ln>
        </p:spPr>
      </p:pic>
      <p:pic>
        <p:nvPicPr>
          <p:cNvPr id="21" name="Google Shape;21;p15"/>
          <p:cNvPicPr preferRelativeResize="0"/>
          <p:nvPr/>
        </p:nvPicPr>
        <p:blipFill rotWithShape="1">
          <a:blip r:embed="rId5">
            <a:alphaModFix/>
          </a:blip>
          <a:srcRect b="0" l="0" r="0" t="0"/>
          <a:stretch/>
        </p:blipFill>
        <p:spPr>
          <a:xfrm>
            <a:off x="214446" y="114300"/>
            <a:ext cx="751668" cy="772567"/>
          </a:xfrm>
          <a:prstGeom prst="rect">
            <a:avLst/>
          </a:prstGeom>
          <a:noFill/>
          <a:ln>
            <a:noFill/>
          </a:ln>
        </p:spPr>
      </p:pic>
      <p:sp>
        <p:nvSpPr>
          <p:cNvPr id="22" name="Google Shape;22;p15"/>
          <p:cNvSpPr txBox="1"/>
          <p:nvPr>
            <p:ph type="title"/>
          </p:nvPr>
        </p:nvSpPr>
        <p:spPr>
          <a:xfrm>
            <a:off x="2029399" y="157258"/>
            <a:ext cx="5085300" cy="3735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2800"/>
              <a:buNone/>
              <a:defRPr b="1" i="0" sz="2300">
                <a:solidFill>
                  <a:srgbClr val="C00000"/>
                </a:solidFill>
                <a:latin typeface="Times New Roman"/>
                <a:ea typeface="Times New Roman"/>
                <a:cs typeface="Times New Roman"/>
                <a:sym typeface="Times New Roman"/>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3" name="Google Shape;23;p15"/>
          <p:cNvSpPr txBox="1"/>
          <p:nvPr>
            <p:ph idx="11" type="ftr"/>
          </p:nvPr>
        </p:nvSpPr>
        <p:spPr>
          <a:xfrm>
            <a:off x="3744682" y="4850796"/>
            <a:ext cx="1653600" cy="1335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Times New Roman"/>
              <a:buNone/>
              <a:defRPr b="0" i="0" sz="900" u="none" cap="none" strike="noStrike">
                <a:solidFill>
                  <a:srgbClr val="888888"/>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9pPr>
          </a:lstStyle>
          <a:p/>
        </p:txBody>
      </p:sp>
      <p:sp>
        <p:nvSpPr>
          <p:cNvPr id="24" name="Google Shape;24;p15"/>
          <p:cNvSpPr txBox="1"/>
          <p:nvPr>
            <p:ph idx="10" type="dt"/>
          </p:nvPr>
        </p:nvSpPr>
        <p:spPr>
          <a:xfrm>
            <a:off x="683419" y="4850796"/>
            <a:ext cx="570000" cy="1335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Times New Roman"/>
              <a:buNone/>
              <a:defRPr b="0" i="0" sz="900" u="none" cap="none" strike="noStrike">
                <a:solidFill>
                  <a:srgbClr val="888888"/>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9pPr>
          </a:lstStyle>
          <a:p/>
        </p:txBody>
      </p:sp>
      <p:sp>
        <p:nvSpPr>
          <p:cNvPr id="25" name="Google Shape;25;p15"/>
          <p:cNvSpPr txBox="1"/>
          <p:nvPr>
            <p:ph idx="12" type="sldNum"/>
          </p:nvPr>
        </p:nvSpPr>
        <p:spPr>
          <a:xfrm>
            <a:off x="8364550" y="4850796"/>
            <a:ext cx="115200" cy="138600"/>
          </a:xfrm>
          <a:prstGeom prst="rect">
            <a:avLst/>
          </a:prstGeom>
          <a:noFill/>
          <a:ln>
            <a:noFill/>
          </a:ln>
        </p:spPr>
        <p:txBody>
          <a:bodyPr anchorCtr="0" anchor="t" bIns="0" lIns="0" spcFirstLastPara="1" rIns="0" wrap="square" tIns="0">
            <a:spAutoFit/>
          </a:bodyPr>
          <a:lstStyle>
            <a:lvl1pPr indent="0" lvl="0"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1pPr>
            <a:lvl2pPr indent="0" lvl="1"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2pPr>
            <a:lvl3pPr indent="0" lvl="2"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3pPr>
            <a:lvl4pPr indent="0" lvl="3"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4pPr>
            <a:lvl5pPr indent="0" lvl="4"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5pPr>
            <a:lvl6pPr indent="0" lvl="5"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6pPr>
            <a:lvl7pPr indent="0" lvl="6"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7pPr>
            <a:lvl8pPr indent="0" lvl="7"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8pPr>
            <a:lvl9pPr indent="0" lvl="8" marL="25400" marR="0" algn="l">
              <a:lnSpc>
                <a:spcPct val="103333"/>
              </a:lnSpc>
              <a:spcBef>
                <a:spcPts val="0"/>
              </a:spcBef>
              <a:spcAft>
                <a:spcPts val="0"/>
              </a:spcAft>
              <a:buClr>
                <a:srgbClr val="000000"/>
              </a:buClr>
              <a:buSzPts val="900"/>
              <a:buFont typeface="Times New Roman"/>
              <a:buNone/>
              <a:defRPr b="0" i="0" sz="900" u="none" cap="none" strike="noStrike">
                <a:solidFill>
                  <a:srgbClr val="888888"/>
                </a:solidFill>
                <a:latin typeface="Times New Roman"/>
                <a:ea typeface="Times New Roman"/>
                <a:cs typeface="Times New Roman"/>
                <a:sym typeface="Times New Roman"/>
              </a:defRPr>
            </a:lvl9pPr>
          </a:lstStyle>
          <a:p>
            <a:pPr indent="0" lvl="0" marL="25400" rtl="0" algn="l">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6" name="Shape 26"/>
        <p:cNvGrpSpPr/>
        <p:nvPr/>
      </p:nvGrpSpPr>
      <p:grpSpPr>
        <a:xfrm>
          <a:off x="0" y="0"/>
          <a:ext cx="0" cy="0"/>
          <a:chOff x="0" y="0"/>
          <a:chExt cx="0" cy="0"/>
        </a:xfrm>
      </p:grpSpPr>
      <p:sp>
        <p:nvSpPr>
          <p:cNvPr id="27" name="Google Shape;27;p1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28" name="Google Shape;28;p1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9" name="Google Shape;29;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0" name="Shape 30"/>
        <p:cNvGrpSpPr/>
        <p:nvPr/>
      </p:nvGrpSpPr>
      <p:grpSpPr>
        <a:xfrm>
          <a:off x="0" y="0"/>
          <a:ext cx="0" cy="0"/>
          <a:chOff x="0" y="0"/>
          <a:chExt cx="0" cy="0"/>
        </a:xfrm>
      </p:grpSpPr>
      <p:sp>
        <p:nvSpPr>
          <p:cNvPr id="31" name="Google Shape;31;p1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32" name="Google Shape;32;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3" name="Shape 33"/>
        <p:cNvGrpSpPr/>
        <p:nvPr/>
      </p:nvGrpSpPr>
      <p:grpSpPr>
        <a:xfrm>
          <a:off x="0" y="0"/>
          <a:ext cx="0" cy="0"/>
          <a:chOff x="0" y="0"/>
          <a:chExt cx="0" cy="0"/>
        </a:xfrm>
      </p:grpSpPr>
      <p:sp>
        <p:nvSpPr>
          <p:cNvPr id="34" name="Google Shape;34;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36" name="Google Shape;36;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7" name="Shape 37"/>
        <p:cNvGrpSpPr/>
        <p:nvPr/>
      </p:nvGrpSpPr>
      <p:grpSpPr>
        <a:xfrm>
          <a:off x="0" y="0"/>
          <a:ext cx="0" cy="0"/>
          <a:chOff x="0" y="0"/>
          <a:chExt cx="0" cy="0"/>
        </a:xfrm>
      </p:grpSpPr>
      <p:sp>
        <p:nvSpPr>
          <p:cNvPr id="38" name="Google Shape;38;p1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9" name="Google Shape;39;p1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0" name="Google Shape;40;p1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1" name="Google Shape;41;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2" name="Shape 42"/>
        <p:cNvGrpSpPr/>
        <p:nvPr/>
      </p:nvGrpSpPr>
      <p:grpSpPr>
        <a:xfrm>
          <a:off x="0" y="0"/>
          <a:ext cx="0" cy="0"/>
          <a:chOff x="0" y="0"/>
          <a:chExt cx="0" cy="0"/>
        </a:xfrm>
      </p:grpSpPr>
      <p:sp>
        <p:nvSpPr>
          <p:cNvPr id="43" name="Google Shape;43;p20"/>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44" name="Google Shape;44;p20"/>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5" name="Google Shape;45;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6" name="Shape 46"/>
        <p:cNvGrpSpPr/>
        <p:nvPr/>
      </p:nvGrpSpPr>
      <p:grpSpPr>
        <a:xfrm>
          <a:off x="0" y="0"/>
          <a:ext cx="0" cy="0"/>
          <a:chOff x="0" y="0"/>
          <a:chExt cx="0" cy="0"/>
        </a:xfrm>
      </p:grpSpPr>
      <p:sp>
        <p:nvSpPr>
          <p:cNvPr id="47" name="Google Shape;47;p21"/>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8" name="Google Shape;48;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9" name="Shape 49"/>
        <p:cNvGrpSpPr/>
        <p:nvPr/>
      </p:nvGrpSpPr>
      <p:grpSpPr>
        <a:xfrm>
          <a:off x="0" y="0"/>
          <a:ext cx="0" cy="0"/>
          <a:chOff x="0" y="0"/>
          <a:chExt cx="0" cy="0"/>
        </a:xfrm>
      </p:grpSpPr>
      <p:sp>
        <p:nvSpPr>
          <p:cNvPr id="50" name="Google Shape;50;p22"/>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Times New Roman"/>
              <a:buNone/>
            </a:pPr>
            <a:r>
              <a:t/>
            </a:r>
            <a:endParaRPr b="0" i="0" sz="1400" u="none" cap="none" strike="noStrike">
              <a:solidFill>
                <a:srgbClr val="000000"/>
              </a:solidFill>
              <a:latin typeface="Times New Roman"/>
              <a:ea typeface="Times New Roman"/>
              <a:cs typeface="Times New Roman"/>
              <a:sym typeface="Times New Roman"/>
            </a:endParaRPr>
          </a:p>
        </p:txBody>
      </p:sp>
      <p:sp>
        <p:nvSpPr>
          <p:cNvPr id="51" name="Google Shape;51;p22"/>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52" name="Google Shape;52;p22"/>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3" name="Google Shape;53;p22"/>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4" name="Google Shape;54;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5" name="Shape 55"/>
        <p:cNvGrpSpPr/>
        <p:nvPr/>
      </p:nvGrpSpPr>
      <p:grpSpPr>
        <a:xfrm>
          <a:off x="0" y="0"/>
          <a:ext cx="0" cy="0"/>
          <a:chOff x="0" y="0"/>
          <a:chExt cx="0" cy="0"/>
        </a:xfrm>
      </p:grpSpPr>
      <p:sp>
        <p:nvSpPr>
          <p:cNvPr id="56" name="Google Shape;56;p23"/>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7" name="Google Shape;57;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8" name="Shape 58"/>
        <p:cNvGrpSpPr/>
        <p:nvPr/>
      </p:nvGrpSpPr>
      <p:grpSpPr>
        <a:xfrm>
          <a:off x="0" y="0"/>
          <a:ext cx="0" cy="0"/>
          <a:chOff x="0" y="0"/>
          <a:chExt cx="0" cy="0"/>
        </a:xfrm>
      </p:grpSpPr>
      <p:sp>
        <p:nvSpPr>
          <p:cNvPr id="59" name="Google Shape;59;p24"/>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0" name="Google Shape;60;p24"/>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61" name="Google Shape;61;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1pPr>
            <a:lvl2pPr lvl="1"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2pPr>
            <a:lvl3pPr lvl="2"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3pPr>
            <a:lvl4pPr lvl="3"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4pPr>
            <a:lvl5pPr lvl="4"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5pPr>
            <a:lvl6pPr lvl="5"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6pPr>
            <a:lvl7pPr lvl="6"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7pPr>
            <a:lvl8pPr lvl="7"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8pPr>
            <a:lvl9pPr lvl="8" marR="0" rtl="0" algn="l">
              <a:lnSpc>
                <a:spcPct val="100000"/>
              </a:lnSpc>
              <a:spcBef>
                <a:spcPts val="0"/>
              </a:spcBef>
              <a:spcAft>
                <a:spcPts val="0"/>
              </a:spcAft>
              <a:buClr>
                <a:schemeClr val="dk1"/>
              </a:buClr>
              <a:buSzPts val="2800"/>
              <a:buFont typeface="Times New Roman"/>
              <a:buNone/>
              <a:defRPr b="0" i="0" sz="2800" u="none" cap="none" strike="noStrike">
                <a:solidFill>
                  <a:schemeClr val="dk1"/>
                </a:solidFill>
                <a:latin typeface="Times New Roman"/>
                <a:ea typeface="Times New Roman"/>
                <a:cs typeface="Times New Roman"/>
                <a:sym typeface="Times New Roman"/>
              </a:defRPr>
            </a:lvl9pPr>
          </a:lstStyle>
          <a:p/>
        </p:txBody>
      </p:sp>
      <p:sp>
        <p:nvSpPr>
          <p:cNvPr id="7" name="Google Shape;7;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Times New Roman"/>
              <a:buChar char="●"/>
              <a:defRPr b="0" i="0" sz="1800" u="none" cap="none" strike="noStrike">
                <a:solidFill>
                  <a:schemeClr val="dk2"/>
                </a:solidFill>
                <a:latin typeface="Times New Roman"/>
                <a:ea typeface="Times New Roman"/>
                <a:cs typeface="Times New Roman"/>
                <a:sym typeface="Times New Roman"/>
              </a:defRPr>
            </a:lvl1pPr>
            <a:lvl2pPr indent="-317500" lvl="1" marL="9144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2pPr>
            <a:lvl3pPr indent="-317500" lvl="2" marL="13716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3pPr>
            <a:lvl4pPr indent="-317500" lvl="3" marL="18288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4pPr>
            <a:lvl5pPr indent="-317500" lvl="4" marL="22860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5pPr>
            <a:lvl6pPr indent="-317500" lvl="5" marL="27432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6pPr>
            <a:lvl7pPr indent="-317500" lvl="6" marL="32004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7pPr>
            <a:lvl8pPr indent="-317500" lvl="7" marL="36576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8pPr>
            <a:lvl9pPr indent="-317500" lvl="8" marL="4114800" marR="0" rtl="0" algn="l">
              <a:lnSpc>
                <a:spcPct val="115000"/>
              </a:lnSpc>
              <a:spcBef>
                <a:spcPts val="0"/>
              </a:spcBef>
              <a:spcAft>
                <a:spcPts val="0"/>
              </a:spcAft>
              <a:buClr>
                <a:schemeClr val="dk2"/>
              </a:buClr>
              <a:buSzPts val="1400"/>
              <a:buFont typeface="Times New Roman"/>
              <a:buChar char="■"/>
              <a:defRPr b="0" i="0" sz="1400" u="none" cap="none" strike="noStrike">
                <a:solidFill>
                  <a:schemeClr val="dk2"/>
                </a:solidFill>
                <a:latin typeface="Times New Roman"/>
                <a:ea typeface="Times New Roman"/>
                <a:cs typeface="Times New Roman"/>
                <a:sym typeface="Times New Roman"/>
              </a:defRPr>
            </a:lvl9pPr>
          </a:lstStyle>
          <a:p/>
        </p:txBody>
      </p:sp>
      <p:sp>
        <p:nvSpPr>
          <p:cNvPr id="8" name="Google Shape;8;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1pPr>
            <a:lvl2pPr indent="0" lvl="1"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2pPr>
            <a:lvl3pPr indent="0" lvl="2"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3pPr>
            <a:lvl4pPr indent="0" lvl="3"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4pPr>
            <a:lvl5pPr indent="0" lvl="4"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5pPr>
            <a:lvl6pPr indent="0" lvl="5"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6pPr>
            <a:lvl7pPr indent="0" lvl="6"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7pPr>
            <a:lvl8pPr indent="0" lvl="7"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8pPr>
            <a:lvl9pPr indent="0" lvl="8" marL="0" marR="0" rtl="0" algn="r">
              <a:lnSpc>
                <a:spcPct val="100000"/>
              </a:lnSpc>
              <a:spcBef>
                <a:spcPts val="0"/>
              </a:spcBef>
              <a:spcAft>
                <a:spcPts val="0"/>
              </a:spcAft>
              <a:buClr>
                <a:srgbClr val="000000"/>
              </a:buClr>
              <a:buSzPts val="1000"/>
              <a:buFont typeface="Times New Roman"/>
              <a:buNone/>
              <a:defRPr b="0" i="0" sz="10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2pPr>
      <a:lvl3pPr lvl="2"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3pPr>
      <a:lvl4pPr lvl="3"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4pPr>
      <a:lvl5pPr lvl="4"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5pPr>
      <a:lvl6pPr lvl="5"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6pPr>
      <a:lvl7pPr lvl="6"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7pPr>
      <a:lvl8pPr lvl="7"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8pPr>
      <a:lvl9pPr lvl="8" marR="0" rtl="0" algn="l">
        <a:lnSpc>
          <a:spcPct val="100000"/>
        </a:lnSpc>
        <a:spcBef>
          <a:spcPts val="0"/>
        </a:spcBef>
        <a:spcAft>
          <a:spcPts val="0"/>
        </a:spcAft>
        <a:buClr>
          <a:srgbClr val="000000"/>
        </a:buClr>
        <a:buFont typeface="Times New Roman"/>
        <a:defRPr b="0" i="0" spc="0" sz="1400" u="none" cap="none" strike="noStrike">
          <a:solidFill>
            <a:srgbClr val="000000"/>
          </a:solidFill>
          <a:latin typeface="Times New Roman"/>
          <a:ea typeface="Times New Roman"/>
          <a:cs typeface="Times New Roman"/>
          <a:sym typeface="Times New Roman"/>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
          <p:cNvSpPr txBox="1"/>
          <p:nvPr/>
        </p:nvSpPr>
        <p:spPr>
          <a:xfrm>
            <a:off x="-518" y="1113979"/>
            <a:ext cx="9144000" cy="3457500"/>
          </a:xfrm>
          <a:prstGeom prst="rect">
            <a:avLst/>
          </a:prstGeom>
          <a:noFill/>
          <a:ln>
            <a:noFill/>
          </a:ln>
        </p:spPr>
        <p:txBody>
          <a:bodyPr anchorCtr="0" anchor="t" bIns="0" lIns="0" spcFirstLastPara="1" rIns="0" wrap="square" tIns="9525">
            <a:spAutoFit/>
          </a:bodyPr>
          <a:lstStyle/>
          <a:p>
            <a:pPr indent="-88900" lvl="0" marL="406400" marR="317500" rtl="0" algn="l">
              <a:lnSpc>
                <a:spcPct val="100000"/>
              </a:lnSpc>
              <a:spcBef>
                <a:spcPts val="0"/>
              </a:spcBef>
              <a:spcAft>
                <a:spcPts val="0"/>
              </a:spcAft>
              <a:buClr>
                <a:srgbClr val="000000"/>
              </a:buClr>
              <a:buSzPts val="1900"/>
              <a:buFont typeface="Times New Roman"/>
              <a:buNone/>
            </a:pPr>
            <a:r>
              <a:rPr b="1" i="0" lang="en-IN" sz="1900" u="none" cap="none" strike="noStrike">
                <a:solidFill>
                  <a:srgbClr val="C00000"/>
                </a:solidFill>
                <a:latin typeface="Times New Roman"/>
                <a:ea typeface="Times New Roman"/>
                <a:cs typeface="Times New Roman"/>
                <a:sym typeface="Times New Roman"/>
              </a:rPr>
              <a:t>      </a:t>
            </a:r>
            <a:endParaRPr b="0" i="0" sz="11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rPr b="1" i="0" lang="en-IN" sz="2200" u="sng" cap="none" strike="noStrike">
                <a:solidFill>
                  <a:srgbClr val="052358"/>
                </a:solidFill>
                <a:latin typeface="Times New Roman"/>
                <a:ea typeface="Times New Roman"/>
                <a:cs typeface="Times New Roman"/>
                <a:sym typeface="Times New Roman"/>
              </a:rPr>
              <a:t>Department of Computer Engineering</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rPr b="1" i="0" lang="en-IN" sz="2200" u="sng" cap="none" strike="noStrike">
                <a:solidFill>
                  <a:srgbClr val="052358"/>
                </a:solidFill>
                <a:latin typeface="Times New Roman"/>
                <a:ea typeface="Times New Roman"/>
                <a:cs typeface="Times New Roman"/>
                <a:sym typeface="Times New Roman"/>
              </a:rPr>
              <a:t>Academic Year 2026-2027 (Odd Semester)</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rPr b="1" i="0" lang="en-IN" sz="2200" u="sng" cap="none" strike="noStrike">
                <a:solidFill>
                  <a:srgbClr val="052358"/>
                </a:solidFill>
                <a:latin typeface="Times New Roman"/>
                <a:ea typeface="Times New Roman"/>
                <a:cs typeface="Times New Roman"/>
                <a:sym typeface="Times New Roman"/>
              </a:rPr>
              <a:t>Mini Project</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t/>
            </a:r>
            <a:endParaRPr b="1" i="0" sz="2200" u="sng" cap="none" strike="noStrike">
              <a:solidFill>
                <a:srgbClr val="052358"/>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rPr b="1" i="0" lang="en-IN" sz="2200" u="sng" cap="none" strike="noStrike">
                <a:solidFill>
                  <a:srgbClr val="052358"/>
                </a:solidFill>
                <a:latin typeface="Times New Roman"/>
                <a:ea typeface="Times New Roman"/>
                <a:cs typeface="Times New Roman"/>
                <a:sym typeface="Times New Roman"/>
              </a:rPr>
              <a:t>Bank Transaction Analytics and Fraud Detection</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200"/>
              <a:buFont typeface="Times New Roman"/>
              <a:buNone/>
            </a:pPr>
            <a:r>
              <a:t/>
            </a:r>
            <a:endParaRPr b="1" i="0" sz="2200" u="sng" cap="none" strike="noStrike">
              <a:solidFill>
                <a:srgbClr val="052358"/>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r>
              <a:rPr b="1" i="0" lang="en-IN" sz="1800" u="none" cap="none" strike="noStrike">
                <a:solidFill>
                  <a:srgbClr val="C00000"/>
                </a:solidFill>
                <a:latin typeface="Times New Roman"/>
                <a:ea typeface="Times New Roman"/>
                <a:cs typeface="Times New Roman"/>
                <a:sym typeface="Times New Roman"/>
              </a:rPr>
              <a:t>Jay Dhake  (A – 07)</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r>
              <a:rPr b="1" i="0" lang="en-IN" sz="1800" u="none" cap="none" strike="noStrike">
                <a:solidFill>
                  <a:srgbClr val="C00000"/>
                </a:solidFill>
                <a:latin typeface="Times New Roman"/>
                <a:ea typeface="Times New Roman"/>
                <a:cs typeface="Times New Roman"/>
                <a:sym typeface="Times New Roman"/>
              </a:rPr>
              <a:t>Samarth Ghanekar  (A – 10)</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r>
              <a:rPr b="1" i="0" lang="en-IN" sz="1800" u="none" cap="none" strike="noStrike">
                <a:solidFill>
                  <a:srgbClr val="C00000"/>
                </a:solidFill>
                <a:latin typeface="Times New Roman"/>
                <a:ea typeface="Times New Roman"/>
                <a:cs typeface="Times New Roman"/>
                <a:sym typeface="Times New Roman"/>
              </a:rPr>
              <a:t>Saahir Joshi  (A – 16)</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200000"/>
              </a:lnSpc>
              <a:spcBef>
                <a:spcPts val="0"/>
              </a:spcBef>
              <a:spcAft>
                <a:spcPts val="0"/>
              </a:spcAft>
              <a:buClr>
                <a:srgbClr val="000000"/>
              </a:buClr>
              <a:buSzPts val="1800"/>
              <a:buFont typeface="Times New Roman"/>
              <a:buNone/>
            </a:pPr>
            <a:r>
              <a:rPr b="1" i="0" lang="en-IN" sz="1900" u="none" cap="none" strike="noStrike">
                <a:solidFill>
                  <a:srgbClr val="002060"/>
                </a:solidFill>
                <a:latin typeface="Times New Roman"/>
                <a:ea typeface="Times New Roman"/>
                <a:cs typeface="Times New Roman"/>
                <a:sym typeface="Times New Roman"/>
              </a:rPr>
              <a:t>Name of the Guide:- Prof. Mrunali Desai</a:t>
            </a:r>
            <a:endParaRPr b="1" i="0" sz="1900" u="none" cap="none" strike="noStrike">
              <a:solidFill>
                <a:srgbClr val="002060"/>
              </a:solidFill>
              <a:latin typeface="Times New Roman"/>
              <a:ea typeface="Times New Roman"/>
              <a:cs typeface="Times New Roman"/>
              <a:sym typeface="Times New Roman"/>
            </a:endParaRPr>
          </a:p>
        </p:txBody>
      </p:sp>
      <p:pic>
        <p:nvPicPr>
          <p:cNvPr id="69" name="Google Shape;69;p1"/>
          <p:cNvPicPr preferRelativeResize="0"/>
          <p:nvPr/>
        </p:nvPicPr>
        <p:blipFill rotWithShape="1">
          <a:blip r:embed="rId3">
            <a:alphaModFix/>
          </a:blip>
          <a:srcRect b="0" l="0" r="0" t="0"/>
          <a:stretch/>
        </p:blipFill>
        <p:spPr>
          <a:xfrm>
            <a:off x="82866" y="117475"/>
            <a:ext cx="4848225" cy="77851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8"/>
                                        </p:tgtEl>
                                        <p:attrNameLst>
                                          <p:attrName>style.visibility</p:attrName>
                                        </p:attrNameLst>
                                      </p:cBhvr>
                                      <p:to>
                                        <p:strVal val="visible"/>
                                      </p:to>
                                    </p:set>
                                    <p:animEffect filter="fade" transition="in">
                                      <p:cBhvr>
                                        <p:cTn dur="1000"/>
                                        <p:tgtEl>
                                          <p:spTgt spid="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2"/>
          <p:cNvSpPr txBox="1"/>
          <p:nvPr>
            <p:ph type="title"/>
          </p:nvPr>
        </p:nvSpPr>
        <p:spPr>
          <a:xfrm>
            <a:off x="1417118" y="204251"/>
            <a:ext cx="4686300" cy="486900"/>
          </a:xfrm>
          <a:prstGeom prst="rect">
            <a:avLst/>
          </a:prstGeom>
          <a:noFill/>
          <a:ln>
            <a:noFill/>
          </a:ln>
        </p:spPr>
        <p:txBody>
          <a:bodyPr anchorCtr="0" anchor="t" bIns="0" lIns="0" spcFirstLastPara="1" rIns="0" wrap="square" tIns="9525">
            <a:spAutoFit/>
          </a:bodyPr>
          <a:lstStyle/>
          <a:p>
            <a:pPr indent="0" lvl="0" marL="1270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Problem Statement</a:t>
            </a:r>
            <a:endParaRPr sz="3100">
              <a:latin typeface="Times New Roman"/>
              <a:ea typeface="Times New Roman"/>
              <a:cs typeface="Times New Roman"/>
              <a:sym typeface="Times New Roman"/>
            </a:endParaRPr>
          </a:p>
        </p:txBody>
      </p:sp>
      <p:sp>
        <p:nvSpPr>
          <p:cNvPr id="75" name="Google Shape;75;p2"/>
          <p:cNvSpPr txBox="1"/>
          <p:nvPr/>
        </p:nvSpPr>
        <p:spPr>
          <a:xfrm>
            <a:off x="761944" y="1201779"/>
            <a:ext cx="7383300" cy="3393900"/>
          </a:xfrm>
          <a:prstGeom prst="rect">
            <a:avLst/>
          </a:prstGeom>
          <a:noFill/>
          <a:ln>
            <a:noFill/>
          </a:ln>
        </p:spPr>
        <p:txBody>
          <a:bodyPr anchorCtr="0" anchor="t" bIns="34275" lIns="68575" spcFirstLastPara="1" rIns="68575" wrap="square" tIns="34275">
            <a:spAutoFit/>
          </a:bodyPr>
          <a:lstStyle/>
          <a:p>
            <a:pPr indent="0" lvl="0" marL="0" marR="0" rtl="0" algn="just">
              <a:lnSpc>
                <a:spcPct val="100000"/>
              </a:lnSpc>
              <a:spcBef>
                <a:spcPts val="0"/>
              </a:spcBef>
              <a:spcAft>
                <a:spcPts val="0"/>
              </a:spcAft>
              <a:buClr>
                <a:srgbClr val="000000"/>
              </a:buClr>
              <a:buSzPts val="1200"/>
              <a:buFont typeface="Times New Roman"/>
              <a:buNone/>
            </a:pPr>
            <a:r>
              <a:rPr b="1" i="0" lang="en-IN" sz="1200" u="none" cap="none" strike="noStrike">
                <a:solidFill>
                  <a:srgbClr val="000000"/>
                </a:solidFill>
                <a:highlight>
                  <a:srgbClr val="FFFFFF"/>
                </a:highlight>
                <a:latin typeface="Times New Roman"/>
                <a:ea typeface="Times New Roman"/>
                <a:cs typeface="Times New Roman"/>
                <a:sym typeface="Times New Roman"/>
              </a:rPr>
              <a:t>The Core Problem</a:t>
            </a:r>
            <a:endParaRPr b="0" i="0" sz="12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highlight>
                  <a:srgbClr val="FFFFFF"/>
                </a:highlight>
                <a:latin typeface="Times New Roman"/>
                <a:ea typeface="Times New Roman"/>
                <a:cs typeface="Times New Roman"/>
                <a:sym typeface="Times New Roman"/>
              </a:rPr>
              <a:t>Banks must find the </a:t>
            </a:r>
            <a:r>
              <a:rPr b="1" i="0" lang="en-IN" sz="1200" u="none" cap="none" strike="noStrike">
                <a:solidFill>
                  <a:srgbClr val="000000"/>
                </a:solidFill>
                <a:highlight>
                  <a:srgbClr val="FFFFFF"/>
                </a:highlight>
                <a:latin typeface="Times New Roman"/>
                <a:ea typeface="Times New Roman"/>
                <a:cs typeface="Times New Roman"/>
                <a:sym typeface="Times New Roman"/>
              </a:rPr>
              <a:t>very few fraudulent transactions</a:t>
            </a:r>
            <a:r>
              <a:rPr b="0" i="0" lang="en-IN" sz="1200" u="none" cap="none" strike="noStrike">
                <a:solidFill>
                  <a:srgbClr val="000000"/>
                </a:solidFill>
                <a:highlight>
                  <a:srgbClr val="FFFFFF"/>
                </a:highlight>
                <a:latin typeface="Times New Roman"/>
                <a:ea typeface="Times New Roman"/>
                <a:cs typeface="Times New Roman"/>
                <a:sym typeface="Times New Roman"/>
              </a:rPr>
              <a:t> hidden among </a:t>
            </a:r>
            <a:r>
              <a:rPr b="1" i="0" lang="en-IN" sz="1200" u="none" cap="none" strike="noStrike">
                <a:solidFill>
                  <a:srgbClr val="000000"/>
                </a:solidFill>
                <a:highlight>
                  <a:srgbClr val="FFFFFF"/>
                </a:highlight>
                <a:latin typeface="Times New Roman"/>
                <a:ea typeface="Times New Roman"/>
                <a:cs typeface="Times New Roman"/>
                <a:sym typeface="Times New Roman"/>
              </a:rPr>
              <a:t>millions of legitimate ones</a:t>
            </a:r>
            <a:r>
              <a:rPr b="0" i="0" lang="en-IN" sz="1200" u="none" cap="none" strike="noStrike">
                <a:solidFill>
                  <a:srgbClr val="000000"/>
                </a:solidFill>
                <a:highlight>
                  <a:srgbClr val="FFFFFF"/>
                </a:highlight>
                <a:latin typeface="Times New Roman"/>
                <a:ea typeface="Times New Roman"/>
                <a:cs typeface="Times New Roman"/>
                <a:sym typeface="Times New Roman"/>
              </a:rPr>
              <a:t> and then act on them. Today this work is split across fixed rules, offline notebooks and separate tools, so an analyst cannot search, investigate and check new batches of transactions in one place.</a:t>
            </a:r>
            <a:endParaRPr b="0" i="0" sz="12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endParaRPr b="0" i="0" sz="1200" u="none" cap="none" strike="noStrike">
              <a:solidFill>
                <a:srgbClr val="000000"/>
              </a:solidFill>
              <a:highlight>
                <a:srgbClr val="FFFFFF"/>
              </a:highlight>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1" i="0" lang="en-IN" sz="1200" u="none" cap="none" strike="noStrike">
                <a:solidFill>
                  <a:srgbClr val="000000"/>
                </a:solidFill>
                <a:highlight>
                  <a:srgbClr val="FFFFFF"/>
                </a:highlight>
                <a:latin typeface="Times New Roman"/>
                <a:ea typeface="Times New Roman"/>
                <a:cs typeface="Times New Roman"/>
                <a:sym typeface="Times New Roman"/>
              </a:rPr>
              <a:t>Rare, imbalanced events:</a:t>
            </a:r>
            <a:r>
              <a:rPr b="1" i="0" lang="en-IN" sz="1200" u="none" cap="none" strike="noStrike">
                <a:solidFill>
                  <a:srgbClr val="000000"/>
                </a:solidFill>
                <a:highlight>
                  <a:srgbClr val="FFFFFF"/>
                </a:highlight>
                <a:latin typeface="Times New Roman"/>
                <a:ea typeface="Times New Roman"/>
                <a:cs typeface="Times New Roman"/>
                <a:sym typeface="Times New Roman"/>
              </a:rPr>
              <a:t> Fraud is about 1 in 776 transactions in our benchmark data, so accuracy is meaningless; precision and recall are needed.</a:t>
            </a:r>
            <a:endParaRPr b="0" i="0" sz="1200" u="none" cap="none" strike="noStrike">
              <a:solidFill>
                <a:srgbClr val="000000"/>
              </a:solidFill>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1" i="0" lang="en-IN" sz="1200" u="none" cap="none" strike="noStrike">
                <a:solidFill>
                  <a:srgbClr val="000000"/>
                </a:solidFill>
                <a:highlight>
                  <a:srgbClr val="FFFFFF"/>
                </a:highlight>
                <a:latin typeface="Times New Roman"/>
                <a:ea typeface="Times New Roman"/>
                <a:cs typeface="Times New Roman"/>
                <a:sym typeface="Times New Roman"/>
              </a:rPr>
              <a:t>Rules and notebooks do not scale:</a:t>
            </a:r>
            <a:r>
              <a:rPr b="1" i="0" lang="en-IN" sz="1200" u="none" cap="none" strike="noStrike">
                <a:solidFill>
                  <a:srgbClr val="000000"/>
                </a:solidFill>
                <a:highlight>
                  <a:srgbClr val="FFFFFF"/>
                </a:highlight>
                <a:latin typeface="Times New Roman"/>
                <a:ea typeface="Times New Roman"/>
                <a:cs typeface="Times New Roman"/>
                <a:sym typeface="Times New Roman"/>
              </a:rPr>
              <a:t> Fixed rules catch few frauds, and single-machine notebooks cannot process millions of rows.</a:t>
            </a:r>
            <a:endParaRPr b="0" i="0" sz="1200" u="none" cap="none" strike="noStrike">
              <a:solidFill>
                <a:srgbClr val="000000"/>
              </a:solidFill>
              <a:highlight>
                <a:srgbClr val="FFFFFF"/>
              </a:highlight>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1" i="0" lang="en-IN" sz="1200" u="none" cap="none" strike="noStrike">
                <a:solidFill>
                  <a:srgbClr val="000000"/>
                </a:solidFill>
                <a:highlight>
                  <a:srgbClr val="FFFFFF"/>
                </a:highlight>
                <a:latin typeface="Times New Roman"/>
                <a:ea typeface="Times New Roman"/>
                <a:cs typeface="Times New Roman"/>
                <a:sym typeface="Times New Roman"/>
              </a:rPr>
              <a:t>Slow lookups:</a:t>
            </a:r>
            <a:r>
              <a:rPr b="1" i="0" lang="en-IN" sz="1200" u="none" cap="none" strike="noStrike">
                <a:solidFill>
                  <a:srgbClr val="000000"/>
                </a:solidFill>
                <a:highlight>
                  <a:srgbClr val="FFFFFF"/>
                </a:highlight>
                <a:latin typeface="Times New Roman"/>
                <a:ea typeface="Times New Roman"/>
                <a:cs typeface="Times New Roman"/>
                <a:sym typeface="Times New Roman"/>
              </a:rPr>
              <a:t> Scanning all the data for one account takes over a second; analysts need answers in milliseconds.</a:t>
            </a:r>
            <a:endParaRPr b="0" i="0" sz="1200" u="none" cap="none" strike="noStrike">
              <a:solidFill>
                <a:srgbClr val="000000"/>
              </a:solidFill>
              <a:highlight>
                <a:srgbClr val="FFFFFF"/>
              </a:highlight>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1" i="0" lang="en-IN" sz="1200" u="none" cap="none" strike="noStrike">
                <a:solidFill>
                  <a:srgbClr val="000000"/>
                </a:solidFill>
                <a:highlight>
                  <a:srgbClr val="FFFFFF"/>
                </a:highlight>
                <a:latin typeface="Times New Roman"/>
                <a:ea typeface="Times New Roman"/>
                <a:cs typeface="Times New Roman"/>
                <a:sym typeface="Times New Roman"/>
              </a:rPr>
              <a:t>No workflow:</a:t>
            </a:r>
            <a:r>
              <a:rPr b="1" i="0" lang="en-IN" sz="1200" u="none" cap="none" strike="noStrike">
                <a:solidFill>
                  <a:srgbClr val="000000"/>
                </a:solidFill>
                <a:highlight>
                  <a:srgbClr val="FFFFFF"/>
                </a:highlight>
                <a:latin typeface="Times New Roman"/>
                <a:ea typeface="Times New Roman"/>
                <a:cs typeface="Times New Roman"/>
                <a:sym typeface="Times New Roman"/>
              </a:rPr>
              <a:t> Flagged transactions need case management, and new files of transactions must be scored and explored without rebuilding the pipeline.</a:t>
            </a:r>
            <a:endParaRPr b="0" i="0" sz="1200" u="none" cap="none" strike="noStrike">
              <a:solidFill>
                <a:srgbClr val="000000"/>
              </a:solidFill>
              <a:highlight>
                <a:srgbClr val="FFFFFF"/>
              </a:highlight>
              <a:latin typeface="Times New Roman"/>
              <a:ea typeface="Times New Roman"/>
              <a:cs typeface="Times New Roman"/>
              <a:sym typeface="Times New Roman"/>
            </a:endParaRPr>
          </a:p>
          <a:p>
            <a:pPr indent="-171450" lvl="0" marL="285750" marR="0" rtl="0" algn="just">
              <a:lnSpc>
                <a:spcPct val="100000"/>
              </a:lnSpc>
              <a:spcBef>
                <a:spcPts val="0"/>
              </a:spcBef>
              <a:spcAft>
                <a:spcPts val="0"/>
              </a:spcAft>
              <a:buClr>
                <a:srgbClr val="000000"/>
              </a:buClr>
              <a:buSzPts val="1800"/>
              <a:buFont typeface="Times New Roman"/>
              <a:buNone/>
            </a:pPr>
            <a:endParaRPr b="0" i="0" sz="1200" u="none" cap="none" strike="noStrike">
              <a:solidFill>
                <a:schemeClr val="dk1"/>
              </a:solidFill>
              <a:highlight>
                <a:srgbClr val="FFFFFF"/>
              </a:highlight>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800"/>
              <a:buFont typeface="Times New Roman"/>
              <a:buNone/>
            </a:pPr>
            <a:endParaRPr b="0" i="0" sz="1200" u="none" cap="none" strike="noStrike">
              <a:solidFill>
                <a:schemeClr val="dk1"/>
              </a:solidFill>
              <a:highlight>
                <a:srgbClr val="FFFFFF"/>
              </a:highlight>
              <a:latin typeface="Times New Roman"/>
              <a:ea typeface="Times New Roman"/>
              <a:cs typeface="Times New Roman"/>
              <a:sym typeface="Times New Roman"/>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1000"/>
                                        <p:tgtEl>
                                          <p:spTgt spid="74"/>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75"/>
                                        </p:tgtEl>
                                        <p:attrNameLst>
                                          <p:attrName>style.visibility</p:attrName>
                                        </p:attrNameLst>
                                      </p:cBhvr>
                                      <p:to>
                                        <p:strVal val="visible"/>
                                      </p:to>
                                    </p:set>
                                    <p:animEffect filter="fade" transition="in">
                                      <p:cBhvr>
                                        <p:cTn dur="1000"/>
                                        <p:tgtEl>
                                          <p:spTgt spid="7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3"/>
          <p:cNvSpPr txBox="1"/>
          <p:nvPr>
            <p:ph type="title"/>
          </p:nvPr>
        </p:nvSpPr>
        <p:spPr>
          <a:xfrm>
            <a:off x="1471352" y="145582"/>
            <a:ext cx="4686300" cy="486900"/>
          </a:xfrm>
          <a:prstGeom prst="rect">
            <a:avLst/>
          </a:prstGeom>
          <a:noFill/>
          <a:ln>
            <a:noFill/>
          </a:ln>
        </p:spPr>
        <p:txBody>
          <a:bodyPr anchorCtr="0" anchor="t" bIns="0" lIns="0" spcFirstLastPara="1" rIns="0" wrap="square" tIns="9525">
            <a:spAutoFit/>
          </a:bodyPr>
          <a:lstStyle/>
          <a:p>
            <a:pPr indent="0" lvl="0" marL="1270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Literature Survey</a:t>
            </a:r>
            <a:endParaRPr sz="3100">
              <a:latin typeface="Times New Roman"/>
              <a:ea typeface="Times New Roman"/>
              <a:cs typeface="Times New Roman"/>
              <a:sym typeface="Times New Roman"/>
            </a:endParaRPr>
          </a:p>
        </p:txBody>
      </p:sp>
      <p:sp>
        <p:nvSpPr>
          <p:cNvPr id="81" name="Google Shape;81;p3"/>
          <p:cNvSpPr txBox="1"/>
          <p:nvPr/>
        </p:nvSpPr>
        <p:spPr>
          <a:xfrm>
            <a:off x="503696" y="1097999"/>
            <a:ext cx="6470541" cy="623217"/>
          </a:xfrm>
          <a:prstGeom prst="rect">
            <a:avLst/>
          </a:prstGeom>
          <a:noFill/>
          <a:ln>
            <a:noFill/>
          </a:ln>
        </p:spPr>
        <p:txBody>
          <a:bodyPr anchorCtr="0" anchor="t" bIns="34275" lIns="68575" spcFirstLastPara="1" rIns="68575" wrap="square" tIns="34275">
            <a:spAutoFit/>
          </a:bodyPr>
          <a:lstStyle/>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p:txBody>
      </p:sp>
      <p:graphicFrame>
        <p:nvGraphicFramePr>
          <p:cNvPr id="82" name="Google Shape;82;p3"/>
          <p:cNvGraphicFramePr/>
          <p:nvPr/>
        </p:nvGraphicFramePr>
        <p:xfrm>
          <a:off x="676656" y="868680"/>
          <a:ext cx="3000000" cy="3000000"/>
        </p:xfrm>
        <a:graphic>
          <a:graphicData uri="http://schemas.openxmlformats.org/drawingml/2006/table">
            <a:tbl>
              <a:tblPr>
                <a:noFill/>
                <a:tableStyleId>{66A4A503-B986-45E2-8678-F1D963D36F8F}</a:tableStyleId>
              </a:tblPr>
              <a:tblGrid>
                <a:gridCol w="1600200"/>
                <a:gridCol w="1737360"/>
                <a:gridCol w="1737360"/>
                <a:gridCol w="1463040"/>
                <a:gridCol w="1188720"/>
              </a:tblGrid>
              <a:tr h="274320">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Title/ Year</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Methodology</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Findings</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Limitation</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Algorithms Used</a:t>
                      </a:r>
                      <a:endParaRPr sz="1400" u="none" cap="none" strike="noStrike">
                        <a:latin typeface="Times New Roman"/>
                        <a:ea typeface="Times New Roman"/>
                        <a:cs typeface="Times New Roman"/>
                        <a:sym typeface="Times New Roman"/>
                      </a:endParaRPr>
                    </a:p>
                  </a:txBody>
                  <a:tcPr marT="50800" marB="50800" marR="76200" marL="7620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Random Forests (Breiman, 2001)</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Introduced an ensemble of randomised decision trees trained on bootstrap samples; predictions are averaged.</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Accurate and robust to noise; gives variable importance. Basis of the fraud model.</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Hard to interpret as a whole; needs care with extreme class imbalance.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Bagging, random feature selection, decision trees</a:t>
                      </a:r>
                      <a:endParaRPr sz="1400" u="none" cap="none" strike="noStrike">
                        <a:latin typeface="Times New Roman"/>
                        <a:ea typeface="Times New Roman"/>
                        <a:cs typeface="Times New Roman"/>
                        <a:sym typeface="Times New Roman"/>
                      </a:endParaRPr>
                    </a:p>
                  </a:txBody>
                  <a:tcPr marT="12700" marB="12700" marR="19050" marL="1905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Apache Spark: A Unified Engine for Big Data Processing (Zaharia et al., 2016)</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Describes Spark's design: distributed datasets, DataFrames, SQL and libraries on one engine.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Parallel in-memory processing and a query optimiser run batch, SQL and ML workloads on large data.</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Built for batch jobs; scanning for each single lookup is too slow for interactive use.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DataFrame API, Spark SQL, Catalyst optimiser</a:t>
                      </a:r>
                      <a:endParaRPr sz="1400" u="none" cap="none" strike="noStrike">
                        <a:latin typeface="Times New Roman"/>
                        <a:ea typeface="Times New Roman"/>
                        <a:cs typeface="Times New Roman"/>
                        <a:sym typeface="Times New Roman"/>
                      </a:endParaRPr>
                    </a:p>
                  </a:txBody>
                  <a:tcPr marT="12700" marB="12700" marR="19050" marL="1905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MLlib: Machine Learning in Apache Spark (Meng et al., 2016)</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Presents Spark's distributed ML library with pipelines, feature transformers and scalable learners.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Provides Random Forest and Logistic Regression that train on millions of rows within pipelines.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A trained model must be exported to be served outside Spark.</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chemeClr val="dk1"/>
                          </a:solidFill>
                          <a:latin typeface="Times New Roman"/>
                          <a:ea typeface="Times New Roman"/>
                          <a:cs typeface="Times New Roman"/>
                          <a:sym typeface="Times New Roman"/>
                        </a:rPr>
                        <a:t>ML pipelines, Random Forest, Logistic Regression</a:t>
                      </a:r>
                      <a:endParaRPr sz="1400" u="none" cap="none" strike="noStrike">
                        <a:latin typeface="Times New Roman"/>
                        <a:ea typeface="Times New Roman"/>
                        <a:cs typeface="Times New Roman"/>
                        <a:sym typeface="Times New Roman"/>
                      </a:endParaRPr>
                    </a:p>
                  </a:txBody>
                  <a:tcPr marT="12700" marB="12700" marR="19050" marL="19050" anchor="ctr"/>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80"/>
                                        </p:tgtEl>
                                        <p:attrNameLst>
                                          <p:attrName>style.visibility</p:attrName>
                                        </p:attrNameLst>
                                      </p:cBhvr>
                                      <p:to>
                                        <p:strVal val="visible"/>
                                      </p:to>
                                    </p:set>
                                    <p:animEffect filter="fade" transition="in">
                                      <p:cBhvr>
                                        <p:cTn dur="1000"/>
                                        <p:tgtEl>
                                          <p:spTgt spid="80"/>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81"/>
                                        </p:tgtEl>
                                        <p:attrNameLst>
                                          <p:attrName>style.visibility</p:attrName>
                                        </p:attrNameLst>
                                      </p:cBhvr>
                                      <p:to>
                                        <p:strVal val="visible"/>
                                      </p:to>
                                    </p:set>
                                    <p:animEffect filter="fade" transition="in">
                                      <p:cBhvr>
                                        <p:cTn dur="1000"/>
                                        <p:tgtEl>
                                          <p:spTgt spid="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4"/>
          <p:cNvSpPr txBox="1"/>
          <p:nvPr>
            <p:ph type="title"/>
          </p:nvPr>
        </p:nvSpPr>
        <p:spPr>
          <a:xfrm>
            <a:off x="1495290" y="210429"/>
            <a:ext cx="4686300" cy="486900"/>
          </a:xfrm>
          <a:prstGeom prst="rect">
            <a:avLst/>
          </a:prstGeom>
          <a:noFill/>
          <a:ln>
            <a:noFill/>
          </a:ln>
        </p:spPr>
        <p:txBody>
          <a:bodyPr anchorCtr="0" anchor="t" bIns="0" lIns="0" spcFirstLastPara="1" rIns="0" wrap="square" tIns="9525">
            <a:spAutoFit/>
          </a:bodyPr>
          <a:lstStyle/>
          <a:p>
            <a:pPr indent="0" lvl="0" marL="1270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Literature Survey</a:t>
            </a:r>
            <a:endParaRPr sz="3100">
              <a:latin typeface="Times New Roman"/>
              <a:ea typeface="Times New Roman"/>
              <a:cs typeface="Times New Roman"/>
              <a:sym typeface="Times New Roman"/>
            </a:endParaRPr>
          </a:p>
        </p:txBody>
      </p:sp>
      <p:sp>
        <p:nvSpPr>
          <p:cNvPr id="88" name="Google Shape;88;p4"/>
          <p:cNvSpPr txBox="1"/>
          <p:nvPr/>
        </p:nvSpPr>
        <p:spPr>
          <a:xfrm>
            <a:off x="503696" y="1097999"/>
            <a:ext cx="6470541" cy="623217"/>
          </a:xfrm>
          <a:prstGeom prst="rect">
            <a:avLst/>
          </a:prstGeom>
          <a:noFill/>
          <a:ln>
            <a:noFill/>
          </a:ln>
        </p:spPr>
        <p:txBody>
          <a:bodyPr anchorCtr="0" anchor="t" bIns="34275" lIns="68575" spcFirstLastPara="1" rIns="68575" wrap="square" tIns="34275">
            <a:spAutoFit/>
          </a:bodyPr>
          <a:lstStyle/>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p:txBody>
      </p:sp>
      <p:graphicFrame>
        <p:nvGraphicFramePr>
          <p:cNvPr id="89" name="Google Shape;89;p4"/>
          <p:cNvGraphicFramePr/>
          <p:nvPr/>
        </p:nvGraphicFramePr>
        <p:xfrm>
          <a:off x="676656" y="868680"/>
          <a:ext cx="3000000" cy="3000000"/>
        </p:xfrm>
        <a:graphic>
          <a:graphicData uri="http://schemas.openxmlformats.org/drawingml/2006/table">
            <a:tbl>
              <a:tblPr>
                <a:noFill/>
                <a:tableStyleId>{66A4A503-B986-45E2-8678-F1D963D36F8F}</a:tableStyleId>
              </a:tblPr>
              <a:tblGrid>
                <a:gridCol w="1600200"/>
                <a:gridCol w="1737360"/>
                <a:gridCol w="1737360"/>
                <a:gridCol w="1463040"/>
                <a:gridCol w="1188720"/>
              </a:tblGrid>
              <a:tr h="274320">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Title/ Year</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Methodology</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Findings</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Limitation</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Algorithms Used</a:t>
                      </a:r>
                      <a:endParaRPr sz="1400" u="none" cap="none" strike="noStrike">
                        <a:latin typeface="Times New Roman"/>
                        <a:ea typeface="Times New Roman"/>
                        <a:cs typeface="Times New Roman"/>
                        <a:sym typeface="Times New Roman"/>
                      </a:endParaRPr>
                    </a:p>
                  </a:txBody>
                  <a:tcPr marT="50800" marB="50800" marR="76200" marL="7620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C-Store: A Column-oriented DBMS (Stonebraker et al., 2005)</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Designed a database that stores each column separately, with compression and read-optimised storage.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Queries touching a few columns read far less data and compress well. The idea behind Parquet and DuckDB.</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Optimised for reads and bulk loads; single-row updates are costly.</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Column storage, compression, projections</a:t>
                      </a:r>
                      <a:endParaRPr sz="1400" u="none" cap="none" strike="noStrike">
                        <a:latin typeface="Times New Roman"/>
                        <a:ea typeface="Times New Roman"/>
                        <a:cs typeface="Times New Roman"/>
                        <a:sym typeface="Times New Roman"/>
                      </a:endParaRPr>
                    </a:p>
                  </a:txBody>
                  <a:tcPr marT="12700" marB="12700" marR="19050" marL="1905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SMOTE: Synthetic Minority Over-sampling Technique (Chawla et al., 2002)</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Creates synthetic minority-class examples by interpolating between neighbouring minority points.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Improves detection of the minority class on imbalanced data compared with plain undersampling.</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Changes the data distribution and can create unrealistic samples; not used here.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k-nearest neighbours, oversampling</a:t>
                      </a:r>
                      <a:endParaRPr sz="1400" u="none" cap="none" strike="noStrike">
                        <a:latin typeface="Times New Roman"/>
                        <a:ea typeface="Times New Roman"/>
                        <a:cs typeface="Times New Roman"/>
                        <a:sym typeface="Times New Roman"/>
                      </a:endParaRPr>
                    </a:p>
                  </a:txBody>
                  <a:tcPr marT="12700" marB="12700" marR="19050" marL="1905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The Precision-Recall Plot Is More Informative than the ROC Plot (Saito and Rehmsmeier, 2015)</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Compared ROC and precision-recall plots on imbalanced binary classification tasks.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Precision-recall plots show the true effect of false positives when positives are rare.</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Guidance on evaluation only; no new model.</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Precision-recall curve, ROC curve</a:t>
                      </a:r>
                      <a:endParaRPr sz="1400" u="none" cap="none" strike="noStrike">
                        <a:latin typeface="Times New Roman"/>
                        <a:ea typeface="Times New Roman"/>
                        <a:cs typeface="Times New Roman"/>
                        <a:sym typeface="Times New Roman"/>
                      </a:endParaRPr>
                    </a:p>
                  </a:txBody>
                  <a:tcPr marT="12700" marB="12700" marR="19050" marL="19050" anchor="ctr"/>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87"/>
                                        </p:tgtEl>
                                        <p:attrNameLst>
                                          <p:attrName>style.visibility</p:attrName>
                                        </p:attrNameLst>
                                      </p:cBhvr>
                                      <p:to>
                                        <p:strVal val="visible"/>
                                      </p:to>
                                    </p:set>
                                    <p:animEffect filter="fade" transition="in">
                                      <p:cBhvr>
                                        <p:cTn dur="1000"/>
                                        <p:tgtEl>
                                          <p:spTgt spid="87"/>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88"/>
                                        </p:tgtEl>
                                        <p:attrNameLst>
                                          <p:attrName>style.visibility</p:attrName>
                                        </p:attrNameLst>
                                      </p:cBhvr>
                                      <p:to>
                                        <p:strVal val="visible"/>
                                      </p:to>
                                    </p:set>
                                    <p:animEffect filter="fade" transition="in">
                                      <p:cBhvr>
                                        <p:cTn dur="1000"/>
                                        <p:tgtEl>
                                          <p:spTgt spid="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5"/>
          <p:cNvSpPr txBox="1"/>
          <p:nvPr>
            <p:ph type="title"/>
          </p:nvPr>
        </p:nvSpPr>
        <p:spPr>
          <a:xfrm>
            <a:off x="1433052" y="215216"/>
            <a:ext cx="4686300" cy="486900"/>
          </a:xfrm>
          <a:prstGeom prst="rect">
            <a:avLst/>
          </a:prstGeom>
          <a:noFill/>
          <a:ln>
            <a:noFill/>
          </a:ln>
        </p:spPr>
        <p:txBody>
          <a:bodyPr anchorCtr="0" anchor="t" bIns="0" lIns="0" spcFirstLastPara="1" rIns="0" wrap="square" tIns="9525">
            <a:spAutoFit/>
          </a:bodyPr>
          <a:lstStyle/>
          <a:p>
            <a:pPr indent="0" lvl="0" marL="1270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Literature Survey</a:t>
            </a:r>
            <a:endParaRPr sz="3100">
              <a:latin typeface="Times New Roman"/>
              <a:ea typeface="Times New Roman"/>
              <a:cs typeface="Times New Roman"/>
              <a:sym typeface="Times New Roman"/>
            </a:endParaRPr>
          </a:p>
        </p:txBody>
      </p:sp>
      <p:sp>
        <p:nvSpPr>
          <p:cNvPr id="95" name="Google Shape;95;p5"/>
          <p:cNvSpPr txBox="1"/>
          <p:nvPr/>
        </p:nvSpPr>
        <p:spPr>
          <a:xfrm>
            <a:off x="503696" y="1097999"/>
            <a:ext cx="6470541" cy="623217"/>
          </a:xfrm>
          <a:prstGeom prst="rect">
            <a:avLst/>
          </a:prstGeom>
          <a:noFill/>
          <a:ln>
            <a:noFill/>
          </a:ln>
        </p:spPr>
        <p:txBody>
          <a:bodyPr anchorCtr="0" anchor="t" bIns="34275" lIns="68575" spcFirstLastPara="1" rIns="68575" wrap="square" tIns="34275">
            <a:spAutoFit/>
          </a:bodyPr>
          <a:lstStyle/>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800"/>
              <a:buFont typeface="Times New Roman"/>
              <a:buNone/>
            </a:pPr>
            <a:r>
              <a:t/>
            </a:r>
            <a:endParaRPr b="0" i="0" sz="1800" u="none" cap="none" strike="noStrike">
              <a:solidFill>
                <a:schemeClr val="dk1"/>
              </a:solidFill>
              <a:highlight>
                <a:srgbClr val="FFFFFF"/>
              </a:highlight>
              <a:latin typeface="Times New Roman"/>
              <a:ea typeface="Times New Roman"/>
              <a:cs typeface="Times New Roman"/>
              <a:sym typeface="Times New Roman"/>
            </a:endParaRPr>
          </a:p>
        </p:txBody>
      </p:sp>
      <p:graphicFrame>
        <p:nvGraphicFramePr>
          <p:cNvPr id="96" name="Google Shape;96;p5"/>
          <p:cNvGraphicFramePr/>
          <p:nvPr/>
        </p:nvGraphicFramePr>
        <p:xfrm>
          <a:off x="676656" y="868680"/>
          <a:ext cx="3000000" cy="3000000"/>
        </p:xfrm>
        <a:graphic>
          <a:graphicData uri="http://schemas.openxmlformats.org/drawingml/2006/table">
            <a:tbl>
              <a:tblPr>
                <a:noFill/>
                <a:tableStyleId>{66A4A503-B986-45E2-8678-F1D963D36F8F}</a:tableStyleId>
              </a:tblPr>
              <a:tblGrid>
                <a:gridCol w="1600200"/>
                <a:gridCol w="1737360"/>
                <a:gridCol w="1737360"/>
                <a:gridCol w="1463040"/>
                <a:gridCol w="1188720"/>
              </a:tblGrid>
              <a:tr h="274320">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Title/ Year</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Methodology</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Findings</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Limitation</a:t>
                      </a:r>
                      <a:endParaRPr sz="1200" u="none" cap="none" strike="noStrike">
                        <a:solidFill>
                          <a:srgbClr val="1F1F1F"/>
                        </a:solidFill>
                        <a:latin typeface="Times New Roman"/>
                        <a:ea typeface="Times New Roman"/>
                        <a:cs typeface="Times New Roman"/>
                        <a:sym typeface="Times New Roman"/>
                      </a:endParaRPr>
                    </a:p>
                  </a:txBody>
                  <a:tcPr marT="50800" marB="50800" marR="76200" marL="76200" anchor="ctr"/>
                </a:tc>
                <a:tc>
                  <a:txBody>
                    <a:bodyPr/>
                    <a:lstStyle/>
                    <a:p>
                      <a:pPr indent="0" lvl="0" marL="0" marR="0" rtl="0" algn="ctr">
                        <a:lnSpc>
                          <a:spcPct val="100000"/>
                        </a:lnSpc>
                        <a:spcBef>
                          <a:spcPts val="0"/>
                        </a:spcBef>
                        <a:spcAft>
                          <a:spcPts val="0"/>
                        </a:spcAft>
                        <a:buClr>
                          <a:srgbClr val="000000"/>
                        </a:buClr>
                        <a:buSzPts val="1200"/>
                        <a:buFont typeface="Times New Roman"/>
                        <a:buNone/>
                      </a:pPr>
                      <a:r>
                        <a:rPr b="1" lang="en-IN" sz="1200" u="none" cap="none" strike="noStrike">
                          <a:solidFill>
                            <a:srgbClr val="1F1F1F"/>
                          </a:solidFill>
                          <a:latin typeface="Times New Roman"/>
                          <a:ea typeface="Times New Roman"/>
                          <a:cs typeface="Times New Roman"/>
                          <a:sym typeface="Times New Roman"/>
                        </a:rPr>
                        <a:t>Algorithms Used</a:t>
                      </a:r>
                      <a:endParaRPr sz="1400" u="none" cap="none" strike="noStrike">
                        <a:latin typeface="Times New Roman"/>
                        <a:ea typeface="Times New Roman"/>
                        <a:cs typeface="Times New Roman"/>
                        <a:sym typeface="Times New Roman"/>
                      </a:endParaRPr>
                    </a:p>
                  </a:txBody>
                  <a:tcPr marT="50800" marB="50800" marR="76200" marL="7620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DuckDB: an Embeddable Analytical Database (Raasveldt and Muhleisen, 2019)</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Describes an in-process analytical database with columnar, vectorised query execution.</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Runs analytical SQL without a server and reads Parquet files directly. Used for the search index.</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Single-writer design; not meant for many concurrent writers.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Columnar storage, vectorised execution</a:t>
                      </a:r>
                      <a:endParaRPr sz="1400" u="none" cap="none" strike="noStrike">
                        <a:latin typeface="Times New Roman"/>
                        <a:ea typeface="Times New Roman"/>
                        <a:cs typeface="Times New Roman"/>
                        <a:sym typeface="Times New Roman"/>
                      </a:endParaRPr>
                    </a:p>
                  </a:txBody>
                  <a:tcPr marT="12700" marB="12700" marR="19050" marL="19050" anchor="ctr"/>
                </a:tc>
              </a:tr>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The Adaptive Radix Tree: ARTful Indexing for Main-Memory Databases (Leis et al., 2013)</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Proposes an adaptive radix tree index whose nodes adapt their size to the keys stored.</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Fast exact and prefix lookups with low memory use; behind account search and suggestions.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Designed for main memory; ordering follows the key bytes.</a:t>
                      </a:r>
                      <a:endParaRPr sz="1400" u="none" cap="none" strike="noStrike">
                        <a:latin typeface="Times New Roman"/>
                        <a:ea typeface="Times New Roman"/>
                        <a:cs typeface="Times New Roman"/>
                        <a:sym typeface="Times New Roman"/>
                      </a:endParaRPr>
                    </a:p>
                  </a:txBody>
                  <a:tcPr marT="12700" marB="12700" marR="19050" marL="19050" anchor="ctr"/>
                </a:tc>
                <a:tc>
                  <a:txBody>
                    <a:bodyPr/>
                    <a:lstStyle/>
                    <a:p>
                      <a:pPr indent="0" lvl="0" marL="0" marR="0" rtl="0" algn="ctr">
                        <a:lnSpc>
                          <a:spcPct val="100000"/>
                        </a:lnSpc>
                        <a:spcBef>
                          <a:spcPts val="0"/>
                        </a:spcBef>
                        <a:spcAft>
                          <a:spcPts val="0"/>
                        </a:spcAft>
                        <a:buClr>
                          <a:srgbClr val="000000"/>
                        </a:buClr>
                        <a:buSzPts val="1000"/>
                        <a:buFont typeface="Times New Roman"/>
                        <a:buNone/>
                      </a:pPr>
                      <a:r>
                        <a:rPr b="0" lang="en-IN" sz="1000" u="none" cap="none" strike="noStrike">
                          <a:solidFill>
                            <a:srgbClr val="1F1F1F"/>
                          </a:solidFill>
                          <a:latin typeface="Times New Roman"/>
                          <a:ea typeface="Times New Roman"/>
                          <a:cs typeface="Times New Roman"/>
                          <a:sym typeface="Times New Roman"/>
                        </a:rPr>
                        <a:t>Adaptive radix tree, path compression</a:t>
                      </a:r>
                      <a:endParaRPr sz="1400" u="none" cap="none" strike="noStrike">
                        <a:latin typeface="Times New Roman"/>
                        <a:ea typeface="Times New Roman"/>
                        <a:cs typeface="Times New Roman"/>
                        <a:sym typeface="Times New Roman"/>
                      </a:endParaRPr>
                    </a:p>
                  </a:txBody>
                  <a:tcPr marT="12700" marB="12700" marR="19050" marL="19050" anchor="ctr"/>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94"/>
                                        </p:tgtEl>
                                        <p:attrNameLst>
                                          <p:attrName>style.visibility</p:attrName>
                                        </p:attrNameLst>
                                      </p:cBhvr>
                                      <p:to>
                                        <p:strVal val="visible"/>
                                      </p:to>
                                    </p:set>
                                    <p:animEffect filter="fade" transition="in">
                                      <p:cBhvr>
                                        <p:cTn dur="1000"/>
                                        <p:tgtEl>
                                          <p:spTgt spid="94"/>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1000"/>
                                        <p:tgtEl>
                                          <p:spTgt spid="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6"/>
          <p:cNvSpPr txBox="1"/>
          <p:nvPr>
            <p:ph type="title"/>
          </p:nvPr>
        </p:nvSpPr>
        <p:spPr>
          <a:xfrm>
            <a:off x="1311284" y="142896"/>
            <a:ext cx="5085300" cy="492443"/>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Objectives</a:t>
            </a:r>
            <a:r>
              <a:rPr lang="en-IN" sz="3200">
                <a:latin typeface="Times New Roman"/>
                <a:ea typeface="Times New Roman"/>
                <a:cs typeface="Times New Roman"/>
                <a:sym typeface="Times New Roman"/>
              </a:rPr>
              <a:t> </a:t>
            </a:r>
            <a:endParaRPr sz="3200">
              <a:latin typeface="Times New Roman"/>
              <a:ea typeface="Times New Roman"/>
              <a:cs typeface="Times New Roman"/>
              <a:sym typeface="Times New Roman"/>
            </a:endParaRPr>
          </a:p>
        </p:txBody>
      </p:sp>
      <p:sp>
        <p:nvSpPr>
          <p:cNvPr id="102" name="Google Shape;102;p6"/>
          <p:cNvSpPr/>
          <p:nvPr/>
        </p:nvSpPr>
        <p:spPr>
          <a:xfrm>
            <a:off x="38259" y="1107940"/>
            <a:ext cx="2160000" cy="3960000"/>
          </a:xfrm>
          <a:prstGeom prst="roundRect">
            <a:avLst>
              <a:gd fmla="val 16667" name="adj"/>
            </a:avLst>
          </a:prstGeom>
          <a:solidFill>
            <a:srgbClr val="F2F2F2"/>
          </a:solidFill>
          <a:ln cap="flat" cmpd="sng" w="25400">
            <a:solidFill>
              <a:schemeClr val="dk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000"/>
              <a:buFont typeface="Times New Roman"/>
              <a:buNone/>
            </a:pPr>
            <a:r>
              <a:rPr b="0" i="0" lang="en-IN" sz="1800" u="none" cap="none" strike="noStrike">
                <a:solidFill>
                  <a:schemeClr val="dk1"/>
                </a:solidFill>
                <a:latin typeface="Times New Roman"/>
                <a:ea typeface="Times New Roman"/>
                <a:cs typeface="Times New Roman"/>
                <a:sym typeface="Times New Roman"/>
              </a:rPr>
              <a:t>Scalable Data Processing</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000"/>
              <a:buFont typeface="Times New Roman"/>
              <a:buNone/>
            </a:pPr>
            <a:endParaRPr b="0" i="0" sz="2000" u="none" cap="none" strike="noStrike">
              <a:solidFill>
                <a:schemeClr val="dk1"/>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Process millions of transactions with Spark into a columnar data lake.</a:t>
            </a:r>
            <a:endParaRPr b="0" i="0" sz="120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Accept any transaction file through a validated, streaming upload.</a:t>
            </a:r>
            <a:endParaRPr b="0" i="0" sz="1200" u="none" cap="none" strike="noStrike">
              <a:solidFill>
                <a:schemeClr val="dk1"/>
              </a:solidFill>
              <a:latin typeface="Times New Roman"/>
              <a:ea typeface="Times New Roman"/>
              <a:cs typeface="Times New Roman"/>
              <a:sym typeface="Times New Roman"/>
            </a:endParaRPr>
          </a:p>
        </p:txBody>
      </p:sp>
      <p:sp>
        <p:nvSpPr>
          <p:cNvPr id="103" name="Google Shape;103;p6"/>
          <p:cNvSpPr/>
          <p:nvPr/>
        </p:nvSpPr>
        <p:spPr>
          <a:xfrm>
            <a:off x="2266045" y="1126387"/>
            <a:ext cx="2160000" cy="3960000"/>
          </a:xfrm>
          <a:prstGeom prst="roundRect">
            <a:avLst>
              <a:gd fmla="val 16667" name="adj"/>
            </a:avLst>
          </a:prstGeom>
          <a:solidFill>
            <a:srgbClr val="F2F2F2"/>
          </a:solidFill>
          <a:ln cap="flat" cmpd="sng" w="25400">
            <a:solidFill>
              <a:schemeClr val="dk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900"/>
              <a:buFont typeface="Times New Roman"/>
              <a:buNone/>
            </a:pPr>
            <a:r>
              <a:rPr b="0" i="0" lang="en-IN" sz="1800" u="none" cap="none" strike="noStrike">
                <a:solidFill>
                  <a:schemeClr val="dk1"/>
                </a:solidFill>
                <a:latin typeface="Times New Roman"/>
                <a:ea typeface="Times New Roman"/>
                <a:cs typeface="Times New Roman"/>
                <a:sym typeface="Times New Roman"/>
              </a:rPr>
              <a:t>Accurate Fraud Detection</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endParaRPr b="0" i="0" sz="1800" u="none" cap="none" strike="noStrike">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800"/>
              <a:buFont typeface="Times New Roman"/>
              <a:buNone/>
            </a:pPr>
            <a:endParaRPr b="0" i="0" sz="1800" u="none" cap="none" strike="noStrike">
              <a:solidFill>
                <a:schemeClr val="dk1"/>
              </a:solidFill>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Train and compare models with Spark MLlib on imbalanced data.</a:t>
            </a:r>
            <a:endParaRPr b="0" i="0" sz="1200" u="none" cap="none" strike="noStrike">
              <a:solidFill>
                <a:srgbClr val="000000"/>
              </a:solidFill>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Judge them with precision, recall and AUC-PR, not accuracy.</a:t>
            </a:r>
            <a:endParaRPr b="0" i="0" sz="1200" u="none" cap="none" strike="noStrike">
              <a:solidFill>
                <a:srgbClr val="000000"/>
              </a:solidFill>
              <a:latin typeface="Times New Roman"/>
              <a:ea typeface="Times New Roman"/>
              <a:cs typeface="Times New Roman"/>
              <a:sym typeface="Times New Roman"/>
            </a:endParaRPr>
          </a:p>
        </p:txBody>
      </p:sp>
      <p:sp>
        <p:nvSpPr>
          <p:cNvPr id="104" name="Google Shape;104;p6"/>
          <p:cNvSpPr/>
          <p:nvPr/>
        </p:nvSpPr>
        <p:spPr>
          <a:xfrm>
            <a:off x="6653832" y="1109312"/>
            <a:ext cx="2123430" cy="3960000"/>
          </a:xfrm>
          <a:prstGeom prst="roundRect">
            <a:avLst>
              <a:gd fmla="val 16667" name="adj"/>
            </a:avLst>
          </a:prstGeom>
          <a:solidFill>
            <a:srgbClr val="F2F2F2"/>
          </a:solidFill>
          <a:ln cap="flat" cmpd="sng" w="25400">
            <a:solidFill>
              <a:schemeClr val="dk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Times New Roman"/>
              <a:buNone/>
            </a:pPr>
            <a:r>
              <a:rPr b="0" i="0" lang="en-IN" sz="1800" u="none" cap="none" strike="noStrike">
                <a:solidFill>
                  <a:schemeClr val="dk1"/>
                </a:solidFill>
                <a:latin typeface="Times New Roman"/>
                <a:ea typeface="Times New Roman"/>
                <a:cs typeface="Times New Roman"/>
                <a:sym typeface="Times New Roman"/>
              </a:rPr>
              <a:t>Investigation Workflow</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endParaRPr b="0" i="0" sz="1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endParaRPr b="0" i="0" sz="1800" u="none" cap="none" strike="noStrike">
              <a:solidFill>
                <a:schemeClr val="dk1"/>
              </a:solidFill>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Manage fraud cases with create, read, update and delete.</a:t>
            </a:r>
            <a:endParaRPr b="0" i="0" sz="1200" u="none" cap="none" strike="noStrike">
              <a:solidFill>
                <a:srgbClr val="000000"/>
              </a:solidFill>
              <a:latin typeface="Times New Roman"/>
              <a:ea typeface="Times New Roman"/>
              <a:cs typeface="Times New Roman"/>
              <a:sym typeface="Times New Roman"/>
            </a:endParaRPr>
          </a:p>
          <a:p>
            <a:pPr indent="-171450" lvl="0" marL="1714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Explore, analyse and open cases on any dataset.</a:t>
            </a:r>
            <a:endParaRPr b="0" i="0" sz="1200" u="none" cap="none" strike="noStrike">
              <a:solidFill>
                <a:srgbClr val="000000"/>
              </a:solidFill>
              <a:latin typeface="Times New Roman"/>
              <a:ea typeface="Times New Roman"/>
              <a:cs typeface="Times New Roman"/>
              <a:sym typeface="Times New Roman"/>
            </a:endParaRPr>
          </a:p>
        </p:txBody>
      </p:sp>
      <p:sp>
        <p:nvSpPr>
          <p:cNvPr id="105" name="Google Shape;105;p6"/>
          <p:cNvSpPr/>
          <p:nvPr/>
        </p:nvSpPr>
        <p:spPr>
          <a:xfrm>
            <a:off x="4493831" y="1104492"/>
            <a:ext cx="2088000" cy="3960000"/>
          </a:xfrm>
          <a:prstGeom prst="roundRect">
            <a:avLst>
              <a:gd fmla="val 16667" name="adj"/>
            </a:avLst>
          </a:prstGeom>
          <a:solidFill>
            <a:srgbClr val="F2F2F2"/>
          </a:solidFill>
          <a:ln cap="flat" cmpd="sng" w="25400">
            <a:solidFill>
              <a:schemeClr val="dk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Times New Roman"/>
              <a:buNone/>
            </a:pPr>
            <a:r>
              <a:rPr b="0" i="0" lang="en-IN" sz="1800" u="none" cap="none" strike="noStrike">
                <a:solidFill>
                  <a:schemeClr val="dk1"/>
                </a:solidFill>
                <a:latin typeface="Times New Roman"/>
                <a:ea typeface="Times New Roman"/>
                <a:cs typeface="Times New Roman"/>
                <a:sym typeface="Times New Roman"/>
              </a:rPr>
              <a:t>Instant Search</a:t>
            </a:r>
            <a:endParaRPr b="0" i="0" sz="1400" u="none" cap="none" strike="noStrike">
              <a:solidFill>
                <a:srgbClr val="00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Times New Roman"/>
              <a:buNone/>
            </a:pPr>
            <a:endParaRPr b="0" i="0" sz="1800" u="none" cap="none" strike="noStrike">
              <a:solidFill>
                <a:schemeClr val="dk1"/>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Find every transaction of an account in milliseconds with an index.</a:t>
            </a:r>
            <a:endParaRPr b="0" i="0" sz="120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200"/>
              <a:buFont typeface="Times New Roman"/>
              <a:buChar char="•"/>
            </a:pPr>
            <a:r>
              <a:rPr b="0" i="0" lang="en-IN" sz="1200" u="none" cap="none" strike="noStrike">
                <a:solidFill>
                  <a:schemeClr val="dk1"/>
                </a:solidFill>
                <a:latin typeface="Times New Roman"/>
                <a:ea typeface="Times New Roman"/>
                <a:cs typeface="Times New Roman"/>
                <a:sym typeface="Times New Roman"/>
              </a:rPr>
              <a:t>Build an index for each uploaded file as well.</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7"/>
          <p:cNvSpPr txBox="1"/>
          <p:nvPr>
            <p:ph type="title"/>
          </p:nvPr>
        </p:nvSpPr>
        <p:spPr>
          <a:xfrm>
            <a:off x="1541080" y="168284"/>
            <a:ext cx="5085300" cy="430887"/>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2800" u="sng">
                <a:latin typeface="Times New Roman"/>
                <a:ea typeface="Times New Roman"/>
                <a:cs typeface="Times New Roman"/>
                <a:sym typeface="Times New Roman"/>
              </a:rPr>
              <a:t>System Architecture</a:t>
            </a:r>
            <a:endParaRPr sz="2800" u="sng">
              <a:latin typeface="Times New Roman"/>
              <a:ea typeface="Times New Roman"/>
              <a:cs typeface="Times New Roman"/>
              <a:sym typeface="Times New Roman"/>
            </a:endParaRPr>
          </a:p>
        </p:txBody>
      </p:sp>
      <p:pic>
        <p:nvPicPr>
          <p:cNvPr id="111" name="Picture 110" descr="fig_architecture.png"/>
          <p:cNvPicPr>
            <a:picLocks noChangeAspect="1"/>
          </p:cNvPicPr>
          <p:nvPr/>
        </p:nvPicPr>
        <p:blipFill>
          <a:blip r:embed="rId3"/>
          <a:stretch>
            <a:fillRect/>
          </a:stretch>
        </p:blipFill>
        <p:spPr>
          <a:xfrm>
            <a:off x="1889877" y="868680"/>
            <a:ext cx="5364245" cy="397763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8"/>
          <p:cNvSpPr txBox="1"/>
          <p:nvPr>
            <p:ph type="title"/>
          </p:nvPr>
        </p:nvSpPr>
        <p:spPr>
          <a:xfrm>
            <a:off x="1463029" y="272156"/>
            <a:ext cx="5085300" cy="477300"/>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Proposed Solution </a:t>
            </a:r>
            <a:endParaRPr u="sng">
              <a:latin typeface="Times New Roman"/>
              <a:ea typeface="Times New Roman"/>
              <a:cs typeface="Times New Roman"/>
              <a:sym typeface="Times New Roman"/>
            </a:endParaRPr>
          </a:p>
        </p:txBody>
      </p:sp>
      <p:sp>
        <p:nvSpPr>
          <p:cNvPr id="118" name="Google Shape;118;p8"/>
          <p:cNvSpPr/>
          <p:nvPr/>
        </p:nvSpPr>
        <p:spPr>
          <a:xfrm>
            <a:off x="642333" y="1259250"/>
            <a:ext cx="7439100" cy="2893200"/>
          </a:xfrm>
          <a:prstGeom prst="rect">
            <a:avLst/>
          </a:prstGeom>
          <a:noFill/>
          <a:ln>
            <a:noFill/>
          </a:ln>
        </p:spPr>
        <p:txBody>
          <a:bodyPr anchorCtr="0" anchor="ctr" bIns="45700" lIns="91425" spcFirstLastPara="1" rIns="91425" wrap="square" tIns="45700">
            <a:spAutoFit/>
          </a:bodyPr>
          <a:lstStyle/>
          <a:p>
            <a:pPr indent="-285750" lvl="0" marL="285750" marR="0" rtl="0" algn="just">
              <a:lnSpc>
                <a:spcPct val="100000"/>
              </a:lnSpc>
              <a:spcBef>
                <a:spcPts val="0"/>
              </a:spcBef>
              <a:spcAft>
                <a:spcPts val="0"/>
              </a:spcAft>
              <a:buClr>
                <a:schemeClr val="dk1"/>
              </a:buClr>
              <a:buSzPts val="1400"/>
              <a:buFont typeface="Times New Roman"/>
              <a:buChar char="•"/>
            </a:pPr>
            <a:r>
              <a:rPr b="1" i="0" lang="en-IN" u="none" cap="none" strike="noStrike">
                <a:solidFill>
                  <a:schemeClr val="dk1"/>
                </a:solidFill>
                <a:latin typeface="Times New Roman"/>
                <a:ea typeface="Times New Roman"/>
                <a:cs typeface="Times New Roman"/>
                <a:sym typeface="Times New Roman"/>
              </a:rPr>
              <a:t>Data Platform: </a:t>
            </a:r>
            <a:r>
              <a:rPr b="0" i="0" lang="en-IN" u="none" cap="none" strike="noStrike">
                <a:solidFill>
                  <a:schemeClr val="dk1"/>
                </a:solidFill>
                <a:latin typeface="Times New Roman"/>
                <a:ea typeface="Times New Roman"/>
                <a:cs typeface="Times New Roman"/>
                <a:sym typeface="Times New Roman"/>
              </a:rPr>
              <a:t>A Spark batch pipeline prepares the bulk data; any CSV file can be uploaded and is validated and streamed through the same scoring.</a:t>
            </a:r>
            <a:endParaRPr b="0" i="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chemeClr val="dk1"/>
              </a:buClr>
              <a:buSzPts val="1400"/>
              <a:buFont typeface="Times New Roman"/>
              <a:buChar char="•"/>
            </a:pPr>
            <a:r>
              <a:rPr b="1" i="0" lang="en-IN" u="none" cap="none" strike="noStrike">
                <a:solidFill>
                  <a:schemeClr val="dk1"/>
                </a:solidFill>
                <a:latin typeface="Times New Roman"/>
                <a:ea typeface="Times New Roman"/>
                <a:cs typeface="Times New Roman"/>
                <a:sym typeface="Times New Roman"/>
              </a:rPr>
              <a:t>Fraud Model: </a:t>
            </a:r>
            <a:r>
              <a:rPr b="0" i="0" lang="en-IN" u="none" cap="none" strike="noStrike">
                <a:solidFill>
                  <a:schemeClr val="dk1"/>
                </a:solidFill>
                <a:latin typeface="Times New Roman"/>
                <a:ea typeface="Times New Roman"/>
                <a:cs typeface="Times New Roman"/>
                <a:sym typeface="Times New Roman"/>
              </a:rPr>
              <a:t>A 60-tree Random Forest scores each transaction from nine features. It is trained with Spark MLlib and served without Spark.</a:t>
            </a:r>
            <a:endParaRPr b="0" i="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chemeClr val="dk1"/>
              </a:buClr>
              <a:buSzPts val="1400"/>
              <a:buFont typeface="Times New Roman"/>
              <a:buChar char="•"/>
            </a:pPr>
            <a:r>
              <a:rPr b="1" i="0" lang="en-IN" u="none" cap="none" strike="noStrike">
                <a:solidFill>
                  <a:schemeClr val="dk1"/>
                </a:solidFill>
                <a:latin typeface="Times New Roman"/>
                <a:ea typeface="Times New Roman"/>
                <a:cs typeface="Times New Roman"/>
                <a:sym typeface="Times New Roman"/>
              </a:rPr>
              <a:t>Millisecond Search: </a:t>
            </a:r>
            <a:r>
              <a:rPr b="0" i="0" lang="en-IN" u="none" cap="none" strike="noStrike">
                <a:solidFill>
                  <a:schemeClr val="dk1"/>
                </a:solidFill>
                <a:latin typeface="Times New Roman"/>
                <a:ea typeface="Times New Roman"/>
                <a:cs typeface="Times New Roman"/>
                <a:sym typeface="Times New Roman"/>
              </a:rPr>
              <a:t>Every dataset, bulk or uploaded, gets an index, so account lookup and suggestions while typing answer in milliseconds.</a:t>
            </a:r>
            <a:endParaRPr b="0" i="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chemeClr val="dk1"/>
              </a:buClr>
              <a:buSzPts val="1400"/>
              <a:buFont typeface="Times New Roman"/>
              <a:buChar char="•"/>
            </a:pPr>
            <a:r>
              <a:rPr b="1" i="0" lang="en-IN" u="none" cap="none" strike="noStrike">
                <a:solidFill>
                  <a:schemeClr val="dk1"/>
                </a:solidFill>
                <a:latin typeface="Times New Roman"/>
                <a:ea typeface="Times New Roman"/>
                <a:cs typeface="Times New Roman"/>
                <a:sym typeface="Times New Roman"/>
              </a:rPr>
              <a:t>Case Management: </a:t>
            </a:r>
            <a:r>
              <a:rPr b="0" i="0" lang="en-IN" u="none" cap="none" strike="noStrike">
                <a:solidFill>
                  <a:schemeClr val="dk1"/>
                </a:solidFill>
                <a:latin typeface="Times New Roman"/>
                <a:ea typeface="Times New Roman"/>
                <a:cs typeface="Times New Roman"/>
                <a:sym typeface="Times New Roman"/>
              </a:rPr>
              <a:t>Create, read, update and delete cases in MongoDB with a status workflow, notes and one open case per transaction.</a:t>
            </a:r>
            <a:endParaRPr b="0" i="0" u="none"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chemeClr val="dk1"/>
              </a:buClr>
              <a:buSzPts val="1400"/>
              <a:buFont typeface="Times New Roman"/>
              <a:buChar char="•"/>
            </a:pPr>
            <a:r>
              <a:rPr b="1" i="0" lang="en-IN" u="none" cap="none" strike="noStrike">
                <a:solidFill>
                  <a:schemeClr val="dk1"/>
                </a:solidFill>
                <a:latin typeface="Times New Roman"/>
                <a:ea typeface="Times New Roman"/>
                <a:cs typeface="Times New Roman"/>
                <a:sym typeface="Times New Roman"/>
              </a:rPr>
              <a:t>One Interface: </a:t>
            </a:r>
            <a:r>
              <a:rPr b="0" i="0" lang="en-IN" u="none" cap="none" strike="noStrike">
                <a:solidFill>
                  <a:schemeClr val="dk1"/>
                </a:solidFill>
                <a:latin typeface="Times New Roman"/>
                <a:ea typeface="Times New Roman"/>
                <a:cs typeface="Times New Roman"/>
                <a:sym typeface="Times New Roman"/>
              </a:rPr>
              <a:t>Overview, Explorer, Cases and Upload work on whichever dataset is selected, all through a validated REST API.</a:t>
            </a:r>
            <a:endParaRPr b="0" i="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9"/>
          <p:cNvSpPr txBox="1"/>
          <p:nvPr>
            <p:ph type="title"/>
          </p:nvPr>
        </p:nvSpPr>
        <p:spPr>
          <a:xfrm>
            <a:off x="1383095" y="154984"/>
            <a:ext cx="5085300" cy="477054"/>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Results</a:t>
            </a:r>
            <a:endParaRPr>
              <a:latin typeface="Times New Roman"/>
              <a:ea typeface="Times New Roman"/>
              <a:cs typeface="Times New Roman"/>
              <a:sym typeface="Times New Roman"/>
            </a:endParaRPr>
          </a:p>
        </p:txBody>
      </p:sp>
      <p:sp>
        <p:nvSpPr>
          <p:cNvPr id="124" name="Google Shape;124;p9"/>
          <p:cNvSpPr txBox="1"/>
          <p:nvPr/>
        </p:nvSpPr>
        <p:spPr>
          <a:xfrm>
            <a:off x="228600" y="685800"/>
            <a:ext cx="6629400" cy="254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Times New Roman"/>
              <a:buNone/>
            </a:pPr>
            <a:r>
              <a:rPr b="1" i="0" lang="en-IN" sz="1300" u="none" cap="none" strike="noStrike">
                <a:solidFill>
                  <a:srgbClr val="C00000"/>
                </a:solidFill>
                <a:latin typeface="Times New Roman"/>
                <a:ea typeface="Times New Roman"/>
                <a:cs typeface="Times New Roman"/>
                <a:sym typeface="Times New Roman"/>
              </a:rPr>
              <a:t>Table 1: Model Comparison on Held-out Test Data (831,437 transactions, 2,407 frauds)</a:t>
            </a:r>
            <a:endParaRPr>
              <a:latin typeface="Times New Roman"/>
              <a:ea typeface="Times New Roman"/>
              <a:cs typeface="Times New Roman"/>
              <a:sym typeface="Times New Roman"/>
            </a:endParaRPr>
          </a:p>
        </p:txBody>
      </p:sp>
      <p:graphicFrame>
        <p:nvGraphicFramePr>
          <p:cNvPr id="125" name="Google Shape;125;p9"/>
          <p:cNvGraphicFramePr/>
          <p:nvPr/>
        </p:nvGraphicFramePr>
        <p:xfrm>
          <a:off x="228600" y="914400"/>
          <a:ext cx="3000000" cy="3000000"/>
        </p:xfrm>
        <a:graphic>
          <a:graphicData uri="http://schemas.openxmlformats.org/drawingml/2006/table">
            <a:tbl>
              <a:tblPr bandRow="1" firstRow="1">
                <a:noFill/>
                <a:tableStyleId>{A2CE560F-E46D-4558-8A09-8A56FFD5A36B}</a:tableStyleId>
              </a:tblPr>
              <a:tblGrid>
                <a:gridCol w="2286000"/>
                <a:gridCol w="914400"/>
                <a:gridCol w="822960"/>
                <a:gridCol w="731520"/>
                <a:gridCol w="914400"/>
                <a:gridCol w="1554480"/>
                <a:gridCol w="1280160"/>
              </a:tblGrid>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Model</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Precision</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Recall</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F1</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AUC-PR</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Frauds Caught</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False Alarms</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Logistic Regression (baseline)</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0.043</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0.909</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0.083</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0.549</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2,189 / 2,407</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48,466</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Random Forest (selected) ★</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0.993</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0.998</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0.995</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0.998</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2,401 / 2,407</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17</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Existing rule-based flag</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1.000</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0.002</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0.003</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4 / 2,407</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0</a:t>
                      </a:r>
                      <a:endParaRPr>
                        <a:latin typeface="Times New Roman"/>
                        <a:ea typeface="Times New Roman"/>
                        <a:cs typeface="Times New Roman"/>
                        <a:sym typeface="Times New Roman"/>
                      </a:endParaRPr>
                    </a:p>
                  </a:txBody>
                  <a:tcPr marT="38100" marB="38100" marR="76200" marL="76200"/>
                </a:tc>
              </a:tr>
            </a:tbl>
          </a:graphicData>
        </a:graphic>
      </p:graphicFrame>
      <p:sp>
        <p:nvSpPr>
          <p:cNvPr id="126" name="Google Shape;126;p9"/>
          <p:cNvSpPr txBox="1"/>
          <p:nvPr/>
        </p:nvSpPr>
        <p:spPr>
          <a:xfrm>
            <a:off x="228600" y="2286000"/>
            <a:ext cx="6629400" cy="254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Times New Roman"/>
              <a:buNone/>
            </a:pPr>
            <a:r>
              <a:rPr b="1" i="0" lang="en-IN" sz="1300" u="none" cap="none" strike="noStrike">
                <a:solidFill>
                  <a:srgbClr val="C00000"/>
                </a:solidFill>
                <a:latin typeface="Times New Roman"/>
                <a:ea typeface="Times New Roman"/>
                <a:cs typeface="Times New Roman"/>
                <a:sym typeface="Times New Roman"/>
              </a:rPr>
              <a:t>Table 2: Platform Performance</a:t>
            </a:r>
            <a:endParaRPr>
              <a:latin typeface="Times New Roman"/>
              <a:ea typeface="Times New Roman"/>
              <a:cs typeface="Times New Roman"/>
              <a:sym typeface="Times New Roman"/>
            </a:endParaRPr>
          </a:p>
        </p:txBody>
      </p:sp>
      <p:graphicFrame>
        <p:nvGraphicFramePr>
          <p:cNvPr id="127" name="Google Shape;127;p9"/>
          <p:cNvGraphicFramePr/>
          <p:nvPr/>
        </p:nvGraphicFramePr>
        <p:xfrm>
          <a:off x="228600" y="2606040"/>
          <a:ext cx="3000000" cy="3000000"/>
        </p:xfrm>
        <a:graphic>
          <a:graphicData uri="http://schemas.openxmlformats.org/drawingml/2006/table">
            <a:tbl>
              <a:tblPr bandRow="1" firstRow="1">
                <a:noFill/>
                <a:tableStyleId>{A2CE560F-E46D-4558-8A09-8A56FFD5A36B}</a:tableStyleId>
              </a:tblPr>
              <a:tblGrid>
                <a:gridCol w="2377440"/>
                <a:gridCol w="2651760"/>
                <a:gridCol w="3566160"/>
              </a:tblGrid>
              <a:tr h="274320">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Capability</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Measured</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1000"/>
                        <a:buFont typeface="Times New Roman"/>
                        <a:buNone/>
                      </a:pPr>
                      <a:r>
                        <a:rPr b="1" lang="en-IN" sz="1000" u="none" cap="none" strike="noStrike">
                          <a:latin typeface="Times New Roman"/>
                          <a:ea typeface="Times New Roman"/>
                          <a:cs typeface="Times New Roman"/>
                          <a:sym typeface="Times New Roman"/>
                        </a:rPr>
                        <a:t>Compared with</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Account lookup with an index</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2.5 ms (median)</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Spark scan of the same data: 1,441 ms (574× slower)</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Suggestions while typing</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about 8 to 30 ms</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Up to 10 matching accounts per pause in typing</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Scoring throughput</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a:latin typeface="Times New Roman"/>
                          <a:ea typeface="Times New Roman"/>
                          <a:cs typeface="Times New Roman"/>
                          <a:sym typeface="Times New Roman"/>
                        </a:rPr>
                        <a:t>426,000 rows/s</a:t>
                      </a:r>
                      <a:endParaRPr sz="900">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a:latin typeface="Times New Roman"/>
                          <a:ea typeface="Times New Roman"/>
                          <a:cs typeface="Times New Roman"/>
                          <a:sym typeface="Times New Roman"/>
                        </a:rPr>
                        <a:t>38,000 rows/s without blocks and threads</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b="1" lang="en-IN" sz="900" u="none" cap="none" strike="noStrike">
                          <a:solidFill>
                            <a:srgbClr val="C00000"/>
                          </a:solidFill>
                          <a:latin typeface="Times New Roman"/>
                          <a:ea typeface="Times New Roman"/>
                          <a:cs typeface="Times New Roman"/>
                          <a:sym typeface="Times New Roman"/>
                        </a:rPr>
                        <a:t>Upload of an 8.0M-row file</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b="1" lang="en-IN" sz="900">
                          <a:solidFill>
                            <a:srgbClr val="C00000"/>
                          </a:solidFill>
                          <a:latin typeface="Times New Roman"/>
                          <a:ea typeface="Times New Roman"/>
                          <a:cs typeface="Times New Roman"/>
                          <a:sym typeface="Times New Roman"/>
                        </a:rPr>
                        <a:t>scored in about 30 s, indexed in about 42 s</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b="1" lang="en-IN" sz="900">
                          <a:solidFill>
                            <a:srgbClr val="C00000"/>
                          </a:solidFill>
                          <a:latin typeface="Times New Roman"/>
                          <a:ea typeface="Times New Roman"/>
                          <a:cs typeface="Times New Roman"/>
                          <a:sym typeface="Times New Roman"/>
                        </a:rPr>
                        <a:t>Streamed in 16 MB blocks; memory does not grow with file size</a:t>
                      </a:r>
                      <a:endParaRPr>
                        <a:latin typeface="Times New Roman"/>
                        <a:ea typeface="Times New Roman"/>
                        <a:cs typeface="Times New Roman"/>
                        <a:sym typeface="Times New Roman"/>
                      </a:endParaRPr>
                    </a:p>
                  </a:txBody>
                  <a:tcPr marT="38100" marB="38100" marR="76200" marL="76200"/>
                </a:tc>
              </a:tr>
              <a:tr h="274320">
                <a:tc>
                  <a:txBody>
                    <a:bodyPr/>
                    <a:lstStyle/>
                    <a:p>
                      <a:pPr indent="0" lvl="0" marL="0" marR="0" rtl="0" algn="l">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Automated tests</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144 passing</a:t>
                      </a:r>
                      <a:endParaRPr>
                        <a:latin typeface="Times New Roman"/>
                        <a:ea typeface="Times New Roman"/>
                        <a:cs typeface="Times New Roman"/>
                        <a:sym typeface="Times New Roman"/>
                      </a:endParaRPr>
                    </a:p>
                  </a:txBody>
                  <a:tcPr marT="38100" marB="38100" marR="76200" marL="76200"/>
                </a:tc>
                <a:tc>
                  <a:txBody>
                    <a:bodyPr/>
                    <a:lstStyle/>
                    <a:p>
                      <a:pPr indent="0" lvl="0" marL="0" marR="0" rtl="0" algn="ctr">
                        <a:lnSpc>
                          <a:spcPct val="100000"/>
                        </a:lnSpc>
                        <a:spcBef>
                          <a:spcPts val="0"/>
                        </a:spcBef>
                        <a:spcAft>
                          <a:spcPts val="0"/>
                        </a:spcAft>
                        <a:buClr>
                          <a:srgbClr val="000000"/>
                        </a:buClr>
                        <a:buSzPts val="900"/>
                        <a:buFont typeface="Times New Roman"/>
                        <a:buNone/>
                      </a:pPr>
                      <a:r>
                        <a:rPr lang="en-IN" sz="900" u="none" cap="none" strike="noStrike">
                          <a:latin typeface="Times New Roman"/>
                          <a:ea typeface="Times New Roman"/>
                          <a:cs typeface="Times New Roman"/>
                          <a:sym typeface="Times New Roman"/>
                        </a:rPr>
                        <a:t>Scoring matches Spark within 0.00005</a:t>
                      </a:r>
                      <a:endParaRPr>
                        <a:latin typeface="Times New Roman"/>
                        <a:ea typeface="Times New Roman"/>
                        <a:cs typeface="Times New Roman"/>
                        <a:sym typeface="Times New Roman"/>
                      </a:endParaRPr>
                    </a:p>
                  </a:txBody>
                  <a:tcPr marT="38100" marB="38100" marR="76200" marL="76200"/>
                </a:tc>
              </a:tr>
            </a:tbl>
          </a:graphicData>
        </a:graphic>
      </p:graphicFrame>
      <p:sp>
        <p:nvSpPr>
          <p:cNvPr id="128" name="Google Shape;128;p9"/>
          <p:cNvSpPr txBox="1"/>
          <p:nvPr/>
        </p:nvSpPr>
        <p:spPr>
          <a:xfrm>
            <a:off x="228600" y="4648200"/>
            <a:ext cx="9143000" cy="22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Times New Roman"/>
              <a:buNone/>
            </a:pPr>
            <a:r>
              <a:rPr b="0" i="1" lang="en-IN" sz="800" u="none" cap="none" strike="noStrike">
                <a:solidFill>
                  <a:srgbClr val="595959"/>
                </a:solidFill>
                <a:latin typeface="Times New Roman"/>
                <a:ea typeface="Times New Roman"/>
                <a:cs typeface="Times New Roman"/>
                <a:sym typeface="Times New Roman"/>
              </a:rPr>
              <a:t>★ Model figures are on held-out benchmark data. On an unseen 8.0M-row uploaded file the model finds 92.1% of frauds at 51.8% precision, an honest result on a different dataset.</a:t>
            </a:r>
            <a:endParaRPr>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1"/>
          <p:cNvSpPr txBox="1"/>
          <p:nvPr>
            <p:ph type="title"/>
          </p:nvPr>
        </p:nvSpPr>
        <p:spPr>
          <a:xfrm>
            <a:off x="1392670" y="243432"/>
            <a:ext cx="5085300" cy="477054"/>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Conclusion</a:t>
            </a:r>
            <a:endParaRPr sz="3100" u="sng">
              <a:latin typeface="Times New Roman"/>
              <a:ea typeface="Times New Roman"/>
              <a:cs typeface="Times New Roman"/>
              <a:sym typeface="Times New Roman"/>
            </a:endParaRPr>
          </a:p>
        </p:txBody>
      </p:sp>
      <p:sp>
        <p:nvSpPr>
          <p:cNvPr id="135" name="Google Shape;135;p11"/>
          <p:cNvSpPr txBox="1"/>
          <p:nvPr/>
        </p:nvSpPr>
        <p:spPr>
          <a:xfrm>
            <a:off x="378300" y="1166300"/>
            <a:ext cx="4193700" cy="3122700"/>
          </a:xfrm>
          <a:prstGeom prst="rect">
            <a:avLst/>
          </a:prstGeom>
          <a:noFill/>
          <a:ln>
            <a:noFill/>
          </a:ln>
        </p:spPr>
        <p:txBody>
          <a:bodyPr anchorCtr="0" anchor="ctr" bIns="45700" lIns="91425" spcFirstLastPara="1" rIns="91425" wrap="square" tIns="45700">
            <a:noAutofit/>
          </a:bodyPr>
          <a:lstStyle/>
          <a:p>
            <a:pPr indent="-323850" lvl="0" marL="457200" marR="0" rtl="0" algn="just">
              <a:lnSpc>
                <a:spcPct val="100000"/>
              </a:lnSpc>
              <a:spcBef>
                <a:spcPts val="0"/>
              </a:spcBef>
              <a:spcAft>
                <a:spcPts val="0"/>
              </a:spcAft>
              <a:buClr>
                <a:srgbClr val="000000"/>
              </a:buClr>
              <a:buSzPts val="1500"/>
              <a:buFont typeface="Times New Roman"/>
              <a:buChar char="•"/>
            </a:pPr>
            <a:r>
              <a:rPr b="0" i="0" lang="en-IN" u="none" cap="none" strike="noStrike">
                <a:solidFill>
                  <a:schemeClr val="dk1"/>
                </a:solidFill>
                <a:latin typeface="Times New Roman"/>
                <a:ea typeface="Times New Roman"/>
                <a:cs typeface="Times New Roman"/>
                <a:sym typeface="Times New Roman"/>
              </a:rPr>
              <a:t>The platform takes transaction data from a </a:t>
            </a:r>
            <a:r>
              <a:rPr b="1" i="0" lang="en-IN" u="none" cap="none" strike="noStrike">
                <a:solidFill>
                  <a:schemeClr val="dk1"/>
                </a:solidFill>
                <a:latin typeface="Times New Roman"/>
                <a:ea typeface="Times New Roman"/>
                <a:cs typeface="Times New Roman"/>
                <a:sym typeface="Times New Roman"/>
              </a:rPr>
              <a:t>Spark pipeline or a CSV upload</a:t>
            </a:r>
            <a:r>
              <a:rPr b="0" i="0" lang="en-IN" u="none" cap="none" strike="noStrike">
                <a:solidFill>
                  <a:schemeClr val="dk1"/>
                </a:solidFill>
                <a:latin typeface="Times New Roman"/>
                <a:ea typeface="Times New Roman"/>
                <a:cs typeface="Times New Roman"/>
                <a:sym typeface="Times New Roman"/>
              </a:rPr>
              <a:t> to model scores, instant search and investigated cases in one system.</a:t>
            </a:r>
            <a:endParaRPr b="0" i="0" u="none" cap="none" strike="noStrike">
              <a:solidFill>
                <a:schemeClr val="dk1"/>
              </a:solidFill>
              <a:latin typeface="Times New Roman"/>
              <a:ea typeface="Times New Roman"/>
              <a:cs typeface="Times New Roman"/>
              <a:sym typeface="Times New Roman"/>
            </a:endParaRPr>
          </a:p>
          <a:p>
            <a:pPr indent="-323850" lvl="0" marL="457200" marR="0" rtl="0" algn="just">
              <a:lnSpc>
                <a:spcPct val="100000"/>
              </a:lnSpc>
              <a:spcBef>
                <a:spcPts val="0"/>
              </a:spcBef>
              <a:spcAft>
                <a:spcPts val="0"/>
              </a:spcAft>
              <a:buClr>
                <a:srgbClr val="000000"/>
              </a:buClr>
              <a:buSzPts val="1500"/>
              <a:buFont typeface="Times New Roman"/>
              <a:buChar char="•"/>
            </a:pPr>
            <a:r>
              <a:rPr b="1" i="0" lang="en-IN" u="none" cap="none" strike="noStrike">
                <a:solidFill>
                  <a:schemeClr val="dk1"/>
                </a:solidFill>
                <a:latin typeface="Times New Roman"/>
                <a:ea typeface="Times New Roman"/>
                <a:cs typeface="Times New Roman"/>
                <a:sym typeface="Times New Roman"/>
              </a:rPr>
              <a:t>A </a:t>
            </a:r>
            <a:r>
              <a:rPr b="1" i="0" lang="en-IN" u="none" cap="none" strike="noStrike">
                <a:solidFill>
                  <a:schemeClr val="dk1"/>
                </a:solidFill>
                <a:latin typeface="Times New Roman"/>
                <a:ea typeface="Times New Roman"/>
                <a:cs typeface="Times New Roman"/>
                <a:sym typeface="Times New Roman"/>
              </a:rPr>
              <a:t>60-tree Random Forest</a:t>
            </a:r>
            <a:r>
              <a:rPr b="1" i="0" lang="en-IN" u="none" cap="none" strike="noStrike">
                <a:solidFill>
                  <a:schemeClr val="dk1"/>
                </a:solidFill>
                <a:latin typeface="Times New Roman"/>
                <a:ea typeface="Times New Roman"/>
                <a:cs typeface="Times New Roman"/>
                <a:sym typeface="Times New Roman"/>
              </a:rPr>
              <a:t> finds 99.75% of frauds at 99.3% precision on held-out data and scores about 426,000 rows per second.</a:t>
            </a:r>
            <a:endParaRPr b="0" i="0" u="none" cap="none" strike="noStrike">
              <a:solidFill>
                <a:schemeClr val="dk1"/>
              </a:solidFill>
              <a:latin typeface="Times New Roman"/>
              <a:ea typeface="Times New Roman"/>
              <a:cs typeface="Times New Roman"/>
              <a:sym typeface="Times New Roman"/>
            </a:endParaRPr>
          </a:p>
          <a:p>
            <a:pPr indent="-323850" lvl="0" marL="457200" marR="0" rtl="0" algn="just">
              <a:lnSpc>
                <a:spcPct val="100000"/>
              </a:lnSpc>
              <a:spcBef>
                <a:spcPts val="0"/>
              </a:spcBef>
              <a:spcAft>
                <a:spcPts val="0"/>
              </a:spcAft>
              <a:buClr>
                <a:srgbClr val="000000"/>
              </a:buClr>
              <a:buSzPts val="1500"/>
              <a:buFont typeface="Times New Roman"/>
              <a:buChar char="•"/>
            </a:pPr>
            <a:r>
              <a:rPr b="1" i="0" lang="en-IN" u="none" cap="none" strike="noStrike">
                <a:solidFill>
                  <a:schemeClr val="dk1"/>
                </a:solidFill>
                <a:latin typeface="Times New Roman"/>
                <a:ea typeface="Times New Roman"/>
                <a:cs typeface="Times New Roman"/>
                <a:sym typeface="Times New Roman"/>
              </a:rPr>
              <a:t>Indexes</a:t>
            </a:r>
            <a:r>
              <a:rPr b="0" i="0" lang="en-IN" u="none" cap="none" strike="noStrike">
                <a:solidFill>
                  <a:schemeClr val="dk1"/>
                </a:solidFill>
                <a:latin typeface="Times New Roman"/>
                <a:ea typeface="Times New Roman"/>
                <a:cs typeface="Times New Roman"/>
                <a:sym typeface="Times New Roman"/>
              </a:rPr>
              <a:t> make lookups 574 times faster than a Spark scan; uploads of 8 million rows are scored and explorable in about a minute.</a:t>
            </a:r>
            <a:endParaRPr b="0" i="0" u="none" cap="none" strike="noStrike">
              <a:solidFill>
                <a:schemeClr val="dk1"/>
              </a:solidFill>
              <a:latin typeface="Times New Roman"/>
              <a:ea typeface="Times New Roman"/>
              <a:cs typeface="Times New Roman"/>
              <a:sym typeface="Times New Roman"/>
            </a:endParaRPr>
          </a:p>
          <a:p>
            <a:pPr indent="-323850" lvl="0" marL="457200" marR="0" rtl="0" algn="just">
              <a:lnSpc>
                <a:spcPct val="100000"/>
              </a:lnSpc>
              <a:spcBef>
                <a:spcPts val="0"/>
              </a:spcBef>
              <a:spcAft>
                <a:spcPts val="0"/>
              </a:spcAft>
              <a:buClr>
                <a:srgbClr val="000000"/>
              </a:buClr>
              <a:buSzPts val="1500"/>
              <a:buFont typeface="Times New Roman"/>
              <a:buChar char="•"/>
            </a:pPr>
            <a:r>
              <a:rPr b="0" i="0" lang="en-IN" u="none" cap="none" strike="noStrike">
                <a:solidFill>
                  <a:schemeClr val="dk1"/>
                </a:solidFill>
                <a:latin typeface="Times New Roman"/>
                <a:ea typeface="Times New Roman"/>
                <a:cs typeface="Times New Roman"/>
                <a:sym typeface="Times New Roman"/>
              </a:rPr>
              <a:t>Limits: simulated data, Spark in local mode, no login. Future work: </a:t>
            </a:r>
            <a:r>
              <a:rPr b="1" i="0" lang="en-IN" u="none" cap="none" strike="noStrike">
                <a:solidFill>
                  <a:schemeClr val="dk1"/>
                </a:solidFill>
                <a:latin typeface="Times New Roman"/>
                <a:ea typeface="Times New Roman"/>
                <a:cs typeface="Times New Roman"/>
                <a:sym typeface="Times New Roman"/>
              </a:rPr>
              <a:t>streaming scoring, a cluster, authentication</a:t>
            </a:r>
            <a:r>
              <a:rPr b="0" i="0" lang="en-IN" u="none" cap="none" strike="noStrike">
                <a:solidFill>
                  <a:schemeClr val="dk1"/>
                </a:solidFill>
                <a:latin typeface="Times New Roman"/>
                <a:ea typeface="Times New Roman"/>
                <a:cs typeface="Times New Roman"/>
                <a:sym typeface="Times New Roman"/>
              </a:rPr>
              <a:t> and per-transaction explanations.</a:t>
            </a:r>
            <a:endParaRPr b="0" i="0" u="none" cap="none" strike="noStrike">
              <a:solidFill>
                <a:schemeClr val="dk1"/>
              </a:solidFill>
              <a:latin typeface="Times New Roman"/>
              <a:ea typeface="Times New Roman"/>
              <a:cs typeface="Times New Roman"/>
              <a:sym typeface="Times New Roman"/>
            </a:endParaRPr>
          </a:p>
        </p:txBody>
      </p:sp>
      <p:pic>
        <p:nvPicPr>
          <p:cNvPr id="136" name="Picture 135" descr="fig_cases.png"/>
          <p:cNvPicPr>
            <a:picLocks noChangeAspect="1"/>
          </p:cNvPicPr>
          <p:nvPr/>
        </p:nvPicPr>
        <p:blipFill>
          <a:blip r:embed="rId3"/>
          <a:stretch>
            <a:fillRect/>
          </a:stretch>
        </p:blipFill>
        <p:spPr>
          <a:xfrm>
            <a:off x="4849906" y="996463"/>
            <a:ext cx="3743531" cy="3147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2"/>
          <p:cNvSpPr txBox="1"/>
          <p:nvPr>
            <p:ph type="title"/>
          </p:nvPr>
        </p:nvSpPr>
        <p:spPr>
          <a:xfrm>
            <a:off x="1383095" y="214707"/>
            <a:ext cx="5085300" cy="477054"/>
          </a:xfrm>
          <a:prstGeom prst="rect">
            <a:avLst/>
          </a:prstGeom>
          <a:noFill/>
          <a:ln>
            <a:noFill/>
          </a:ln>
        </p:spPr>
        <p:txBody>
          <a:bodyPr anchorCtr="0" anchor="t" bIns="0" lIns="0" spcFirstLastPara="1" rIns="0" wrap="square" tIns="0">
            <a:spAutoFit/>
          </a:bodyPr>
          <a:lstStyle/>
          <a:p>
            <a:pPr indent="0" lvl="0" marL="0" rtl="0" algn="ctr">
              <a:lnSpc>
                <a:spcPct val="100000"/>
              </a:lnSpc>
              <a:spcBef>
                <a:spcPts val="0"/>
              </a:spcBef>
              <a:spcAft>
                <a:spcPts val="0"/>
              </a:spcAft>
              <a:buSzPts val="2800"/>
              <a:buNone/>
            </a:pPr>
            <a:r>
              <a:rPr lang="en-IN" sz="3100" u="sng">
                <a:latin typeface="Times New Roman"/>
                <a:ea typeface="Times New Roman"/>
                <a:cs typeface="Times New Roman"/>
                <a:sym typeface="Times New Roman"/>
              </a:rPr>
              <a:t>References</a:t>
            </a:r>
            <a:endParaRPr sz="3100" u="sng">
              <a:latin typeface="Times New Roman"/>
              <a:ea typeface="Times New Roman"/>
              <a:cs typeface="Times New Roman"/>
              <a:sym typeface="Times New Roman"/>
            </a:endParaRPr>
          </a:p>
        </p:txBody>
      </p:sp>
      <p:sp>
        <p:nvSpPr>
          <p:cNvPr id="141" name="Google Shape;141;p12"/>
          <p:cNvSpPr txBox="1"/>
          <p:nvPr/>
        </p:nvSpPr>
        <p:spPr>
          <a:xfrm>
            <a:off x="411480" y="868680"/>
            <a:ext cx="8321040" cy="2605262"/>
          </a:xfrm>
          <a:prstGeom prst="rect">
            <a:avLst/>
          </a:prstGeom>
          <a:noFill/>
          <a:ln>
            <a:noFill/>
          </a:ln>
        </p:spPr>
        <p:txBody>
          <a:bodyPr anchorCtr="0" anchor="t" bIns="91425" lIns="91425" spcFirstLastPara="1" rIns="91425" wrap="square" tIns="91425">
            <a:noAutofit/>
          </a:bodyPr>
          <a:lstStyle/>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 L. Breiman, “Random Forests,” </a:t>
            </a:r>
            <a:r>
              <a:rPr b="0" i="1" lang="en-IN" sz="1200" u="none" cap="none" strike="noStrike">
                <a:solidFill>
                  <a:srgbClr val="000000"/>
                </a:solidFill>
                <a:latin typeface="Times New Roman"/>
                <a:ea typeface="Times New Roman"/>
                <a:cs typeface="Times New Roman"/>
                <a:sym typeface="Times New Roman"/>
              </a:rPr>
              <a:t>Machine Learning</a:t>
            </a:r>
            <a:r>
              <a:rPr b="0" i="0" lang="en-IN" sz="1200" u="none" cap="none" strike="noStrike">
                <a:solidFill>
                  <a:srgbClr val="000000"/>
                </a:solidFill>
                <a:latin typeface="Times New Roman"/>
                <a:ea typeface="Times New Roman"/>
                <a:cs typeface="Times New Roman"/>
                <a:sym typeface="Times New Roman"/>
              </a:rPr>
              <a:t>, vol. 45, no. 1, pp. 5–32, 2001.</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[2] M. Zaharia </a:t>
            </a:r>
            <a:r>
              <a:rPr b="0" i="1" lang="en-IN" sz="1200" u="none" cap="none" strike="noStrike">
                <a:solidFill>
                  <a:srgbClr val="000000"/>
                </a:solidFill>
                <a:latin typeface="Times New Roman"/>
                <a:ea typeface="Times New Roman"/>
                <a:cs typeface="Times New Roman"/>
                <a:sym typeface="Times New Roman"/>
              </a:rPr>
              <a:t>et al.</a:t>
            </a:r>
            <a:r>
              <a:rPr b="0" i="0" lang="en-IN" sz="1200" u="none" cap="none" strike="noStrike">
                <a:solidFill>
                  <a:srgbClr val="000000"/>
                </a:solidFill>
                <a:latin typeface="Times New Roman"/>
                <a:ea typeface="Times New Roman"/>
                <a:cs typeface="Times New Roman"/>
                <a:sym typeface="Times New Roman"/>
              </a:rPr>
              <a:t>, “Apache Spark: A Unified Engine for Big Data Processing,” Commun. ACM, vol. 59, no. 11, 2016.</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[3] X. Meng </a:t>
            </a:r>
            <a:r>
              <a:rPr b="0" i="1" lang="en-IN" sz="1200" u="none" cap="none" strike="noStrike">
                <a:solidFill>
                  <a:srgbClr val="000000"/>
                </a:solidFill>
                <a:latin typeface="Times New Roman"/>
                <a:ea typeface="Times New Roman"/>
                <a:cs typeface="Times New Roman"/>
                <a:sym typeface="Times New Roman"/>
              </a:rPr>
              <a:t>et al.</a:t>
            </a:r>
            <a:r>
              <a:rPr b="0" i="0" lang="en-IN" sz="1200" u="none" cap="none" strike="noStrike">
                <a:solidFill>
                  <a:srgbClr val="000000"/>
                </a:solidFill>
                <a:latin typeface="Times New Roman"/>
                <a:ea typeface="Times New Roman"/>
                <a:cs typeface="Times New Roman"/>
                <a:sym typeface="Times New Roman"/>
              </a:rPr>
              <a:t>, “MLlib: Machine Learning in Apache Spark,” J. Mach. Learn. Res., vol. 17, no. 34, 2016.</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[4] M. Stonebraker </a:t>
            </a:r>
            <a:r>
              <a:rPr b="0" i="1" lang="en-IN" sz="1200" u="none" cap="none" strike="noStrike">
                <a:solidFill>
                  <a:srgbClr val="000000"/>
                </a:solidFill>
                <a:latin typeface="Times New Roman"/>
                <a:ea typeface="Times New Roman"/>
                <a:cs typeface="Times New Roman"/>
                <a:sym typeface="Times New Roman"/>
              </a:rPr>
              <a:t>et al.</a:t>
            </a:r>
            <a:r>
              <a:rPr b="0" i="0" lang="en-IN" sz="1200" u="none" cap="none" strike="noStrike">
                <a:solidFill>
                  <a:srgbClr val="000000"/>
                </a:solidFill>
                <a:latin typeface="Times New Roman"/>
                <a:ea typeface="Times New Roman"/>
                <a:cs typeface="Times New Roman"/>
                <a:sym typeface="Times New Roman"/>
              </a:rPr>
              <a:t>, “C-Store: A Column-oriented DBMS,” Proc. VLDB, 2005.</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[5] N. V. Chawla </a:t>
            </a:r>
            <a:r>
              <a:rPr b="0" i="1" lang="en-IN" sz="1200" u="none" cap="none" strike="noStrike">
                <a:solidFill>
                  <a:srgbClr val="000000"/>
                </a:solidFill>
                <a:latin typeface="Times New Roman"/>
                <a:ea typeface="Times New Roman"/>
                <a:cs typeface="Times New Roman"/>
                <a:sym typeface="Times New Roman"/>
              </a:rPr>
              <a:t>et al.</a:t>
            </a:r>
            <a:r>
              <a:rPr b="0" i="0" lang="en-IN" sz="1200" u="none" cap="none" strike="noStrike">
                <a:solidFill>
                  <a:srgbClr val="000000"/>
                </a:solidFill>
                <a:latin typeface="Times New Roman"/>
                <a:ea typeface="Times New Roman"/>
                <a:cs typeface="Times New Roman"/>
                <a:sym typeface="Times New Roman"/>
              </a:rPr>
              <a:t>, “SMOTE: Synthetic Minority Over-sampling Technique,” J. Artif. Intell. Res., vol. 16, 2002.</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[6] T. Saito and M. Rehmsmeier, “The Precision-Recall Plot Is More Informative than the ROC Plot…,” </a:t>
            </a:r>
            <a:r>
              <a:rPr b="0" i="1" lang="en-IN" sz="1200" u="none" cap="none" strike="noStrike">
                <a:solidFill>
                  <a:srgbClr val="000000"/>
                </a:solidFill>
                <a:latin typeface="Times New Roman"/>
                <a:ea typeface="Times New Roman"/>
                <a:cs typeface="Times New Roman"/>
                <a:sym typeface="Times New Roman"/>
              </a:rPr>
              <a:t>PLoS ONE</a:t>
            </a:r>
            <a:r>
              <a:rPr b="0" i="0" lang="en-IN" sz="1200" u="none" cap="none" strike="noStrike">
                <a:solidFill>
                  <a:srgbClr val="000000"/>
                </a:solidFill>
                <a:latin typeface="Times New Roman"/>
                <a:ea typeface="Times New Roman"/>
                <a:cs typeface="Times New Roman"/>
                <a:sym typeface="Times New Roman"/>
              </a:rPr>
              <a:t>, vol. 10, no. 3, 2015.</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[7] M. Raasveldt and H. Muhleisen, “DuckDB: an Embeddable Analytical Database,” </a:t>
            </a:r>
            <a:r>
              <a:rPr b="0" i="1" lang="en-IN" sz="1200" u="none" cap="none" strike="noStrike">
                <a:solidFill>
                  <a:srgbClr val="000000"/>
                </a:solidFill>
                <a:latin typeface="Times New Roman"/>
                <a:ea typeface="Times New Roman"/>
                <a:cs typeface="Times New Roman"/>
                <a:sym typeface="Times New Roman"/>
              </a:rPr>
              <a:t>Proc. ACM SIGMOD</a:t>
            </a:r>
            <a:r>
              <a:rPr b="0" i="0" lang="en-IN" sz="1200" u="none" cap="none" strike="noStrike">
                <a:solidFill>
                  <a:srgbClr val="000000"/>
                </a:solidFill>
                <a:latin typeface="Times New Roman"/>
                <a:ea typeface="Times New Roman"/>
                <a:cs typeface="Times New Roman"/>
                <a:sym typeface="Times New Roman"/>
              </a:rPr>
              <a:t>, 2019.</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[8] V. Leis, A. Kemper and T. Neumann, “The Adaptive Radix Tree: ARTful Indexing for Main-Memory Databases,” </a:t>
            </a:r>
            <a:r>
              <a:rPr b="0" i="1" lang="en-IN" sz="1200" u="none" cap="none" strike="noStrike">
                <a:solidFill>
                  <a:srgbClr val="000000"/>
                </a:solidFill>
                <a:latin typeface="Times New Roman"/>
                <a:ea typeface="Times New Roman"/>
                <a:cs typeface="Times New Roman"/>
                <a:sym typeface="Times New Roman"/>
              </a:rPr>
              <a:t>Proc. IEEE ICDE</a:t>
            </a:r>
            <a:r>
              <a:rPr b="0" i="0" lang="en-IN" sz="1200" u="none" cap="none" strike="noStrike">
                <a:solidFill>
                  <a:srgbClr val="000000"/>
                </a:solidFill>
                <a:latin typeface="Times New Roman"/>
                <a:ea typeface="Times New Roman"/>
                <a:cs typeface="Times New Roman"/>
                <a:sym typeface="Times New Roman"/>
              </a:rPr>
              <a:t>, 2013.</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[9] Apache Spark Documentation, Spark SQL and MLlib guides. </a:t>
            </a:r>
            <a:r>
              <a:rPr b="0" i="1" lang="en-IN" sz="1200" u="none" cap="none" strike="noStrike">
                <a:solidFill>
                  <a:srgbClr val="000000"/>
                </a:solidFill>
                <a:latin typeface="Times New Roman"/>
                <a:ea typeface="Times New Roman"/>
                <a:cs typeface="Times New Roman"/>
                <a:sym typeface="Times New Roman"/>
              </a:rPr>
              <a:t>spark.apache.org/docs/latest</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[10] Apache Parquet Documentation. </a:t>
            </a:r>
            <a:r>
              <a:rPr b="0" i="1" lang="en-IN" sz="1200" u="none" cap="none" strike="noStrike">
                <a:solidFill>
                  <a:srgbClr val="000000"/>
                </a:solidFill>
                <a:latin typeface="Times New Roman"/>
                <a:ea typeface="Times New Roman"/>
                <a:cs typeface="Times New Roman"/>
                <a:sym typeface="Times New Roman"/>
              </a:rPr>
              <a:t>parquet.apache.org/docs</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[11] MongoDB Documentation, Indexes (TTL and partial). </a:t>
            </a:r>
            <a:r>
              <a:rPr b="0" i="1" lang="en-IN" sz="1200" u="none" cap="none" strike="noStrike">
                <a:solidFill>
                  <a:srgbClr val="000000"/>
                </a:solidFill>
                <a:latin typeface="Times New Roman"/>
                <a:ea typeface="Times New Roman"/>
                <a:cs typeface="Times New Roman"/>
                <a:sym typeface="Times New Roman"/>
              </a:rPr>
              <a:t>mongodb.com/docs/manual/indexes</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[12] FastAPI Documentation. </a:t>
            </a:r>
            <a:r>
              <a:rPr b="0" i="1" lang="en-IN" sz="1200" u="none" cap="none" strike="noStrike">
                <a:solidFill>
                  <a:srgbClr val="000000"/>
                </a:solidFill>
                <a:latin typeface="Times New Roman"/>
                <a:ea typeface="Times New Roman"/>
                <a:cs typeface="Times New Roman"/>
                <a:sym typeface="Times New Roman"/>
              </a:rPr>
              <a:t>fastapi.tiangolo.com</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[13] DuckDB Documentation. </a:t>
            </a:r>
            <a:r>
              <a:rPr b="0" i="1" lang="en-IN" sz="1200" u="none" cap="none" strike="noStrike">
                <a:solidFill>
                  <a:srgbClr val="000000"/>
                </a:solidFill>
                <a:latin typeface="Times New Roman"/>
                <a:ea typeface="Times New Roman"/>
                <a:cs typeface="Times New Roman"/>
                <a:sym typeface="Times New Roman"/>
              </a:rPr>
              <a:t>duckdb.org/docs</a:t>
            </a:r>
            <a:endParaRPr b="0" i="0" sz="1400" u="none" cap="none" strike="noStrike">
              <a:solidFill>
                <a:srgbClr val="000000"/>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ts val="1200"/>
              <a:buFont typeface="Times New Roman"/>
              <a:buNone/>
            </a:pPr>
            <a:r>
              <a:rPr b="0" i="0" lang="en-IN" sz="1200" u="none" cap="none" strike="noStrike">
                <a:solidFill>
                  <a:srgbClr val="000000"/>
                </a:solidFill>
                <a:latin typeface="Times New Roman"/>
                <a:ea typeface="Times New Roman"/>
                <a:cs typeface="Times New Roman"/>
                <a:sym typeface="Times New Roman"/>
              </a:rPr>
              <a:t>[14] E. A. Lopez-Rojas, A. Elmir and S. Axelsson, “PaySim: A financial mobile money simulator for fraud detection” (benchmark data), </a:t>
            </a:r>
            <a:r>
              <a:rPr b="0" i="1" lang="en-IN" sz="1200" u="none" cap="none" strike="noStrike">
                <a:solidFill>
                  <a:srgbClr val="000000"/>
                </a:solidFill>
                <a:latin typeface="Times New Roman"/>
                <a:ea typeface="Times New Roman"/>
                <a:cs typeface="Times New Roman"/>
                <a:sym typeface="Times New Roman"/>
              </a:rPr>
              <a:t>Proc. EMSS</a:t>
            </a:r>
            <a:r>
              <a:rPr b="0" i="0" lang="en-IN" sz="1200" u="none" cap="none" strike="noStrike">
                <a:solidFill>
                  <a:srgbClr val="000000"/>
                </a:solidFill>
                <a:latin typeface="Times New Roman"/>
                <a:ea typeface="Times New Roman"/>
                <a:cs typeface="Times New Roman"/>
                <a:sym typeface="Times New Roman"/>
              </a:rPr>
              <a:t>, 2016.</a:t>
            </a:r>
            <a:endParaRPr b="0" i="0" sz="140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Jay Dhake, Samarth Ghanekar, Saahir Joshi</dc:creator>
  <dc:title>Bank Transaction Analytics and Fraud Detection</dc:title>
</cp:coreProperties>
</file>